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8710A"/>
                </a:solidFill>
                <a:latin typeface="Arial"/>
              </a:rPr>
              <a:t>READINGLAB · SESSION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9144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24282E"/>
                </a:solidFill>
                <a:latin typeface="Georgia"/>
              </a:rPr>
              <a:t>Least Squares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6B7280"/>
                </a:solidFill>
                <a:latin typeface="Georgia"/>
              </a:rPr>
              <a:t>Session 0 · what the ridge paper assumes you already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377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Nurdaulet Akhanov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Friday, 4 September 2026 · 6 pm · Lecture Hall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WHY A SESSION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Fourteen pages that take five things for granted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24282E"/>
                </a:solidFill>
                <a:latin typeface="Arial"/>
              </a:rPr>
              <a:t>Hoerl &amp; Kennard (1970) never explain these. Today we build them from one table of cars: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820095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linear model written as  Y = Xβ + ε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correlation between predictors as an angle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eigenvalues of XᵀX, and why a small one is bad news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least squares: unbiased, with covariance σ²(XᵀX)⁻¹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error = variance + bias², so unbiased is not the same as 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Georgia"/>
              </a:rPr>
              <a:t>Session 1 uses all five to break least squares, then to fix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Five cars, three numbers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65836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4282E"/>
                          </a:solidFill>
                          <a:latin typeface="Arial"/>
                        </a:rPr>
                        <a:t>Car</a:t>
                      </a:r>
                    </a:p>
                  </a:txBody>
                  <a:tcPr>
                    <a:solidFill>
                      <a:srgbClr val="F6E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282E"/>
                          </a:solidFill>
                          <a:latin typeface="Arial"/>
                        </a:rPr>
                        <a:t>Weight (t)</a:t>
                      </a:r>
                    </a:p>
                  </a:txBody>
                  <a:tcPr>
                    <a:solidFill>
                      <a:srgbClr val="F6E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282E"/>
                          </a:solidFill>
                          <a:latin typeface="Arial"/>
                        </a:rPr>
                        <a:t>Horsepower</a:t>
                      </a:r>
                    </a:p>
                  </a:txBody>
                  <a:tcPr>
                    <a:solidFill>
                      <a:srgbClr val="F6E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282E"/>
                          </a:solidFill>
                          <a:latin typeface="Arial"/>
                        </a:rPr>
                        <a:t>Fuel (L/100 km)</a:t>
                      </a:r>
                    </a:p>
                  </a:txBody>
                  <a:tcPr>
                    <a:solidFill>
                      <a:srgbClr val="F6EC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7.1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9.6</a:t>
                      </a:r>
                    </a:p>
                  </a:txBody>
                  <a:tcPr>
                    <a:solidFill>
                      <a:srgbClr val="FBFA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282E"/>
                          </a:solidFill>
                          <a:latin typeface="Arial"/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783080"/>
            <a:ext cx="368777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24282E"/>
                </a:solidFill>
                <a:latin typeface="Arial"/>
              </a:rPr>
              <a:t>We want to predict fuel from the other two columns.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>
                <a:solidFill>
                  <a:srgbClr val="24282E"/>
                </a:solidFill>
                <a:latin typeface="Arial"/>
              </a:rPr>
              <a:t>Fuel is the response. Weight and horsepower are the predictors.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From the table to an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pic>
        <p:nvPicPr>
          <p:cNvPr id="5" name="Picture 4" descr="e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09" y="1600200"/>
            <a:ext cx="4722876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578608"/>
            <a:ext cx="10820095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β₁ and β₂ belong to the relationship, not to any single car. They are what we want.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εᵢ is everything the two measurements miss: driver, tyres, weather, the scale.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No amount of staring at the table reveals β. We will have to estimate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Five equations become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pic>
        <p:nvPicPr>
          <p:cNvPr id="5" name="Picture 4" descr="eq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618" y="1600200"/>
            <a:ext cx="434645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297680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Y = Xβ + ε.   X has n = 5 rows, one per car, and p = 2 columns, one per predictor.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Every paper on the reading list starts from this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The intercept is a question about the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eq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769" y="1600200"/>
            <a:ext cx="3534156" cy="649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569464"/>
            <a:ext cx="10820095" cy="3465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A real model has an intercept β₀; it lets the fitted plane sit above or below zero.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Without β₀ the fit must pass through the origin: a car with zero weight and zero horsepower.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Carrying β₀ through every formula is a nuisance. The cleaner move is to relocate the origin.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Centring moves the origin to the average 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cen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6675120" cy="3772894"/>
          </a:xfrm>
          <a:prstGeom prst="rect">
            <a:avLst/>
          </a:prstGeom>
        </p:spPr>
      </p:pic>
      <p:pic>
        <p:nvPicPr>
          <p:cNvPr id="6" name="Picture 5" descr="eq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781" y="1600200"/>
            <a:ext cx="3570732" cy="635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464308"/>
            <a:ext cx="3733495" cy="3753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A8710A"/>
                </a:solidFill>
                <a:latin typeface="Arial"/>
              </a:rPr>
              <a:t>•  </a:t>
            </a:r>
            <a:r>
              <a:rPr sz="1600">
                <a:solidFill>
                  <a:srgbClr val="24282E"/>
                </a:solidFill>
                <a:latin typeface="Arial"/>
              </a:rPr>
              <a:t>Subtract each column's mean from every entry, and do the same to 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A8710A"/>
                </a:solidFill>
                <a:latin typeface="Arial"/>
              </a:rPr>
              <a:t>•  </a:t>
            </a:r>
            <a:r>
              <a:rPr sz="1600">
                <a:solidFill>
                  <a:srgbClr val="24282E"/>
                </a:solidFill>
                <a:latin typeface="Arial"/>
              </a:rPr>
              <a:t>Every car moves by the same vector, so the cloud slides as one rigid piece.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A8710A"/>
                </a:solidFill>
                <a:latin typeface="Arial"/>
              </a:rPr>
              <a:t>•  </a:t>
            </a:r>
            <a:r>
              <a:rPr sz="1600">
                <a:solidFill>
                  <a:srgbClr val="24282E"/>
                </a:solidFill>
                <a:latin typeface="Arial"/>
              </a:rPr>
              <a:t>Distances, angles, and the shape are untouched. Only the mean has moved, to (0, 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What centring buys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eq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383" y="1600200"/>
            <a:ext cx="2852928" cy="72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42616"/>
            <a:ext cx="10820095" cy="3392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average car is now the origin, and its predicted fuel is the average fuel: the intercept is exactly zero.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So we fit only the slopes, on centred data, from  Y = Xβ + ε  with no β₀ in sight.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intercept comes back for free afterwards. For the cars: β̂₁ = 2.83, β̂₂ = 0.027, β̂₀ = 0.52.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Ridge regression shrinks slopes, never the intercept. Centring is what keeps the two apart.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 · THE GEOMETRY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Predictors are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eq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559" y="1600200"/>
            <a:ext cx="6894576" cy="1074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994660"/>
            <a:ext cx="10820095" cy="3040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Read X by columns: weight is one vector in ℝ⁵, horsepower is another.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XᵀX collects their dot products. It is p × p, so rows and columns now index predictors, not cars.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whole story of this session and the next lives inside that small matrix.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 · THE GEOMETRY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Correlation is an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pic>
        <p:nvPicPr>
          <p:cNvPr id="5" name="Picture 4" descr="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35" y="1600200"/>
            <a:ext cx="4480560" cy="3816773"/>
          </a:xfrm>
          <a:prstGeom prst="rect">
            <a:avLst/>
          </a:prstGeom>
        </p:spPr>
      </p:pic>
      <p:pic>
        <p:nvPicPr>
          <p:cNvPr id="6" name="Picture 5" descr="eq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431" y="1600200"/>
            <a:ext cx="4005072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551176"/>
            <a:ext cx="5882335" cy="3575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Centre both columns and scale each to unit length.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Their dot product is the cosine of the angle between them, and that is the sample correlation. For the cars, r = 0.913.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|r| ≤ 1 is Cauchy–Schwarz, nothing more.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Nearly parallel columns mean nearly redundant predictors.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 · THE GEOMETRY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Why standardize? A detour through covariance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pic>
        <p:nvPicPr>
          <p:cNvPr id="5" name="Picture 4" descr="eq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573" y="1600200"/>
            <a:ext cx="6670548" cy="8275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47772"/>
            <a:ext cx="10820095" cy="3287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700" b="1">
                <a:solidFill>
                  <a:srgbClr val="A8710A"/>
                </a:solidFill>
                <a:latin typeface="Arial"/>
              </a:rPr>
              <a:t>•  </a:t>
            </a:r>
            <a:r>
              <a:rPr sz="1700">
                <a:solidFill>
                  <a:srgbClr val="24282E"/>
                </a:solidFill>
                <a:latin typeface="Arial"/>
              </a:rPr>
              <a:t>Covariance is the crude measure of co-movement: centre, multiply entry by entry, average. For the cars, cov(weight, hp) = 7.0.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700" b="1">
                <a:solidFill>
                  <a:srgbClr val="A8710A"/>
                </a:solidFill>
                <a:latin typeface="Arial"/>
              </a:rPr>
              <a:t>•  </a:t>
            </a:r>
            <a:r>
              <a:rPr sz="1700">
                <a:solidFill>
                  <a:srgbClr val="24282E"/>
                </a:solidFill>
                <a:latin typeface="Arial"/>
              </a:rPr>
              <a:t>But 7.0 of what? Tonne-horsepower. Measure weight in grams and the same five cars give 7 000 000. The number carries the ruler.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700" b="1">
                <a:solidFill>
                  <a:srgbClr val="A8710A"/>
                </a:solidFill>
                <a:latin typeface="Arial"/>
              </a:rPr>
              <a:t>•  </a:t>
            </a:r>
            <a:r>
              <a:rPr sz="1700">
                <a:solidFill>
                  <a:srgbClr val="24282E"/>
                </a:solidFill>
                <a:latin typeface="Arial"/>
              </a:rPr>
              <a:t>The standard deviation is the typical distance from the mean, in the variable's own units: sd(u) = √cov(u, u). Here sd(weight) = 0.3162 t and sd(hp) = 24.238.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700" b="1">
                <a:solidFill>
                  <a:srgbClr val="A8710A"/>
                </a:solidFill>
                <a:latin typeface="Arial"/>
              </a:rPr>
              <a:t>•  </a:t>
            </a:r>
            <a:r>
              <a:rPr sz="1700">
                <a:solidFill>
                  <a:srgbClr val="24282E"/>
                </a:solidFill>
                <a:latin typeface="Arial"/>
              </a:rPr>
              <a:t>Divide by the standard deviations and the ruler cancels: 7.0 / (0.3162 × 24.238) = 0.913, in tonnes or in grams alike.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700" b="1">
                <a:solidFill>
                  <a:srgbClr val="A8710A"/>
                </a:solidFill>
                <a:latin typeface="Arial"/>
              </a:rPr>
              <a:t>•  </a:t>
            </a:r>
            <a:r>
              <a:rPr sz="1700">
                <a:solidFill>
                  <a:srgbClr val="24282E"/>
                </a:solidFill>
                <a:latin typeface="Arial"/>
              </a:rPr>
              <a:t>Standardizing does that division once, on the data itself. Afterwards a plain dot product already is the correlation, and the ridge paper assumes exactly that.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 · THE GEOMETRY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XᵀX is the correlation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pic>
        <p:nvPicPr>
          <p:cNvPr id="5" name="Picture 4" descr="eq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723" y="1600200"/>
            <a:ext cx="4270248" cy="1069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990088"/>
            <a:ext cx="10820095" cy="3044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On the diagonal: squared column lengths, all equal to 1.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Off the diagonal: the pairwise correlations.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trace is p, so the eigenvalues always add up to p. They share a fixed budget.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 · THE GEOMETRY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Eigenvalues: where the information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pic>
        <p:nvPicPr>
          <p:cNvPr id="5" name="Picture 4" descr="ei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35" y="1600200"/>
            <a:ext cx="4480560" cy="4160520"/>
          </a:xfrm>
          <a:prstGeom prst="rect">
            <a:avLst/>
          </a:prstGeom>
        </p:spPr>
      </p:pic>
      <p:pic>
        <p:nvPicPr>
          <p:cNvPr id="6" name="Picture 5" descr="eq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59" y="1600200"/>
            <a:ext cx="4242816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560320"/>
            <a:ext cx="588233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Each eigenvalue is the spread of the data cloud along its eigenvector.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For the cars: λ₁ = 1.91 along the diagonal, λ₂ = 0.09 across it. They sum to 2.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Along the short axis the data barely varies. Whatever the coefficients do in that direction, the data cannot tell.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Remember the small one. Everything in Session 1 is about 1/λ₂.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 · THE GEOMETRY OF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What we assume about the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pic>
        <p:nvPicPr>
          <p:cNvPr id="5" name="Picture 4" descr="e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83" y="1600200"/>
            <a:ext cx="4453128" cy="694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15184"/>
            <a:ext cx="10820095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Nothing systematic is left over: on average the model is right.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Every car has the same error variance, and no two errors are linked.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That is all. Normality is not needed for anything today.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Least squares: make the leftovers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pic>
        <p:nvPicPr>
          <p:cNvPr id="5" name="Picture 4" descr="e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871" y="1600200"/>
            <a:ext cx="8759952" cy="745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65476"/>
            <a:ext cx="10820095" cy="3369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objective is the squared length of the residual vector in ℝ⁵.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Its gradient is −2XᵀY + 2XᵀXβ. Setting it to zero gives the normal equations.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If XᵀX can be inverted, the solution is unique and explicit.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Everything about β̂ is decided by that inverse.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Least squares as orthogonal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pic>
        <p:nvPicPr>
          <p:cNvPr id="5" name="Picture 4" descr="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55" y="1600200"/>
            <a:ext cx="5577840" cy="4009072"/>
          </a:xfrm>
          <a:prstGeom prst="rect">
            <a:avLst/>
          </a:prstGeom>
        </p:spPr>
      </p:pic>
      <p:pic>
        <p:nvPicPr>
          <p:cNvPr id="6" name="Picture 5" descr="eq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4785055" cy="649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524342"/>
            <a:ext cx="4785055" cy="36021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Every fitted vector has the form XB, so it lies in the column space of X.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Least squares selects Ŷ = Xβ̂, the point in Col(X) nearest to 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At the nearest point, the residual e = Y − Ŷ is perpendicular to every column of X. Thus Xᵀe = 0, which gives the normal equations.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800" b="1">
                <a:solidFill>
                  <a:srgbClr val="A8710A"/>
                </a:solidFill>
                <a:latin typeface="Arial"/>
              </a:rPr>
              <a:t>•  </a:t>
            </a:r>
            <a:r>
              <a:rPr sz="1800">
                <a:solidFill>
                  <a:srgbClr val="24282E"/>
                </a:solidFill>
                <a:latin typeface="Arial"/>
              </a:rPr>
              <a:t>Ŷ lives in ℝⁿ. β̂ lives in ℝᵖ and gives the coordinates of Ŷ in the columns of 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When can XᵀX be inverted?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pic>
        <p:nvPicPr>
          <p:cNvPr id="5" name="Picture 4" descr="e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61" y="1600200"/>
            <a:ext cx="4805172" cy="704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24328"/>
            <a:ext cx="10820095" cy="3410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So XᵀX is positive semidefinite for any X.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If the columns are linearly independent, Xv ≠ 0 whenever v ≠ 0, the quadratic form is strictly positive, and the inverse exists.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Nearly dependent columns keep the inverse but make it enormous. That is the ridge paper's whole subject.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The estimate is a random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pic>
        <p:nvPicPr>
          <p:cNvPr id="5" name="Picture 4" descr="e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187" y="1600200"/>
            <a:ext cx="5989320" cy="73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56332"/>
            <a:ext cx="10820095" cy="3378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β and X are fixed. Redraw the noise, and the estimate moves.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An estimator therefore has a distribution, and we can ask two questions of it: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where is its centre, and how wide is its spread?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Unbiased, with covariance σ²(XᵀX)⁻¹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pic>
        <p:nvPicPr>
          <p:cNvPr id="5" name="Picture 4" descr="e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357" y="1600200"/>
            <a:ext cx="5554980" cy="73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56332"/>
            <a:ext cx="10820095" cy="3378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centre is exactly right: least squares is unbiased.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spread is the inverse of the correlation matrix. Along eigenvector pⱼ the variance is σ²/λⱼ.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For the cars: σ²/λ₁ = 0.52 σ²  but  σ²/λ₂ = 11.5 σ².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One direction of the estimate is 22 times noisier than the other, and the data caused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Unbiased is not the same as accurate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pic>
        <p:nvPicPr>
          <p:cNvPr id="5" name="Picture 4" descr="dart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6675120" cy="3337560"/>
          </a:xfrm>
          <a:prstGeom prst="rect">
            <a:avLst/>
          </a:prstGeom>
        </p:spPr>
      </p:pic>
      <p:pic>
        <p:nvPicPr>
          <p:cNvPr id="6" name="Picture 5" descr="eq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00200"/>
            <a:ext cx="3733495" cy="510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339184"/>
            <a:ext cx="3733495" cy="3878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A8710A"/>
                </a:solidFill>
                <a:latin typeface="Arial"/>
              </a:rPr>
              <a:t>•  </a:t>
            </a:r>
            <a:r>
              <a:rPr sz="1600">
                <a:solidFill>
                  <a:srgbClr val="24282E"/>
                </a:solidFill>
                <a:latin typeface="Arial"/>
              </a:rPr>
              <a:t>Player A is centred on the bullseye but scatters widely. Player B aims a little off and clusters tightly.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A8710A"/>
                </a:solidFill>
                <a:latin typeface="Arial"/>
              </a:rPr>
              <a:t>•  </a:t>
            </a:r>
            <a:r>
              <a:rPr sz="1600">
                <a:solidFill>
                  <a:srgbClr val="24282E"/>
                </a:solidFill>
                <a:latin typeface="Arial"/>
              </a:rPr>
              <a:t>Every single dart of B lands closer. Mean squared error scores both players on the same scale.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Gauss–Markov, read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pic>
        <p:nvPicPr>
          <p:cNvPr id="5" name="Picture 4" descr="eq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15" y="1600200"/>
            <a:ext cx="8055864" cy="73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56332"/>
            <a:ext cx="10820095" cy="3378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Among linear unbiased estimators, least squares has the smallest covariance.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Two qualifiers. Drop “unbiased” and the theorem says nothing at all.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That gap is the door ridge regression walks through.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PART III · WHAT MAKES AN ESTIMATE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Where this leaves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pic>
        <p:nvPicPr>
          <p:cNvPr id="5" name="Picture 4" descr="e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353" y="1600200"/>
            <a:ext cx="7904988" cy="73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656332"/>
            <a:ext cx="10820095" cy="3378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In the eigenvector basis, every 1/λⱼ becomes 1/(λⱼ + k). The small eigenvalue can no longer explode.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The price is bias. Session 1 proves that for some k &gt; 0 the trade lowers the mean squared error, always.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900" b="1">
                <a:solidFill>
                  <a:srgbClr val="A8710A"/>
                </a:solidFill>
                <a:latin typeface="Arial"/>
              </a:rPr>
              <a:t>•  </a:t>
            </a:r>
            <a:r>
              <a:rPr sz="1900">
                <a:solidFill>
                  <a:srgbClr val="24282E"/>
                </a:solidFill>
                <a:latin typeface="Arial"/>
              </a:rPr>
              <a:t>Bring the centred model, the eigenvalues, and the bias–variance split. The paper assumes all three.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Exercises I — the matrix XᵀX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35727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1.  Prove that XᵀX is symmetric, whatever the shape of X. That is what licenses XᵀX = PΛPᵀ.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2.  Prove that vᵀXᵀXv ≥ 0 for every v, so XᵀX is positive semidefinite and its eigenvalues are ≥ 0.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3.  Prove that a symmetric M with vᵀMv &gt; 0 for every v ≠ 0 is invertible. When does XᵀX qualify?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00200"/>
            <a:ext cx="5135727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4.  Prove that unit-length u, v have |uᵀv| ≤ 1, with equality only when parallel. Deduce r = cos θ ∈ [−1, 1].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5.  Prove that the eigenvalues of a symmetric matrix sum to its trace. Deduce Σλⱼ = p for standardized columns.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6.  Prove that A⁻¹ keeps the eigenvectors and reciprocates the eigenvalues. Deduce the variance σ²/λⱼ along pⱼ.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Georgia"/>
              </a:rPr>
              <a:t>Work in pairs. Every one of these six is used somewhere in the ridge paper.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Exercises II —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35727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7.  Prove that E[εᵢ] = 0, E[εᵢ²] = σ² and E[εᵢεⱼ] = 0 for i ≠ j are exactly Cov(ε) = σ²I. Which assumption is the diagonal, which the off-diagonal?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8.  Derive the normal equations twice: by orthogonal projection, and by differentiating ‖Y − XB‖².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00200"/>
            <a:ext cx="5135727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9.  Prove that least squares is unbiased and that Cov(β̂ | X) = σ²(XᵀX)⁻¹.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10.  Prove E‖β̃ − β‖² = tr Cov(β̃) + ‖bias‖², and show that the cross-term vanishes.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24282E"/>
                </a:solidFill>
                <a:latin typeface="Arial"/>
              </a:rPr>
              <a:t>11.  For β̃ = cβ̂ with 0 ≤ c ≤ 1, prove the best c is B/(B + V). Is it ever 1?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Georgia"/>
              </a:rPr>
              <a:t>Mark the line where each assumption about ε enters.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710A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4282E"/>
                </a:solidFill>
                <a:latin typeface="Georgia"/>
              </a:rPr>
              <a:t>Before Session 1 you should be able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35727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1.  XᵀX is symmetric and positive semidefinite; positive definite under full column rank.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2.  A symmetric matrix with vᵀMv &gt; 0 for every v ≠ 0 is invertible.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3.  Unit-length vectors have |uᵀv| ≤ 1, so a dot product of standardized columns is a correlation.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4.  The eigenvalues of a symmetric matrix sum to its trace, hence to p under this scaling.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5.  A⁻¹ keeps the eigenvectors and reciprocates the eigenvalues, so the variance along pⱼ is σ²/λⱼ.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6.  E[εᵢεⱼ] = 0 for i ≠ j and E[εᵢ²] = σ² are exactly Cov(ε) = σ²I.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00200"/>
            <a:ext cx="5135727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7.  Orthogonal projection gives the normal equations. Full column rank makes the least squares coefficients unique.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8.  Least squares is unbiased with covariance σ²(XᵀX)⁻¹.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9.  Vector MSE = total variance + squared bias.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10.  Gauss–Markov compares only linear unbiased estimators.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4282E"/>
                </a:solidFill>
                <a:latin typeface="Arial"/>
              </a:rPr>
              <a:t>11.  A biased estimator can have a lower MSE.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Georgia"/>
              </a:rPr>
              <a:t>Next: Hoerl &amp; Kennard (1970), “Ridge Regression: Biased Estimation for Nonorthogonal Problems”.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