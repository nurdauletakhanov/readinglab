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09728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A8710A"/>
                </a:solidFill>
                <a:latin typeface="Arial"/>
              </a:rPr>
              <a:t>READINGLAB · SESSION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508760"/>
            <a:ext cx="9144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0" b="1">
                <a:solidFill>
                  <a:srgbClr val="24282E"/>
                </a:solidFill>
                <a:latin typeface="Georgia"/>
              </a:rPr>
              <a:t>Least Squares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4747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>
                <a:solidFill>
                  <a:srgbClr val="6B7280"/>
                </a:solidFill>
                <a:latin typeface="Georgia"/>
              </a:rPr>
              <a:t>Session 0 · what the ridge paper assumes you already know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93776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Nurdaulet Akhanov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Friday, 4 September 2026 · 6 pm · Lecture Hall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WHY A SESSION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Fourteen pages that take five things for granted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0">
                <a:solidFill>
                  <a:srgbClr val="24282E"/>
                </a:solidFill>
                <a:latin typeface="Arial"/>
              </a:rPr>
              <a:t>Hoerl &amp; Kennard (1970) never explain these. Today we build them from one table of cars: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10820095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linear model written as  Y = Xβ + ε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correlation between predictors as an angle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eigenvalues of XᵀX, and why a small one is bad news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least squares: unbiased, with covariance σ²(XᵀX)⁻¹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error = variance + bias², so unbiased is not the same as accurate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Georgia"/>
              </a:rPr>
              <a:t>Session 1 uses all five to break least squares, then to fix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Five cars, three numbers 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600200"/>
          <a:ext cx="658368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24282E"/>
                          </a:solidFill>
                          <a:latin typeface="Arial"/>
                        </a:rPr>
                        <a:t>Car</a:t>
                      </a:r>
                    </a:p>
                  </a:txBody>
                  <a:tcPr>
                    <a:solidFill>
                      <a:srgbClr val="F6EC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4282E"/>
                          </a:solidFill>
                          <a:latin typeface="Arial"/>
                        </a:rPr>
                        <a:t>Weight (t)</a:t>
                      </a:r>
                    </a:p>
                  </a:txBody>
                  <a:tcPr>
                    <a:solidFill>
                      <a:srgbClr val="F6EC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4282E"/>
                          </a:solidFill>
                          <a:latin typeface="Arial"/>
                        </a:rPr>
                        <a:t>Horsepower</a:t>
                      </a:r>
                    </a:p>
                  </a:txBody>
                  <a:tcPr>
                    <a:solidFill>
                      <a:srgbClr val="F6EC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4282E"/>
                          </a:solidFill>
                          <a:latin typeface="Arial"/>
                        </a:rPr>
                        <a:t>Fuel (L/100 km)</a:t>
                      </a:r>
                    </a:p>
                  </a:txBody>
                  <a:tcPr>
                    <a:solidFill>
                      <a:srgbClr val="F6ECD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6.4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1.4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7.1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1.8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9.6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8.2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818120" y="1783080"/>
            <a:ext cx="368777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000" b="0">
                <a:solidFill>
                  <a:srgbClr val="24282E"/>
                </a:solidFill>
                <a:latin typeface="Arial"/>
              </a:rPr>
              <a:t>We want to predict fuel from the other two columns.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000" b="0">
                <a:solidFill>
                  <a:srgbClr val="24282E"/>
                </a:solidFill>
                <a:latin typeface="Arial"/>
              </a:rPr>
              <a:t>Fuel is the response. Weight and horsepower are the predictors.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From the table to an equation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0200"/>
            <a:ext cx="10820095" cy="658368"/>
          </a:xfrm>
          <a:prstGeom prst="rect">
            <a:avLst/>
          </a:prstGeom>
          <a:solidFill>
            <a:srgbClr val="F6E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2400">
                <a:solidFill>
                  <a:srgbClr val="24282E"/>
                </a:solidFill>
                <a:latin typeface="Cambria Math"/>
              </a:rPr>
              <a:t>fuelᵢ  =  β₁ · weightᵢ  +  β₂ · horsepowerᵢ  +  εᵢ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78608"/>
            <a:ext cx="10820095" cy="3456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β₁ and β₂ belong to the relationship, not to any single car. They are what we want.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εᵢ is everything the two measurements miss: driver, tyres, weather, the scale.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No amount of staring at the table reveals β. We will have to estimate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Five equations become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4007" y="1600200"/>
            <a:ext cx="6583680" cy="21031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4023360"/>
            <a:ext cx="10820095" cy="658368"/>
          </a:xfrm>
          <a:prstGeom prst="rect">
            <a:avLst/>
          </a:prstGeom>
          <a:solidFill>
            <a:srgbClr val="F6E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2200">
                <a:solidFill>
                  <a:srgbClr val="24282E"/>
                </a:solidFill>
                <a:latin typeface="Cambria Math"/>
              </a:rPr>
              <a:t>Y = Xβ + 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956048"/>
            <a:ext cx="10820095" cy="1353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Y = Xβ + ε.   X has n = 5 rows, one per car, and p = 2 columns, one per predictor.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Every paper on the reading list starts from this 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The intercept is a question about the origin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0200"/>
            <a:ext cx="10820095" cy="658368"/>
          </a:xfrm>
          <a:prstGeom prst="rect">
            <a:avLst/>
          </a:prstGeom>
          <a:solidFill>
            <a:srgbClr val="F6E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2400">
                <a:solidFill>
                  <a:srgbClr val="24282E"/>
                </a:solidFill>
                <a:latin typeface="Cambria Math"/>
              </a:rPr>
              <a:t>yᵢ = β₀ + β₁xᵢ₁ + β₂xᵢ₂ + εᵢ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78608"/>
            <a:ext cx="10820095" cy="3456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A real model has an intercept β₀; it lets the fitted plane sit above or below zero.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Without β₀ the fit must pass through the origin: a car with zero weight and zero horsepower.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Carrying β₀ through every formula is a nuisance. The cleaner move is to relocate the origin.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Centring moves the origin to the average car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cent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6675120" cy="377289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0" y="1600200"/>
            <a:ext cx="3733495" cy="640080"/>
          </a:xfrm>
          <a:prstGeom prst="rect">
            <a:avLst/>
          </a:prstGeom>
          <a:solidFill>
            <a:srgbClr val="F6E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24282E"/>
                </a:solidFill>
                <a:latin typeface="Cambria Math"/>
              </a:rPr>
              <a:t>x̄ = (1.4, 110),   xᵢⱼ ↦ xᵢⱼ − x̄ⱼ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2468880"/>
            <a:ext cx="3733495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600" b="1">
                <a:solidFill>
                  <a:srgbClr val="A8710A"/>
                </a:solidFill>
                <a:latin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</a:rPr>
              <a:t>Subtract each column's mean from every entry, and do the same to y.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600" b="1">
                <a:solidFill>
                  <a:srgbClr val="A8710A"/>
                </a:solidFill>
                <a:latin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</a:rPr>
              <a:t>Every car moves by the same vector, so the cloud slides as one rigid piece.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600" b="1">
                <a:solidFill>
                  <a:srgbClr val="A8710A"/>
                </a:solidFill>
                <a:latin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</a:rPr>
              <a:t>Distances, angles, and the shape are untouched. Only the mean has moved, to (0, 0).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What centring buys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0200"/>
            <a:ext cx="10820095" cy="658368"/>
          </a:xfrm>
          <a:prstGeom prst="rect">
            <a:avLst/>
          </a:prstGeom>
          <a:solidFill>
            <a:srgbClr val="F6E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2400">
                <a:solidFill>
                  <a:srgbClr val="24282E"/>
                </a:solidFill>
                <a:latin typeface="Cambria Math"/>
              </a:rPr>
              <a:t>β̂₀ = ȳ − β̂₁x̄₁ − β̂₂x̄₂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78608"/>
            <a:ext cx="10820095" cy="3456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average car is now the origin, and its predicted fuel is the average fuel: the intercept is exactly zero.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So we fit only the slopes, on centred data, from  Y = Xβ + ε  with no β₀ in sight.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intercept comes back for free afterwards. For the cars: β̂₁ = 2.83, β̂₂ = 0.027, β̂₀ = 0.52.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Ridge regression shrinks slopes, never the intercept. Centring is what keeps the two apart.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Predictors are vectors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0200"/>
            <a:ext cx="10820095" cy="658368"/>
          </a:xfrm>
          <a:prstGeom prst="rect">
            <a:avLst/>
          </a:prstGeom>
          <a:solidFill>
            <a:srgbClr val="F6E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2400">
                <a:solidFill>
                  <a:srgbClr val="24282E"/>
                </a:solidFill>
                <a:latin typeface="Cambria Math"/>
              </a:rPr>
              <a:t>X = [ x₁  x₂ ],   x₁, x₂ ∈ ℝ⁵,   XᵀX = ⎛x₁ᵀx₁  x₁ᵀx₂⎞ ⎝x₂ᵀx₁  x₂ᵀx₂⎠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78608"/>
            <a:ext cx="10820095" cy="3456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Read X by columns: weight is one vector in ℝ⁵, horsepower is another.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XᵀX collects their dot products. It is p × p, so rows and columns now index predictors, not cars.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whole story of this session and the next lives inside that small matrix.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Correlation is an angle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5335" y="1600200"/>
            <a:ext cx="4480560" cy="381677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1600200"/>
            <a:ext cx="5882335" cy="640080"/>
          </a:xfrm>
          <a:prstGeom prst="rect">
            <a:avLst/>
          </a:prstGeom>
          <a:solidFill>
            <a:srgbClr val="F6E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>
                <a:solidFill>
                  <a:srgbClr val="24282E"/>
                </a:solidFill>
                <a:latin typeface="Cambria Math"/>
              </a:rPr>
              <a:t>x₁ᵀx₂ = ‖x₁‖ ‖x₂‖ cos θ = cos θ = 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5882335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Centre both columns and scale each to unit length.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Their dot product is the cosine of the angle between them, and that is the sample correlation. For the cars, r = 0.913.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|r| ≤ 1 is Cauchy–Schwarz, nothing more.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Nearly parallel columns mean nearly redundant predictors.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XᵀX is the correlation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0200"/>
            <a:ext cx="10820095" cy="658368"/>
          </a:xfrm>
          <a:prstGeom prst="rect">
            <a:avLst/>
          </a:prstGeom>
          <a:solidFill>
            <a:srgbClr val="F6E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2400">
                <a:solidFill>
                  <a:srgbClr val="24282E"/>
                </a:solidFill>
                <a:latin typeface="Cambria Math"/>
              </a:rPr>
              <a:t>XᵀX = ⎛ 1   r ⎞ ⎝ r   1 ⎠ = ⎛ 1      0.913 ⎞ ⎝ 0.913   1  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78608"/>
            <a:ext cx="10820095" cy="3456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On the diagonal: squared column lengths, all equal to 1.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Off the diagonal: the pairwise correlations.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trace is p, so the eigenvalues always add up to p. They share a fixed budget.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Eigenvalues: where the information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eig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5335" y="1600200"/>
            <a:ext cx="4480560" cy="4160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1600200"/>
            <a:ext cx="5882335" cy="640080"/>
          </a:xfrm>
          <a:prstGeom prst="rect">
            <a:avLst/>
          </a:prstGeom>
          <a:solidFill>
            <a:srgbClr val="F6E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>
                <a:solidFill>
                  <a:srgbClr val="24282E"/>
                </a:solidFill>
                <a:latin typeface="Cambria Math"/>
              </a:rPr>
              <a:t>XᵀX = PΛPᵀ,   XᵀX pⱼ = λⱼ pⱼ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5882335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Each eigenvalue is the spread of the data cloud along its eigenvector.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For the cars: λ₁ = 1.91 along the diagonal, λ₂ = 0.09 across it. They sum to 2.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Along the short axis the data barely varies. Whatever the coefficients do in that direction, the data cannot tell.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Remember the small one. Everything in Session 1 is about 1/λ₂.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What we assume about the noise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0200"/>
            <a:ext cx="10820095" cy="658368"/>
          </a:xfrm>
          <a:prstGeom prst="rect">
            <a:avLst/>
          </a:prstGeom>
          <a:solidFill>
            <a:srgbClr val="F6E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2400">
                <a:solidFill>
                  <a:srgbClr val="24282E"/>
                </a:solidFill>
                <a:latin typeface="Cambria Math"/>
              </a:rPr>
              <a:t>E[ε | X] = 0,        Cov(ε | X) = σ²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78608"/>
            <a:ext cx="10820095" cy="3456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Nothing systematic is left over: on average the model is right.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Every car has the same error variance, and no two errors are linked.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That is all. Normality is not needed for anything today.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Least squares: make the leftovers small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0200"/>
            <a:ext cx="10820095" cy="658368"/>
          </a:xfrm>
          <a:prstGeom prst="rect">
            <a:avLst/>
          </a:prstGeom>
          <a:solidFill>
            <a:srgbClr val="F6E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2400">
                <a:solidFill>
                  <a:srgbClr val="24282E"/>
                </a:solidFill>
                <a:latin typeface="Cambria Math"/>
              </a:rPr>
              <a:t>β̂ = arg min ‖Y − Xβ‖²   ⟹   XᵀX β̂ = XᵀY   ⟹   β̂ = (XᵀX)⁻¹ XᵀY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78608"/>
            <a:ext cx="10820095" cy="3456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objective is the squared length of the residual vector in ℝ⁵.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Its gradient is −2XᵀY + 2XᵀXβ. Setting it to zero gives the normal equations.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If XᵀX can be inverted, the solution is unique and explicit.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Everything about β̂ is decided by that inverse.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When can XᵀX be inverted?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0200"/>
            <a:ext cx="10820095" cy="658368"/>
          </a:xfrm>
          <a:prstGeom prst="rect">
            <a:avLst/>
          </a:prstGeom>
          <a:solidFill>
            <a:srgbClr val="F6E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2400">
                <a:solidFill>
                  <a:srgbClr val="24282E"/>
                </a:solidFill>
                <a:latin typeface="Cambria Math"/>
              </a:rPr>
              <a:t>vᵀ XᵀX v = (Xv)ᵀ(Xv) = ‖Xv‖² ≥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78608"/>
            <a:ext cx="10820095" cy="3456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So XᵀX is positive semidefinite for any X.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If the columns are linearly independent, Xv ≠ 0 whenever v ≠ 0, the quadratic form is strictly positive, and the inverse exists.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Nearly dependent columns keep the inverse but make it enormous. That is the ridge paper's whole subject.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The estimate is a random variable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0200"/>
            <a:ext cx="10820095" cy="658368"/>
          </a:xfrm>
          <a:prstGeom prst="rect">
            <a:avLst/>
          </a:prstGeom>
          <a:solidFill>
            <a:srgbClr val="F6E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2400">
                <a:solidFill>
                  <a:srgbClr val="24282E"/>
                </a:solidFill>
                <a:latin typeface="Cambria Math"/>
              </a:rPr>
              <a:t>β̂ = (XᵀX)⁻¹Xᵀ(Xβ + ε) = β + (XᵀX)⁻¹Xᵀ 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78608"/>
            <a:ext cx="10820095" cy="3456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β and X are fixed. Redraw the noise, and the estimate moves.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An estimator therefore has a distribution, and we can ask two questions of it: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where is its centre, and how wide is its spread?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Unbiased, with covariance σ²(XᵀX)⁻¹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0200"/>
            <a:ext cx="10820095" cy="658368"/>
          </a:xfrm>
          <a:prstGeom prst="rect">
            <a:avLst/>
          </a:prstGeom>
          <a:solidFill>
            <a:srgbClr val="F6E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2400">
                <a:solidFill>
                  <a:srgbClr val="24282E"/>
                </a:solidFill>
                <a:latin typeface="Cambria Math"/>
              </a:rPr>
              <a:t>E[β̂ | X] = β,        Cov(β̂ | X) = σ² (XᵀX)⁻¹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78608"/>
            <a:ext cx="10820095" cy="3456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centre is exactly right: least squares is unbiased.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spread is the inverse of the correlation matrix. Along eigenvector pⱼ the variance is σ²/λⱼ.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For the cars: σ²/λ₁ = 0.52 σ²  but  σ²/λ₂ = 11.5 σ².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One direction of the estimate is 22 times noisier than the other, and the data caused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Unbiased is not the same as accurate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18</a:t>
            </a:r>
          </a:p>
        </p:txBody>
      </p:sp>
      <p:pic>
        <p:nvPicPr>
          <p:cNvPr id="5" name="Picture 4" descr="dart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6675120" cy="33375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0" y="1600200"/>
            <a:ext cx="3733495" cy="640080"/>
          </a:xfrm>
          <a:prstGeom prst="rect">
            <a:avLst/>
          </a:prstGeom>
          <a:solidFill>
            <a:srgbClr val="F6E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24282E"/>
                </a:solidFill>
                <a:latin typeface="Cambria Math"/>
              </a:rPr>
              <a:t>MSE(β̃) = E‖β̃ − β‖² = tr Cov(β̃) + ‖bias(β̃)‖²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2468880"/>
            <a:ext cx="3733495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600" b="1">
                <a:solidFill>
                  <a:srgbClr val="A8710A"/>
                </a:solidFill>
                <a:latin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</a:rPr>
              <a:t>Player A is centred on the bullseye but scatters widely. Player B aims a little off and clusters tightly.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600" b="1">
                <a:solidFill>
                  <a:srgbClr val="A8710A"/>
                </a:solidFill>
                <a:latin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</a:rPr>
              <a:t>Every single dart of B lands closer. Mean squared error scores both players on the same scale.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Gauss–Markov, read carefully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0200"/>
            <a:ext cx="10820095" cy="658368"/>
          </a:xfrm>
          <a:prstGeom prst="rect">
            <a:avLst/>
          </a:prstGeom>
          <a:solidFill>
            <a:srgbClr val="F6E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2400">
                <a:solidFill>
                  <a:srgbClr val="24282E"/>
                </a:solidFill>
                <a:latin typeface="Cambria Math"/>
              </a:rPr>
              <a:t>Cov(β̃ | X) − Cov(β̂ | X) ⪰ 0   for every β̃ that is linear in Y and unbiased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78608"/>
            <a:ext cx="10820095" cy="3456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Among linear unbiased estimators, least squares has the smallest covariance.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Two qualifiers. Drop “unbiased” and the theorem says nothing at all.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That gap is the door ridge regression walks through.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Where this leaves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0200"/>
            <a:ext cx="10820095" cy="658368"/>
          </a:xfrm>
          <a:prstGeom prst="rect">
            <a:avLst/>
          </a:prstGeom>
          <a:solidFill>
            <a:srgbClr val="F6E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2400">
                <a:solidFill>
                  <a:srgbClr val="24282E"/>
                </a:solidFill>
                <a:latin typeface="Cambria Math"/>
              </a:rPr>
              <a:t>β̂ = (XᵀX)⁻¹XᵀY        β̂(k) = (XᵀX + kI)⁻¹XᵀY,  k &gt;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78608"/>
            <a:ext cx="10820095" cy="3456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In the eigenvector basis, every 1/λⱼ becomes 1/(λⱼ + k). The small eigenvalue can no longer explode.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price is bias. Session 1 proves that for some k &gt; 0 the trade lowers the mean squared error, always.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Bring the centred model, the eigenvalues, and the bias–variance split. The paper assumes all three.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Exercises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135727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1.  Show that XᵀX is positive semidefinite.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2.  Show it is invertible exactly when the columns of X are linearly independent.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3.  For centred, unit-length columns, show that the dot product is the correlation and lies in [−1, 1].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4.  Show that the eigenvalues of XᵀX sum to p under that scaling.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600200"/>
            <a:ext cx="5135727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5.  Derive the normal equations and the least squares solution.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6.  Prove that least squares is unbiased and derive its covariance.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7.  Prove  E‖β̃ − β‖² = tr Cov(β̃) + ‖bias‖².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8.  For β̃ = cβ̂ with 0 ≤ c ≤ 1, find the c that minimises the MSE. Is it 1?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Georgia"/>
              </a:rPr>
              <a:t>Work in pairs. Mark the line where each assumption about ε is used.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Before Session 1 you should be able to prove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135727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1.  XᵀX is positive semidefinite, and positive definite under full column rank.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2.  For centred unit-length columns, a dot product is a correlation.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3.  The eigenvalues of XᵀX sum to p.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4.  The normal equations give the unique least squares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600200"/>
            <a:ext cx="5135727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5.  Least squares is unbiased with covariance σ²(XᵀX)⁻¹.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6.  Vector MSE = total variance + squared bias.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7.  Gauss–Markov compares only linear unbiased estimators.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8.  A biased estimator can have a lower MSE.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Georgia"/>
              </a:rPr>
              <a:t>Next: Hoerl &amp; Kennard (1970), “Ridge Regression: Biased Estimation for Nonorthogonal Problems”.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