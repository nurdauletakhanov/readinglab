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9728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A8710A"/>
                </a:solidFill>
                <a:latin typeface="Arial"/>
              </a:rPr>
              <a:t>READINGLAB ·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9144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0" b="1">
                <a:solidFill>
                  <a:srgbClr val="24282E"/>
                </a:solidFill>
                <a:latin typeface="Georgia"/>
              </a:rPr>
              <a:t>Least Squares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474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6B7280"/>
                </a:solidFill>
                <a:latin typeface="Georgia"/>
              </a:rPr>
              <a:t>Session 0 · what the ridge paper assumes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377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Nurdaulet Akhanov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Friday, 4 September 2026 · 6 pm · Lecture Hall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WHY A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Fourteen pages that take five things for granted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Hoerl &amp; Kennard (1970) never explain these. Today we build them from one table of cars: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linear model written as  Y = Xβ + ε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correlation between predictors as an angle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eigenvalues of XᵀX, and why a small one is bad news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least squares: unbiased, with covariance σ²(XᵀX)⁻¹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error = variance + bias², so unbiased is not the same as accurate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Session 1 uses all five to break least squares, then to fix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cars, three numbers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00200"/>
          <a:ext cx="65836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Car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Weight (t)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Horsepower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Fuel (L/100 km)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7.1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9.6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1783080"/>
            <a:ext cx="368777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We want to predict fuel from the other two columns.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Fuel is the response. Weight and horsepower are the predictors.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From the table to an equation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eq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409" y="1600200"/>
            <a:ext cx="4722876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β₁ and β₂ belong to the relationship, not to any single car. They are what we want.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εᵢ is everything the two measurements miss: driver, tyres, weather, the scale.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 amount of staring at the table reveals β. We will have to estimate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equations become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eq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618" y="1600200"/>
            <a:ext cx="434645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297680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Y = Xβ + ε.   X has n = 5 rows, one per car, and p = 2 columns, one per predictor.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paper on the reading list starts from this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intercept is a question about the origin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eq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769" y="1600200"/>
            <a:ext cx="3534156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69464"/>
            <a:ext cx="10820095" cy="3465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 real model has an intercept β₀; it lets the fitted plane sit above or below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Without β₀ the fit must pass through the origin: a car with zero weight and zero horsepower.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Carrying β₀ through every formula is a nuisance. The cleaner move is to relocate the origin.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Centring moves the origin to the average 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en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772894"/>
          </a:xfrm>
          <a:prstGeom prst="rect">
            <a:avLst/>
          </a:prstGeom>
        </p:spPr>
      </p:pic>
      <p:pic>
        <p:nvPicPr>
          <p:cNvPr id="6" name="Picture 5" descr="eq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781" y="1600200"/>
            <a:ext cx="3570732" cy="6355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464308"/>
            <a:ext cx="3733495" cy="375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Subtract each column's mean from every entry, and do the same to 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car moves by the same vector, so the cloud slides as one rigid piece.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Distances, angles, and the shape are untouched. Only the mean has moved, to (0, 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centring buys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eq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383" y="1600200"/>
            <a:ext cx="2852928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42616"/>
            <a:ext cx="10820095" cy="3392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average car is now the origin, and its predicted fuel is the average fuel: the intercept is exactly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we fit only the slopes, on centred data, from  Y = Xβ + ε  with no β₀ in sight.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intercept comes back for free afterwards. For the cars: β̂₁ = 2.83, β̂₂ = 0.027, β̂₀ = 0.52.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Ridge regression shrinks slopes, never the intercept. Centring is what keeps the two apart.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Predictors are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eq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559" y="1600200"/>
            <a:ext cx="6894576" cy="1074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4660"/>
            <a:ext cx="10820095" cy="3040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Read X by columns: weight is one vector in ℝ⁵, horsepower is another.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XᵀX collects their dot products. It is p × p, so rows and columns now index predictors, not cars.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whole story of this session and the next lives inside that small matrix.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Correlation is an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3816773"/>
          </a:xfrm>
          <a:prstGeom prst="rect">
            <a:avLst/>
          </a:prstGeom>
        </p:spPr>
      </p:pic>
      <p:pic>
        <p:nvPicPr>
          <p:cNvPr id="6" name="Picture 5" descr="eq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431" y="1600200"/>
            <a:ext cx="4005072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51176"/>
            <a:ext cx="5882335" cy="3575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Centre both columns and scale each to unit length.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Their dot product is the cosine of the angle between them, and that is the sample correlation. For the cars, r = 0.913.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|r| ≤ 1 is Cauchy–Schwarz, nothing more.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Nearly parallel columns mean nearly redundant predictors.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XᵀX is the correlation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eq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723" y="1600200"/>
            <a:ext cx="4270248" cy="1069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0088"/>
            <a:ext cx="10820095" cy="304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 the diagonal: squared column lengths, all equal to 1.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Off the diagonal: the pairwise correlations.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trace is p, so the eigenvalues always add up to p. They share a fixed budget.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Eigenvalues: where the information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ei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4160520"/>
          </a:xfrm>
          <a:prstGeom prst="rect">
            <a:avLst/>
          </a:prstGeom>
        </p:spPr>
      </p:pic>
      <p:pic>
        <p:nvPicPr>
          <p:cNvPr id="6" name="Picture 5" descr="eq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559" y="1600200"/>
            <a:ext cx="4242816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60320"/>
            <a:ext cx="5882335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Each eigenvalue is the spread of the data cloud along its eigenvector.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For the cars: λ₁ = 1.91 along the diagonal, λ₂ = 0.09 across it. They sum to 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Along the short axis the data barely varies. Whatever the coefficients do in that direction, the data cannot tell.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Remember the small one. Everything in Session 1 is about 1/λ₂.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we assume about the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eq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283" y="1600200"/>
            <a:ext cx="4453128" cy="694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15184"/>
            <a:ext cx="10820095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Nothing systematic is left over: on average the model is right.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car has the same error variance, and no two errors are linked.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is all. Normality is not needed for anything today.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Least squares: make the leftovers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eq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871" y="1600200"/>
            <a:ext cx="8759952" cy="7452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65476"/>
            <a:ext cx="10820095" cy="3369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objective is the squared length of the residual vector in ℝ⁵.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Its gradient is −2XᵀY + 2XᵀXβ. Setting it to zero gives the normal equations.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XᵀX can be inverted, the solution is unique and explicit.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Everything about β̂ is decided by that inverse.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When can XᵀX be inverted?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eq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261" y="1600200"/>
            <a:ext cx="4805172" cy="704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24328"/>
            <a:ext cx="10820095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XᵀX is positive semidefinite for any X.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the columns are linearly independent, Xv ≠ 0 whenever v ≠ 0, the quadratic form is strictly positive, and the inverse exists.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Nearly dependent columns keep the inverse but make it enormous. That is the ridge paper's whole subject.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estimate is a random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eq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187" y="1600200"/>
            <a:ext cx="598932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 and X are fixed. Redraw the noise, and the estimate moves.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An estimator therefore has a distribution, and we can ask two questions of it: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where is its centre, and how wide is its spread?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Unbiased, with covariance σ²(XᵀX)⁻¹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eq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357" y="1600200"/>
            <a:ext cx="555498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centre is exactly right: least squares is unbiased.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spread is the inverse of the correlation matrix. Along eigenvector pⱼ the variance is σ²/λⱼ.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For the cars: σ²/λ₁ = 0.52 σ²  but  σ²/λ₂ = 11.5 σ².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One direction of the estimate is 22 times noisier than the other, and the data caused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 is not the same as accurate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dart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337560"/>
          </a:xfrm>
          <a:prstGeom prst="rect">
            <a:avLst/>
          </a:prstGeom>
        </p:spPr>
      </p:pic>
      <p:pic>
        <p:nvPicPr>
          <p:cNvPr id="6" name="Picture 5" descr="eq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00200"/>
            <a:ext cx="3733495" cy="5103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339184"/>
            <a:ext cx="3733495" cy="3878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Player A is centred on the bullseye but scatters widely. Player B aims a little off and clusters tightly.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single dart of B lands closer. Mean squared error scores both players on the same scale.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Gauss–Markov, read carefully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pic>
        <p:nvPicPr>
          <p:cNvPr id="5" name="Picture 4" descr="eq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915" y="1600200"/>
            <a:ext cx="8055864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Among linear unbiased estimators, least squares has the smallest covariance.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Two qualifiers. Drop “unbiased” and the theorem says nothing at all.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gap is the door ridge regression walks through.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Where this leaves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pic>
        <p:nvPicPr>
          <p:cNvPr id="5" name="Picture 4" descr="eq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353" y="1600200"/>
            <a:ext cx="7904988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In the eigenvector basis, every 1/λⱼ becomes 1/(λⱼ + k). The small eigenvalue can no longer explode.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price is bias. Session 1 proves that for some k &gt; 0 the trade lowers the mean squared error, always.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Bring the centred model, the eigenvalues, and the bias–variance split. The paper assumes all three.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Exercises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Show that XᵀX is positive semidefinite.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Show it is invertible exactly when the columns of X are linearly independent.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For centred, unit-length columns, show that the dot product is the correlation and lies in [−1, 1].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Show that the eigenvalues of XᵀX sum to p under that scaling.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Derive the normal equations and the least squares solution.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Prove that least squares is unbiased and derive its covariance.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Prove  E‖β̃ − β‖² = tr Cov(β̃) + ‖bias‖².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For β̃ = cβ̂ with 0 ≤ c ≤ 1, find the c that minimises the MSE. Is it 1?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Work in pairs. Mark the line where each assumption about ε is used.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Before Session 1 you should be able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XᵀX is positive semidefinite, and positive definite under full column rank.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For centred unit-length columns, a dot product is a correlation.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The eigenvalues of XᵀX sum to p.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The normal equations give the unique least squares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Least squares is unbiased with covariance σ²(XᵀX)⁻¹.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Vector MSE = total variance + squared bias.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Gauss–Markov compares only linear unbiased estimators.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A biased estimator can have a lower MSE.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Next: Hoerl &amp; Kennard (1970), “Ridge Regression: Biased Estimation for Nonorthogonal Problems”.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