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527d6b4d054b4c" /><Relationship Type="http://schemas.openxmlformats.org/officeDocument/2006/relationships/extended-properties" Target="/docProps/app.xml" Id="Rb99a7dbae5c04162" /><Relationship Type="http://schemas.openxmlformats.org/officeDocument/2006/relationships/officeDocument" Target="/ppt/presentation.xml" Id="Rc9905cfdef3d4f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8c644a0b4745cc"/>
  </p:sldMasterIdLst>
  <p:notesMasterIdLst>
    <p:notesMasterId xmlns:r="http://schemas.openxmlformats.org/officeDocument/2006/relationships" r:id="R5e475223cbbc40ad"/>
  </p:notesMasterIdLst>
  <p:sldIdLst>
    <p:sldId xmlns:r="http://schemas.openxmlformats.org/officeDocument/2006/relationships" id="256" r:id="R6cf83e89365b4481"/>
    <p:sldId xmlns:r="http://schemas.openxmlformats.org/officeDocument/2006/relationships" id="257" r:id="R865df495b68c4c85"/>
    <p:sldId xmlns:r="http://schemas.openxmlformats.org/officeDocument/2006/relationships" id="258" r:id="R1f81cd2321ee42c1"/>
    <p:sldId xmlns:r="http://schemas.openxmlformats.org/officeDocument/2006/relationships" id="259" r:id="Rc9b8d41e1f764e40"/>
    <p:sldId xmlns:r="http://schemas.openxmlformats.org/officeDocument/2006/relationships" id="260" r:id="R51b4a0b7b0c94a27"/>
    <p:sldId xmlns:r="http://schemas.openxmlformats.org/officeDocument/2006/relationships" id="261" r:id="Rbcac31425ef54ecc"/>
    <p:sldId xmlns:r="http://schemas.openxmlformats.org/officeDocument/2006/relationships" id="262" r:id="R419dccaceae14c29"/>
    <p:sldId xmlns:r="http://schemas.openxmlformats.org/officeDocument/2006/relationships" id="263" r:id="R9f8c05836cd247b4"/>
    <p:sldId xmlns:r="http://schemas.openxmlformats.org/officeDocument/2006/relationships" id="264" r:id="R209a72e4f3944d9a"/>
    <p:sldId xmlns:r="http://schemas.openxmlformats.org/officeDocument/2006/relationships" id="265" r:id="Rc396526b31794c40"/>
    <p:sldId xmlns:r="http://schemas.openxmlformats.org/officeDocument/2006/relationships" id="266" r:id="Rd49069c04c4647a1"/>
    <p:sldId xmlns:r="http://schemas.openxmlformats.org/officeDocument/2006/relationships" id="267" r:id="R4c36db37d92d4129"/>
    <p:sldId xmlns:r="http://schemas.openxmlformats.org/officeDocument/2006/relationships" id="268" r:id="R9549b99c2e2544b0"/>
    <p:sldId xmlns:r="http://schemas.openxmlformats.org/officeDocument/2006/relationships" id="269" r:id="Rd72b6bd2192541c9"/>
    <p:sldId xmlns:r="http://schemas.openxmlformats.org/officeDocument/2006/relationships" id="270" r:id="R587d3d3624f6481c"/>
    <p:sldId xmlns:r="http://schemas.openxmlformats.org/officeDocument/2006/relationships" id="271" r:id="R00ebec0c4c2843d6"/>
    <p:sldId xmlns:r="http://schemas.openxmlformats.org/officeDocument/2006/relationships" id="272" r:id="R913b001a69104745"/>
    <p:sldId xmlns:r="http://schemas.openxmlformats.org/officeDocument/2006/relationships" id="273" r:id="R91222dac2c654918"/>
    <p:sldId xmlns:r="http://schemas.openxmlformats.org/officeDocument/2006/relationships" id="274" r:id="Rbef3630a10c146f7"/>
    <p:sldId xmlns:r="http://schemas.openxmlformats.org/officeDocument/2006/relationships" id="275" r:id="R921166e7cfa04f62"/>
    <p:sldId xmlns:r="http://schemas.openxmlformats.org/officeDocument/2006/relationships" id="276" r:id="R9f49461e16f14abf"/>
    <p:sldId xmlns:r="http://schemas.openxmlformats.org/officeDocument/2006/relationships" id="277" r:id="Rfde79de7483c49c9"/>
    <p:sldId xmlns:r="http://schemas.openxmlformats.org/officeDocument/2006/relationships" id="278" r:id="R01f20e22e9574afc"/>
    <p:sldId xmlns:r="http://schemas.openxmlformats.org/officeDocument/2006/relationships" id="279" r:id="Rf7621effa95c43a6"/>
    <p:sldId xmlns:r="http://schemas.openxmlformats.org/officeDocument/2006/relationships" id="280" r:id="R7c3a74caa8c24192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9e4ca4208c4069" /><Relationship Type="http://schemas.openxmlformats.org/officeDocument/2006/relationships/slideMaster" Target="/ppt/slideMasters/slideMaster1.xml" Id="R668c644a0b4745cc" /><Relationship Type="http://schemas.openxmlformats.org/officeDocument/2006/relationships/notesMaster" Target="/ppt/notesMasters/notesMaster1.xml" Id="R5e475223cbbc40ad" /><Relationship Type="http://schemas.openxmlformats.org/officeDocument/2006/relationships/presProps" Target="/ppt/presProps.xml" Id="Rfc20d33c715f4127" /><Relationship Type="http://schemas.openxmlformats.org/officeDocument/2006/relationships/viewProps" Target="/ppt/viewProps.xml" Id="R64d2205da0124e14" /><Relationship Type="http://schemas.openxmlformats.org/officeDocument/2006/relationships/tableStyles" Target="/ppt/tableStyles.xml" Id="Rf26d9bcd747d44ff" /><Relationship Type="http://schemas.openxmlformats.org/officeDocument/2006/relationships/slide" Target="/ppt/slides/slide1.xml" Id="R6cf83e89365b4481" /><Relationship Type="http://schemas.openxmlformats.org/officeDocument/2006/relationships/slide" Target="/ppt/slides/slide2.xml" Id="R865df495b68c4c85" /><Relationship Type="http://schemas.openxmlformats.org/officeDocument/2006/relationships/slide" Target="/ppt/slides/slide3.xml" Id="R1f81cd2321ee42c1" /><Relationship Type="http://schemas.openxmlformats.org/officeDocument/2006/relationships/slide" Target="/ppt/slides/slide4.xml" Id="Rc9b8d41e1f764e40" /><Relationship Type="http://schemas.openxmlformats.org/officeDocument/2006/relationships/slide" Target="/ppt/slides/slide5.xml" Id="R51b4a0b7b0c94a27" /><Relationship Type="http://schemas.openxmlformats.org/officeDocument/2006/relationships/slide" Target="/ppt/slides/slide6.xml" Id="Rbcac31425ef54ecc" /><Relationship Type="http://schemas.openxmlformats.org/officeDocument/2006/relationships/slide" Target="/ppt/slides/slide7.xml" Id="R419dccaceae14c29" /><Relationship Type="http://schemas.openxmlformats.org/officeDocument/2006/relationships/slide" Target="/ppt/slides/slide8.xml" Id="R9f8c05836cd247b4" /><Relationship Type="http://schemas.openxmlformats.org/officeDocument/2006/relationships/slide" Target="/ppt/slides/slide9.xml" Id="R209a72e4f3944d9a" /><Relationship Type="http://schemas.openxmlformats.org/officeDocument/2006/relationships/slide" Target="/ppt/slides/slide10.xml" Id="Rc396526b31794c40" /><Relationship Type="http://schemas.openxmlformats.org/officeDocument/2006/relationships/slide" Target="/ppt/slides/slide11.xml" Id="Rd49069c04c4647a1" /><Relationship Type="http://schemas.openxmlformats.org/officeDocument/2006/relationships/slide" Target="/ppt/slides/slide12.xml" Id="R4c36db37d92d4129" /><Relationship Type="http://schemas.openxmlformats.org/officeDocument/2006/relationships/slide" Target="/ppt/slides/slide13.xml" Id="R9549b99c2e2544b0" /><Relationship Type="http://schemas.openxmlformats.org/officeDocument/2006/relationships/slide" Target="/ppt/slides/slide14.xml" Id="Rd72b6bd2192541c9" /><Relationship Type="http://schemas.openxmlformats.org/officeDocument/2006/relationships/slide" Target="/ppt/slides/slide15.xml" Id="R587d3d3624f6481c" /><Relationship Type="http://schemas.openxmlformats.org/officeDocument/2006/relationships/slide" Target="/ppt/slides/slide16.xml" Id="R00ebec0c4c2843d6" /><Relationship Type="http://schemas.openxmlformats.org/officeDocument/2006/relationships/slide" Target="/ppt/slides/slide17.xml" Id="R913b001a69104745" /><Relationship Type="http://schemas.openxmlformats.org/officeDocument/2006/relationships/slide" Target="/ppt/slides/slide18.xml" Id="R91222dac2c654918" /><Relationship Type="http://schemas.openxmlformats.org/officeDocument/2006/relationships/slide" Target="/ppt/slides/slide19.xml" Id="Rbef3630a10c146f7" /><Relationship Type="http://schemas.openxmlformats.org/officeDocument/2006/relationships/slide" Target="/ppt/slides/slide20.xml" Id="R921166e7cfa04f62" /><Relationship Type="http://schemas.openxmlformats.org/officeDocument/2006/relationships/slide" Target="/ppt/slides/slide21.xml" Id="R9f49461e16f14abf" /><Relationship Type="http://schemas.openxmlformats.org/officeDocument/2006/relationships/slide" Target="/ppt/slides/slide22.xml" Id="Rfde79de7483c49c9" /><Relationship Type="http://schemas.openxmlformats.org/officeDocument/2006/relationships/slide" Target="/ppt/slides/slide23.xml" Id="R01f20e22e9574afc" /><Relationship Type="http://schemas.openxmlformats.org/officeDocument/2006/relationships/slide" Target="/ppt/slides/slide24.xml" Id="Rf7621effa95c43a6" /><Relationship Type="http://schemas.openxmlformats.org/officeDocument/2006/relationships/slide" Target="/ppt/slides/slide25.xml" Id="R7c3a74caa8c241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86cb8ac20b4f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a5b56e65064591" /><Relationship Type="http://schemas.openxmlformats.org/officeDocument/2006/relationships/notesMaster" Target="/ppt/notesMasters/notesMaster1.xml" Id="R83fd4d4a116d419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67fba1d1784f58" /><Relationship Type="http://schemas.openxmlformats.org/officeDocument/2006/relationships/notesMaster" Target="/ppt/notesMasters/notesMaster1.xml" Id="R9e0283b649fe49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0cc5b4cf495456a" /><Relationship Type="http://schemas.openxmlformats.org/officeDocument/2006/relationships/notesMaster" Target="/ppt/notesMasters/notesMaster1.xml" Id="Rf141e50b2714435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071c53e0d642d3" /><Relationship Type="http://schemas.openxmlformats.org/officeDocument/2006/relationships/notesMaster" Target="/ppt/notesMasters/notesMaster1.xml" Id="Rebf3983091e8417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c90599a208411b" /><Relationship Type="http://schemas.openxmlformats.org/officeDocument/2006/relationships/notesMaster" Target="/ppt/notesMasters/notesMaster1.xml" Id="Rbed3ad5bb22546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d128c571934de6" /><Relationship Type="http://schemas.openxmlformats.org/officeDocument/2006/relationships/notesMaster" Target="/ppt/notesMasters/notesMaster1.xml" Id="R89be290a77a343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46d7cc181646d2" /><Relationship Type="http://schemas.openxmlformats.org/officeDocument/2006/relationships/notesMaster" Target="/ppt/notesMasters/notesMaster1.xml" Id="Rf70ae447171e485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798c6d339464b5f" /><Relationship Type="http://schemas.openxmlformats.org/officeDocument/2006/relationships/notesMaster" Target="/ppt/notesMasters/notesMaster1.xml" Id="Rcc29bdc8b5b04a8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d953304579a4541" /><Relationship Type="http://schemas.openxmlformats.org/officeDocument/2006/relationships/notesMaster" Target="/ppt/notesMasters/notesMaster1.xml" Id="R68c0c2abd1ec445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12a3931178a4ad5" /><Relationship Type="http://schemas.openxmlformats.org/officeDocument/2006/relationships/notesMaster" Target="/ppt/notesMasters/notesMaster1.xml" Id="R24667280979d42e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baaf4429b4045d9" /><Relationship Type="http://schemas.openxmlformats.org/officeDocument/2006/relationships/notesMaster" Target="/ppt/notesMasters/notesMaster1.xml" Id="R0353ecd4000f430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a97c68ab0ac43b9" /><Relationship Type="http://schemas.openxmlformats.org/officeDocument/2006/relationships/notesMaster" Target="/ppt/notesMasters/notesMaster1.xml" Id="R7575db9e290144a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4a6c4adfc3f425d" /><Relationship Type="http://schemas.openxmlformats.org/officeDocument/2006/relationships/notesMaster" Target="/ppt/notesMasters/notesMaster1.xml" Id="R33ba1f25302041b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87b2071d78e4621" /><Relationship Type="http://schemas.openxmlformats.org/officeDocument/2006/relationships/notesMaster" Target="/ppt/notesMasters/notesMaster1.xml" Id="R45f2be33ae8c41c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36f067f4ab04ea5" /><Relationship Type="http://schemas.openxmlformats.org/officeDocument/2006/relationships/notesMaster" Target="/ppt/notesMasters/notesMaster1.xml" Id="Rb1490091c0574c4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e1638d91963486c" /><Relationship Type="http://schemas.openxmlformats.org/officeDocument/2006/relationships/notesMaster" Target="/ppt/notesMasters/notesMaster1.xml" Id="R5b5e9b8100cd469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56f03c04cba4d7d" /><Relationship Type="http://schemas.openxmlformats.org/officeDocument/2006/relationships/notesMaster" Target="/ppt/notesMasters/notesMaster1.xml" Id="R22096fe564c94d5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d6f836fb813444f" /><Relationship Type="http://schemas.openxmlformats.org/officeDocument/2006/relationships/notesMaster" Target="/ppt/notesMasters/notesMaster1.xml" Id="R15966021aaec457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409f3b7ef4b4f1c" /><Relationship Type="http://schemas.openxmlformats.org/officeDocument/2006/relationships/notesMaster" Target="/ppt/notesMasters/notesMaster1.xml" Id="Rd2ce1d70624148b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6f3601843bb4235" /><Relationship Type="http://schemas.openxmlformats.org/officeDocument/2006/relationships/notesMaster" Target="/ppt/notesMasters/notesMaster1.xml" Id="R1a5d8a22aca84f2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36256f45f154f6f" /><Relationship Type="http://schemas.openxmlformats.org/officeDocument/2006/relationships/notesMaster" Target="/ppt/notesMasters/notesMaster1.xml" Id="Rd34f5db27090434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279dfefed8b4810" /><Relationship Type="http://schemas.openxmlformats.org/officeDocument/2006/relationships/notesMaster" Target="/ppt/notesMasters/notesMaster1.xml" Id="R7f2657fe815f485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a6063bc520b4e32" /><Relationship Type="http://schemas.openxmlformats.org/officeDocument/2006/relationships/notesMaster" Target="/ppt/notesMasters/notesMaster1.xml" Id="R2abb8cffaf1343a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24316a789b945cf" /><Relationship Type="http://schemas.openxmlformats.org/officeDocument/2006/relationships/notesMaster" Target="/ppt/notesMasters/notesMaster1.xml" Id="Ra3e2cccea7f6465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c00d15b2bd74d42" /><Relationship Type="http://schemas.openxmlformats.org/officeDocument/2006/relationships/notesMaster" Target="/ppt/notesMasters/notesMaster1.xml" Id="R7589af445d4d47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 means covariance matrix. For a random vector, the diagonal contains variances and the off-diagonal entries contain pairwise covariances. Apply the definition to the error vector. Under zero conditional mean, Cov(epsilon given X) equals E of epsilon epsilon transpose given X. The spherical-error assumption sets every diagonal entry to sigma squared and every off-diagonal entry to zero.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beta only for the true unknown coefficient vector. Use capital B for a candidate value in the optimization. Differentiate phi of B, then call the minimizing candidate beta hat. This notation matches Section 8 of the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Begin with the comparison class. Any competitor has the form beta tilde equals C Y. Unbiasedness for every beta requires C X equals I. The theorem says that ordinary least squares has no larger variance in any direction a. Choosing a standard basis vector compares one coefficient. For the proof, write C as the least squares matrix plus D. The condition D X equals zero removes the cross terms, leaving sigma squared times the squared length of D transpose a. This quantity cannot be negative. Ridge falls outside the theorem because ridge is biased.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3a7e05783b4bf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e220b6ca10441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7dcf59a370444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e42a245b5d4ef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2d19acd03d41b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9d9f0bfe6a457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08ed0baa6e48e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a05adb7a814c7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b1b02776b6432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6764ee5c6946e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27a3b095d245a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98B7F87-A672-4939-AFD0-8BDFB76867D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6722DEC-16F8-487F-9448-6791FFF396E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9192CE1-3181-4F41-88A5-2F5A38F4485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B8D3293-0A88-4F52-872E-DB7E5084DA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57CE22D-058B-4610-A0CE-10E5CFE8F6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84C2F4D-E218-4D22-9F8A-3D45CCE742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3642D17-BC90-4710-990C-7B4053E691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8631868-3BE6-4D74-B443-5CBE76EEBF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878DE04-DB9F-4ADA-8E66-78DCCAA951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388EDC-A7E2-479D-A2FC-BB36077132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D7EC97-852C-4A5E-9830-367A181BE9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1783F2-398A-484A-A5AB-4E999CF43C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03B346-AC23-4636-B6F3-7A7A3EC56F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EE9004-FE5E-40BE-88ED-42667E5DE3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CD6474-B851-4FD8-8DB8-7F825D701F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A29BEAC-EC9D-45B4-9117-6AA9942150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027C8C8-BC9F-4E1A-B10B-84F13553AE2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6DC66DE-01F1-4DEE-A54C-4B5B6D02CC4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A7938C8-A1BC-452F-B03A-32E7201630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1A3F02-AF02-4E69-AF2D-0490A1BCD7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467BE3-77DB-459F-8A2A-FE62FFB145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1AE8781-ACDD-4587-B132-02235EEB3F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78AF0AF-2AF6-4121-A864-D355253EC8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464BEB5-9344-430C-B8FB-69A5C8F5C8B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B562620-A3D9-420E-854C-BFC215E5C26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1370909-6D4C-47A9-B4D2-6B455448CC8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2EED34D-165E-49F9-8685-0FE1AEB4B9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56FFB52-F33F-4295-B8C7-8EC56EC25A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26266BC-A051-4BF5-9B0B-B7CA2BE9AD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BC0A78-0C95-4141-815E-452FD865FC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698EEFC-A8DD-4DB2-A693-45C5B467ACD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F0D85FA-7582-4FD1-BB65-1DC1A3FD6E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C150C74-CFE6-4676-BBBD-466FA4DB397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619EDE9-4832-4724-966A-22CCB76423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1511459-D8F1-49EF-8806-8C0EF55D5F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3C7BAFD-1450-4C42-902E-A75C012ED4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8E6B52-8D97-47A5-9DB4-B323D4E76F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F4A6646-CFA8-46B3-816A-BEFE4B93158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BA9E386-64E1-4E92-8D1E-97A7E1C5E8B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1D0F5B-C691-4932-9AF2-93C8BAD9FBF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CAFB5FD-C5E0-40C5-AD0D-B986C6E03A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5670613-71B5-4CCE-B338-D740B54ECD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81A8E8A-A183-4423-A782-A414CD911B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9249ACFC-1051-4157-B3D1-376CA444BE5D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DF3D31-9795-4D54-85B6-B0243DA6FDF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6E35D7-C5A6-471A-A820-34E53893D7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3A2CF69-2E0B-4BA7-ABA0-3C965FB7FDA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3C7C7B0-E264-47A9-8469-46D156B2033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01D7EF7-6E75-473A-BFD0-645579B691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CAF917F-85CA-49C7-BCCA-2E99E95B34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425FBA5-0B56-4611-9070-52431B2B13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2995EEE-1EC8-44F4-A4DE-944CFD497A7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F00A82-85FA-4D7A-AECD-503B6B7356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B98CE09-32BC-45E7-B3DB-FBD111C411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1DA57EA-EDCA-450B-A14D-FE44AE4F52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D75F81-9B71-472E-BC57-021E8E2D87C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F4391EC-5208-4B1D-84A0-5D062489530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D95C0F3-A2BE-4866-9537-9ECA103F8B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89eda0785a4a7a" /><Relationship Type="http://schemas.openxmlformats.org/officeDocument/2006/relationships/slideLayout" Target="/ppt/slideLayouts/slideLayout1.xml" Id="R37388aba1aa545bc" /><Relationship Type="http://schemas.openxmlformats.org/officeDocument/2006/relationships/slideLayout" Target="/ppt/slideLayouts/slideLayout2.xml" Id="R404fbc3613854985" /><Relationship Type="http://schemas.openxmlformats.org/officeDocument/2006/relationships/slideLayout" Target="/ppt/slideLayouts/slideLayout3.xml" Id="R22a033b2dec84fe6" /><Relationship Type="http://schemas.openxmlformats.org/officeDocument/2006/relationships/slideLayout" Target="/ppt/slideLayouts/slideLayout4.xml" Id="Rcbac6c6e107b481c" /><Relationship Type="http://schemas.openxmlformats.org/officeDocument/2006/relationships/slideLayout" Target="/ppt/slideLayouts/slideLayout5.xml" Id="R210053a869d94f57" /><Relationship Type="http://schemas.openxmlformats.org/officeDocument/2006/relationships/slideLayout" Target="/ppt/slideLayouts/slideLayout6.xml" Id="Rc80980091e1e4825" /><Relationship Type="http://schemas.openxmlformats.org/officeDocument/2006/relationships/slideLayout" Target="/ppt/slideLayouts/slideLayout7.xml" Id="Rf6c8d6d5255047a5" /><Relationship Type="http://schemas.openxmlformats.org/officeDocument/2006/relationships/slideLayout" Target="/ppt/slideLayouts/slideLayout8.xml" Id="R15f70342883944a8" /><Relationship Type="http://schemas.openxmlformats.org/officeDocument/2006/relationships/slideLayout" Target="/ppt/slideLayouts/slideLayout9.xml" Id="R3d6e1a9603f74bf4" /><Relationship Type="http://schemas.openxmlformats.org/officeDocument/2006/relationships/slideLayout" Target="/ppt/slideLayouts/slideLayout10.xml" Id="R5482d89da08f41db" /><Relationship Type="http://schemas.openxmlformats.org/officeDocument/2006/relationships/slideLayout" Target="/ppt/slideLayouts/slideLayout11.xml" Id="R30d4b35d091f453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64D9F703-4C76-4481-94FA-DE1B51E8DA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7037C02-3B3D-4AB9-8A50-1CBEDBE718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8870823-E3B9-4EC0-B4F2-01573C06BAF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32E0F41-F654-4B7A-8A59-260A4528CF6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B2D5D80-68C2-4F81-8FAB-0E5E02C2115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388aba1aa545bc"/>
    <p:sldLayoutId xmlns:r="http://schemas.openxmlformats.org/officeDocument/2006/relationships" id="2147483650" r:id="R404fbc3613854985"/>
    <p:sldLayoutId xmlns:r="http://schemas.openxmlformats.org/officeDocument/2006/relationships" id="2147483651" r:id="R22a033b2dec84fe6"/>
    <p:sldLayoutId xmlns:r="http://schemas.openxmlformats.org/officeDocument/2006/relationships" id="2147483652" r:id="Rcbac6c6e107b481c"/>
    <p:sldLayoutId xmlns:r="http://schemas.openxmlformats.org/officeDocument/2006/relationships" id="2147483653" r:id="R210053a869d94f57"/>
    <p:sldLayoutId xmlns:r="http://schemas.openxmlformats.org/officeDocument/2006/relationships" id="2147483654" r:id="Rc80980091e1e4825"/>
    <p:sldLayoutId xmlns:r="http://schemas.openxmlformats.org/officeDocument/2006/relationships" id="2147483655" r:id="Rf6c8d6d5255047a5"/>
    <p:sldLayoutId xmlns:r="http://schemas.openxmlformats.org/officeDocument/2006/relationships" id="2147483656" r:id="R15f70342883944a8"/>
    <p:sldLayoutId xmlns:r="http://schemas.openxmlformats.org/officeDocument/2006/relationships" id="2147483657" r:id="R3d6e1a9603f74bf4"/>
    <p:sldLayoutId xmlns:r="http://schemas.openxmlformats.org/officeDocument/2006/relationships" id="2147483658" r:id="R5482d89da08f41db"/>
    <p:sldLayoutId xmlns:r="http://schemas.openxmlformats.org/officeDocument/2006/relationships" id="2147483659" r:id="R30d4b35d091f453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8472c0cf37841f1" /><Relationship Type="http://schemas.openxmlformats.org/officeDocument/2006/relationships/notesSlide" Target="/ppt/notesSlides/notesSlide1.xml" Id="R006ba5cbe2d74c3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cd8babf750c4e86" /><Relationship Type="http://schemas.openxmlformats.org/officeDocument/2006/relationships/notesSlide" Target="/ppt/notesSlides/notesSlide2.xml" Id="Rccab64e9860841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8bdc1a0fd14d18" /><Relationship Type="http://schemas.openxmlformats.org/officeDocument/2006/relationships/notesSlide" Target="/ppt/notesSlides/notesSlide3.xml" Id="R37b0f1c1db4b4f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7e2474deda4a38" /><Relationship Type="http://schemas.openxmlformats.org/officeDocument/2006/relationships/image" Target="/ppt/media/image.png" Id="Ra7752a7157384e9a" /><Relationship Type="http://schemas.openxmlformats.org/officeDocument/2006/relationships/notesSlide" Target="/ppt/notesSlides/notesSlide4.xml" Id="Rb08e70465c7f4e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0d2b6e06b74753" /><Relationship Type="http://schemas.openxmlformats.org/officeDocument/2006/relationships/image" Target="/ppt/media/image2.png" Id="Rd7399bea7b634df2" /><Relationship Type="http://schemas.openxmlformats.org/officeDocument/2006/relationships/notesSlide" Target="/ppt/notesSlides/notesSlide5.xml" Id="Rdebdd2b8bce247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b1d6067ad849b0" /><Relationship Type="http://schemas.openxmlformats.org/officeDocument/2006/relationships/image" Target="/ppt/media/image3.png" Id="R60f73af1cdd6440d" /><Relationship Type="http://schemas.openxmlformats.org/officeDocument/2006/relationships/notesSlide" Target="/ppt/notesSlides/notesSlide6.xml" Id="Rb826e75052d842a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08592353ba4a0c" /><Relationship Type="http://schemas.openxmlformats.org/officeDocument/2006/relationships/image" Target="/ppt/media/image4.png" Id="Rb9c84962cb5048fd" /><Relationship Type="http://schemas.openxmlformats.org/officeDocument/2006/relationships/image" Target="/ppt/media/image5.png" Id="R5f4006de1cd14aee" /><Relationship Type="http://schemas.openxmlformats.org/officeDocument/2006/relationships/notesSlide" Target="/ppt/notesSlides/notesSlide7.xml" Id="Rc4b9f856daa34b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c4509c2169f4d2a" /><Relationship Type="http://schemas.openxmlformats.org/officeDocument/2006/relationships/image" Target="/ppt/media/image6.png" Id="R43619bc2998f4e92" /><Relationship Type="http://schemas.openxmlformats.org/officeDocument/2006/relationships/notesSlide" Target="/ppt/notesSlides/notesSlide8.xml" Id="Rd1f5928b94ee40c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dae8ae94edd4f71" /><Relationship Type="http://schemas.openxmlformats.org/officeDocument/2006/relationships/image" Target="/ppt/media/image7.png" Id="Rf62ab7a945a1443c" /><Relationship Type="http://schemas.openxmlformats.org/officeDocument/2006/relationships/notesSlide" Target="/ppt/notesSlides/notesSlide9.xml" Id="R1be0e64765a84b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58169fe453d476d" /><Relationship Type="http://schemas.openxmlformats.org/officeDocument/2006/relationships/image" Target="/ppt/media/image8.png" Id="R6eaaa336e0ce4ef9" /><Relationship Type="http://schemas.openxmlformats.org/officeDocument/2006/relationships/image" Target="/ppt/media/image9.png" Id="R689bc015b1de4575" /><Relationship Type="http://schemas.openxmlformats.org/officeDocument/2006/relationships/notesSlide" Target="/ppt/notesSlides/notesSlide10.xml" Id="Rdbf0247cb0e64de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4ce3384a7e473c" /><Relationship Type="http://schemas.openxmlformats.org/officeDocument/2006/relationships/image" Target="/ppt/media/image10.png" Id="Re579561c6d9843ec" /><Relationship Type="http://schemas.openxmlformats.org/officeDocument/2006/relationships/notesSlide" Target="/ppt/notesSlides/notesSlide11.xml" Id="R1ee355b444f0459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3cd949bccc421d" /><Relationship Type="http://schemas.openxmlformats.org/officeDocument/2006/relationships/image" Target="/ppt/media/image11.png" Id="Rbf9fde0a7ac146fa" /><Relationship Type="http://schemas.openxmlformats.org/officeDocument/2006/relationships/notesSlide" Target="/ppt/notesSlides/notesSlide12.xml" Id="R36a59b290043412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c789ef763f489f" /><Relationship Type="http://schemas.openxmlformats.org/officeDocument/2006/relationships/image" Target="/ppt/media/image12.png" Id="Recb3a75cc50b435b" /><Relationship Type="http://schemas.openxmlformats.org/officeDocument/2006/relationships/image" Target="/ppt/media/image13.png" Id="R31bc49fb93ed4aa7" /><Relationship Type="http://schemas.openxmlformats.org/officeDocument/2006/relationships/notesSlide" Target="/ppt/notesSlides/notesSlide13.xml" Id="R164c5b584b51488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d1f0b6694b244ae" /><Relationship Type="http://schemas.openxmlformats.org/officeDocument/2006/relationships/notesSlide" Target="/ppt/notesSlides/notesSlide14.xml" Id="Rfd05d581133e4ca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0fc6b117ac4503" /><Relationship Type="http://schemas.openxmlformats.org/officeDocument/2006/relationships/notesSlide" Target="/ppt/notesSlides/notesSlide15.xml" Id="R42d5d5fd148a46e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918ab506f7e4d4b" /><Relationship Type="http://schemas.openxmlformats.org/officeDocument/2006/relationships/image" Target="/ppt/media/image14.png" Id="R79ac63cf64c44c5e" /><Relationship Type="http://schemas.openxmlformats.org/officeDocument/2006/relationships/image" Target="/ppt/media/image15.png" Id="Rbf393b49be8e44c4" /><Relationship Type="http://schemas.openxmlformats.org/officeDocument/2006/relationships/notesSlide" Target="/ppt/notesSlides/notesSlide16.xml" Id="Reb344c447de74d8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07cfc379194308" /><Relationship Type="http://schemas.openxmlformats.org/officeDocument/2006/relationships/image" Target="/ppt/media/image16.png" Id="R41aed12644d146ea" /><Relationship Type="http://schemas.openxmlformats.org/officeDocument/2006/relationships/notesSlide" Target="/ppt/notesSlides/notesSlide17.xml" Id="Ra85137377da7451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5d5c6836e22467e" /><Relationship Type="http://schemas.openxmlformats.org/officeDocument/2006/relationships/image" Target="/ppt/media/image17.png" Id="R7591e4d9e7364aa0" /><Relationship Type="http://schemas.openxmlformats.org/officeDocument/2006/relationships/notesSlide" Target="/ppt/notesSlides/notesSlide18.xml" Id="R018c2b00d94c47c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7f148f482ed4fac" /><Relationship Type="http://schemas.openxmlformats.org/officeDocument/2006/relationships/image" Target="/ppt/media/image18.png" Id="R3d65ed1d5cd14d4a" /><Relationship Type="http://schemas.openxmlformats.org/officeDocument/2006/relationships/notesSlide" Target="/ppt/notesSlides/notesSlide19.xml" Id="Rba4bf0b1923e4cb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ee2f03ace84000" /><Relationship Type="http://schemas.openxmlformats.org/officeDocument/2006/relationships/image" Target="/ppt/media/image19.png" Id="Ra2e167c3104a4d91" /><Relationship Type="http://schemas.openxmlformats.org/officeDocument/2006/relationships/image" Target="/ppt/media/image20.png" Id="R0017120ec5b54af5" /><Relationship Type="http://schemas.openxmlformats.org/officeDocument/2006/relationships/notesSlide" Target="/ppt/notesSlides/notesSlide20.xml" Id="R2376a513db9046d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67e77867f144fa" /><Relationship Type="http://schemas.openxmlformats.org/officeDocument/2006/relationships/notesSlide" Target="/ppt/notesSlides/notesSlide21.xml" Id="R7c3c18b084a544c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220839f26c4e85" /><Relationship Type="http://schemas.openxmlformats.org/officeDocument/2006/relationships/image" Target="/ppt/media/image21.png" Id="R764bdb8590be4142" /><Relationship Type="http://schemas.openxmlformats.org/officeDocument/2006/relationships/notesSlide" Target="/ppt/notesSlides/notesSlide22.xml" Id="Rb802cd149a38489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ccc27a07d84433" /><Relationship Type="http://schemas.openxmlformats.org/officeDocument/2006/relationships/notesSlide" Target="/ppt/notesSlides/notesSlide23.xml" Id="R5d687e7e2e4547a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0633637b1f14218" /><Relationship Type="http://schemas.openxmlformats.org/officeDocument/2006/relationships/notesSlide" Target="/ppt/notesSlides/notesSlide24.xml" Id="R2a10aac220c4418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8162a931f3144dd" /><Relationship Type="http://schemas.openxmlformats.org/officeDocument/2006/relationships/notesSlide" Target="/ppt/notesSlides/notesSlide25.xml" Id="R54bcdbbf6d0c46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4D50C29-7D5D-45C7-A072-EBF30C8E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7280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3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READINGLAB · SESSION 0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D1AD063-7580-490C-BFE6-D6C2FEFB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914400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60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Least Squares Foundations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E1B4719-A592-43BB-81E5-689D75AF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4720"/>
            <a:ext cx="9601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2400" b="0">
                <a:solidFill>
                  <a:srgbClr val="6B7280"/>
                </a:solidFill>
                <a:latin typeface="Georgia"/>
                <a:ea typeface="Georgia"/>
                <a:cs typeface="Georgia"/>
              </a:rPr>
              <a:t>Session 0 · what the ridge paper assumes you already know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9B63BA5-60CE-4F97-9844-C7CD20CA4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0"/>
            <a:ext cx="91440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spcAft>
                <a:spcPts val="0"/>
              </a:spcAft>
              <a:buNone/>
            </a:pPr>
            <a:r>
              <a:rPr sz="18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Nurdaulet Akhanov</a:t>
            </a:r>
          </a:p>
          <a:p xmlns:a="http://schemas.openxmlformats.org/drawingml/2006/main">
            <a:pPr algn="l">
              <a:lnSpc>
                <a:spcPct val="140000"/>
              </a:lnSpc>
              <a:spcAft>
                <a:spcPts val="0"/>
              </a:spcAft>
              <a:buNone/>
            </a:pPr>
            <a:r>
              <a:rPr sz="18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Friday, 4 September 2026 · 6 pm · Lecture Hall 1</a:t>
            </a:r>
          </a:p>
        </p:txBody>
      </p:sp>
    </p:spTree>
    <p:extLst>
      <p:ext uri="{BB962C8B-B14F-4D97-AF65-F5344CB8AC3E}">
        <p14:creationId xmlns:p14="http://schemas.microsoft.com/office/powerpoint/2010/main" val="20882644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35616AF-A33C-4DDD-A161-9E6A8AA7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WHY A SESSION 0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116E294-4887-4092-A343-F1BF4833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Fourteen pages that take five things for granted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EFC3EC5-59CE-456D-93BF-364E0FEC0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6215616-BAF8-47FD-9E08-527BB1A4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spcAft>
                <a:spcPts val="600"/>
              </a:spcAft>
              <a:buNone/>
            </a:pPr>
            <a:r>
              <a:rPr sz="20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Hoerl &amp; Kennard (1970) never explain these. Today we build them from one table of cars: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2355CED-F1C0-4629-ABB5-4D8463B8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0820095" cy="3749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the linear model written as  Y = Xβ + ε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correlation between predictors as an angle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the eigenvalues of XᵀX, and why a small one is bad news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least squares: unbiased, with covariance σ²(XᵀX)⁻¹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error = variance + bias², so unbiased is not the same as accurate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A0D02AA-0570-43D9-99C5-39FE579A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108200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6B7280"/>
                </a:solidFill>
                <a:latin typeface="Georgia"/>
                <a:ea typeface="Georgia"/>
                <a:cs typeface="Georgia"/>
              </a:rPr>
              <a:t>Session 1 uses all five to break least squares, then to fix it.</a:t>
            </a:r>
          </a:p>
        </p:txBody>
      </p:sp>
    </p:spTree>
    <p:extLst>
      <p:ext uri="{BB962C8B-B14F-4D97-AF65-F5344CB8AC3E}">
        <p14:creationId xmlns:p14="http://schemas.microsoft.com/office/powerpoint/2010/main" val="2668693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995D554-EE7B-40BD-AFB2-D70274A3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 · THE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F41F1B5-B566-4239-AA98-A220248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Five cars, three numbers each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DD99E1E-7665-46E3-93A6-A32A2598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11" name="Table 4"/>
          <p:cNvGraphicFramePr/>
          <p:nvPr/>
        </p:nvGraphicFramePr>
        <p:xfrm>
          <a:off xmlns:a="http://schemas.openxmlformats.org/drawingml/2006/main" x="685800" y="1600200"/>
          <a:ext xmlns:a="http://schemas.openxmlformats.org/drawingml/2006/main" cx="6583680" cy="252374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Car</a:t>
                      </a:r>
                    </a:p>
                  </a:txBody>
                  <a:tcPr marL="91440" marR="91440" marT="45720" marB="45720"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Weight (t)</a:t>
                      </a:r>
                    </a:p>
                  </a:txBody>
                  <a:tcPr marL="91440" marR="91440" marT="45720" marB="45720"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Horsepower</a:t>
                      </a:r>
                    </a:p>
                  </a:txBody>
                  <a:tcPr marL="91440" marR="91440" marT="45720" marB="45720"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Fuel (L/100 km)</a:t>
                      </a:r>
                    </a:p>
                  </a:txBody>
                  <a:tcPr marL="91440" marR="91440" marT="45720" marB="45720">
                    <a:solidFill>
                      <a:srgbClr val="F6EC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1.2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95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6.4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1.4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100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7.1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1.0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90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5.8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1.8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150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9.6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1.6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115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  <a:ea typeface="Arial"/>
                          <a:cs typeface="Arial"/>
                        </a:rPr>
                        <a:t>8.2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9443BD-CFF4-46CC-94DA-A1729252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783080"/>
            <a:ext cx="3687775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20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We want to predict fuel from the other two columns.</a:t>
            </a:r>
          </a:p>
          <a:p xmlns:a="http://schemas.openxmlformats.org/drawingml/2006/main">
            <a:pPr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20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Fuel is the response. Weight and horsepower are the predictors.</a:t>
            </a:r>
          </a:p>
        </p:txBody>
      </p:sp>
    </p:spTree>
    <p:extLst>
      <p:ext uri="{BB962C8B-B14F-4D97-AF65-F5344CB8AC3E}">
        <p14:creationId xmlns:p14="http://schemas.microsoft.com/office/powerpoint/2010/main" val="10658971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F560CA5-D472-491E-B3D8-63C4C164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 · THE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9642FA9-D161-4E93-B0A0-9D9DBD41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From the table to an equation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DDF8C5D-3D4D-4EA9-BF1F-D7E1ABB1C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pic>
        <p:nvPicPr>
          <p:cNvPr id="11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52a7157384e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34409" y="1600200"/>
            <a:ext cx="4722876" cy="658368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807AACE-A66B-4E43-AAC5-164496AE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8608"/>
            <a:ext cx="10820095" cy="3456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β₁ and β₂ belong to the relationship, not to any single car. They are what we want.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εᵢ is everything the two measurements miss: driver, tyres, weather, the scale.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No amount of staring at the table reveals β. We will have to estimate it.</a:t>
            </a:r>
          </a:p>
        </p:txBody>
      </p:sp>
    </p:spTree>
    <p:extLst>
      <p:ext uri="{BB962C8B-B14F-4D97-AF65-F5344CB8AC3E}">
        <p14:creationId xmlns:p14="http://schemas.microsoft.com/office/powerpoint/2010/main" val="7465416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59EAD87-38B7-4FA6-8B48-7DF30B193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 · THE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B868B72-962A-44EE-A148-755A8934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Five equations become one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460985F-57B7-44C9-A903-05712344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pic>
        <p:nvPicPr>
          <p:cNvPr id="11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399bea7b63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22618" y="1600200"/>
            <a:ext cx="4346459" cy="2377440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E30F78-CBB5-4F92-910F-1AB2EF497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7680"/>
            <a:ext cx="10820095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Y = Xβ + ε.   X has n = 5 rows, one per car, and p = 2 columns, one per predictor.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Every paper on the reading list starts from this line.</a:t>
            </a:r>
          </a:p>
        </p:txBody>
      </p:sp>
    </p:spTree>
    <p:extLst>
      <p:ext uri="{BB962C8B-B14F-4D97-AF65-F5344CB8AC3E}">
        <p14:creationId xmlns:p14="http://schemas.microsoft.com/office/powerpoint/2010/main" val="16580510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6FB01C0-B31A-4C58-9709-A2E0BA7A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 · THE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08AA676-EC62-4FAF-BCA0-35A3CA7F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The intercept is a question about the origin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4CCA0E3-9969-4EEC-80EC-4AFB0451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pic>
        <p:nvPicPr>
          <p:cNvPr id="11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f73af1cdd644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8769" y="1600200"/>
            <a:ext cx="3534156" cy="649224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3C6534E-64A4-4E92-B209-379A3CF22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69464"/>
            <a:ext cx="10820095" cy="34655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A real model has an intercept β₀; it lets the fitted plane sit above or below zero.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Without β₀ the fit must pass through the origin: a car with zero weight and zero horsepower.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Carrying β₀ through every formula is a nuisance. The cleaner move is to relocate the origin.</a:t>
            </a:r>
          </a:p>
        </p:txBody>
      </p:sp>
    </p:spTree>
    <p:extLst>
      <p:ext uri="{BB962C8B-B14F-4D97-AF65-F5344CB8AC3E}">
        <p14:creationId xmlns:p14="http://schemas.microsoft.com/office/powerpoint/2010/main" val="8070760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B4043CE-2EE3-49A3-8F8E-B7FC8454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 · THE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B210EF0-17CD-4E47-8DE5-FDA27BC2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Centring moves the origin to the average car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8115BC9-E278-49C8-81CF-085B76B4C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pic>
        <p:nvPicPr>
          <p:cNvPr id="1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c84962cb5048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600200"/>
            <a:ext cx="6675120" cy="3772894"/>
          </a:xfrm>
          <a:prstGeom xmlns:a="http://schemas.openxmlformats.org/drawingml/2006/main" prst="rect">
            <a:avLst/>
          </a:prstGeom>
        </p:spPr>
      </p:pic>
      <p:pic>
        <p:nvPicPr>
          <p:cNvPr id="1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4006de1cd14a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53781" y="1600200"/>
            <a:ext cx="3570732" cy="635508"/>
          </a:xfrm>
          <a:prstGeom xmlns:a="http://schemas.openxmlformats.org/drawingml/2006/main" prst="rect">
            <a:avLst/>
          </a:prstGeom>
        </p:spPr>
      </p:pic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D5E95BA-497D-4BD4-8A43-258304DD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64308"/>
            <a:ext cx="3733495" cy="37536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  <a:ea typeface="Arial"/>
                <a:cs typeface="Arial"/>
              </a:rPr>
              <a:t>Subtract each column's mean from every entry, and do the same to y.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  <a:ea typeface="Arial"/>
                <a:cs typeface="Arial"/>
              </a:rPr>
              <a:t>Every car moves by the same vector, so the cloud slides as one rigid piece.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  <a:ea typeface="Arial"/>
                <a:cs typeface="Arial"/>
              </a:rPr>
              <a:t>Distances, angles, and the shape are untouched. Only the mean has moved, to (0, 0).</a:t>
            </a:r>
          </a:p>
        </p:txBody>
      </p:sp>
    </p:spTree>
    <p:extLst>
      <p:ext uri="{BB962C8B-B14F-4D97-AF65-F5344CB8AC3E}">
        <p14:creationId xmlns:p14="http://schemas.microsoft.com/office/powerpoint/2010/main" val="16127793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BA80F66-4D0C-47E6-B0A8-7E867C63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 · THE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BF5EF2A-3876-472D-B924-E4A8A612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What centring buys us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163FFA5-D2B1-4B98-BF12-0198C80DB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pic>
        <p:nvPicPr>
          <p:cNvPr id="11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619bc2998f4e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9383" y="1600200"/>
            <a:ext cx="2852928" cy="722376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9C0E6ED-8EE1-4B95-975D-1829708FC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2616"/>
            <a:ext cx="10820095" cy="33924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The average car is now the origin, and its predicted fuel is the average fuel: the intercept is exactly zero.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So we fit only the slopes, on centred data, from  Y = Xβ + ε  with no β₀ in sight.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The intercept comes back for free afterwards. For the cars: β̂₁ = 2.83, β̂₂ = 0.027, β̂₀ = 0.52.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Ridge regression shrinks slopes, never the intercept. Centring is what keeps the two apart.</a:t>
            </a:r>
          </a:p>
        </p:txBody>
      </p:sp>
    </p:spTree>
    <p:extLst>
      <p:ext uri="{BB962C8B-B14F-4D97-AF65-F5344CB8AC3E}">
        <p14:creationId xmlns:p14="http://schemas.microsoft.com/office/powerpoint/2010/main" val="16426727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C99614F-8BAD-4B9A-B4A4-81608582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II · THE GEOMETRY OF CORRELATION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9473A0B-7914-4C5C-8B47-65A83D82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Predictors are vectors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184E107-B6B4-4779-91DB-CA546290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pic>
        <p:nvPicPr>
          <p:cNvPr id="11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ab7a945a144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48559" y="1600200"/>
            <a:ext cx="6894576" cy="1074420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11CEC7E-AD13-4A56-9088-F21979AD3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4660"/>
            <a:ext cx="10820095" cy="30403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Read X by columns: weight is one vector in ℝ⁵, horsepower is another.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XᵀX collects their dot products. It is p × p, so rows and columns now index predictors, not cars.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The whole story of this session and the next lives inside that small matrix.</a:t>
            </a:r>
          </a:p>
        </p:txBody>
      </p:sp>
    </p:spTree>
    <p:extLst>
      <p:ext uri="{BB962C8B-B14F-4D97-AF65-F5344CB8AC3E}">
        <p14:creationId xmlns:p14="http://schemas.microsoft.com/office/powerpoint/2010/main" val="185513161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99A5969-4739-4C65-8268-2DEF2BE8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II · THE GEOMETRY OF CORRELATION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EF65B47-1CD5-46B6-921D-DFF7F67E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Correlation is an angle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B2A689C-8ACA-423C-88F1-093AC1E1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pic>
        <p:nvPicPr>
          <p:cNvPr id="1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aaa336e0ce4e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5335" y="1600200"/>
            <a:ext cx="4480560" cy="3816773"/>
          </a:xfrm>
          <a:prstGeom xmlns:a="http://schemas.openxmlformats.org/drawingml/2006/main" prst="rect">
            <a:avLst/>
          </a:prstGeom>
        </p:spPr>
      </p:pic>
      <p:pic>
        <p:nvPicPr>
          <p:cNvPr id="1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bc015b1de45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24431" y="1600200"/>
            <a:ext cx="4005072" cy="676656"/>
          </a:xfrm>
          <a:prstGeom xmlns:a="http://schemas.openxmlformats.org/drawingml/2006/main" prst="rect">
            <a:avLst/>
          </a:prstGeom>
        </p:spPr>
      </p:pic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EF79FE6-B808-4A8C-8914-094EC027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1176"/>
            <a:ext cx="5882335" cy="3575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8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  <a:ea typeface="Arial"/>
                <a:cs typeface="Arial"/>
              </a:rPr>
              <a:t>Centre both columns and scale each to unit length.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8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  <a:ea typeface="Arial"/>
                <a:cs typeface="Arial"/>
              </a:rPr>
              <a:t>Their dot product is the cosine of the angle between them, and that is the sample correlation. For the cars, r = 0.913.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8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  <a:ea typeface="Arial"/>
                <a:cs typeface="Arial"/>
              </a:rPr>
              <a:t>|r| ≤ 1 is Cauchy–Schwarz, nothing more.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8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  <a:ea typeface="Arial"/>
                <a:cs typeface="Arial"/>
              </a:rPr>
              <a:t>Nearly parallel columns mean nearly redundant predictors.</a:t>
            </a:r>
          </a:p>
        </p:txBody>
      </p:sp>
    </p:spTree>
    <p:extLst>
      <p:ext uri="{BB962C8B-B14F-4D97-AF65-F5344CB8AC3E}">
        <p14:creationId xmlns:p14="http://schemas.microsoft.com/office/powerpoint/2010/main" val="17305914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BD3B9AF-9C22-4DAB-8C6F-E9D5809C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II · THE GEOMETRY OF CORRELATION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84015F2-EAD2-4572-A89B-4B42E590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Why standardize? A detour through covariance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FD9B9E0-FB43-473F-881D-F8A961B1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>
        <p:nvPicPr>
          <p:cNvPr id="11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79561c6d9843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60573" y="1600200"/>
            <a:ext cx="6670548" cy="827532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72D2145-B669-4125-A2EE-9C9114560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7772"/>
            <a:ext cx="10820095" cy="32872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7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  <a:ea typeface="Arial"/>
                <a:cs typeface="Arial"/>
              </a:rPr>
              <a:t>Covariance is the crude measure of co-movement: centre, multiply entry by entry, average. For the cars, cov(weight, hp) = 7.0.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7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  <a:ea typeface="Arial"/>
                <a:cs typeface="Arial"/>
              </a:rPr>
              <a:t>But 7.0 of what? Tonne-horsepower. Measure weight in grams and the same five cars give 7 000 000. The number carries the ruler.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7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  <a:ea typeface="Arial"/>
                <a:cs typeface="Arial"/>
              </a:rPr>
              <a:t>The standard deviation is the typical distance from the mean, in the variable's own units: sd(u) = √cov(u, u). Here sd(weight) = 0.3162 t and sd(hp) = 24.238.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7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  <a:ea typeface="Arial"/>
                <a:cs typeface="Arial"/>
              </a:rPr>
              <a:t>Divide by the standard deviations and the ruler cancels: 7.0 / (0.3162 × 24.238) = 0.913, in tonnes or in grams alike.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7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  <a:ea typeface="Arial"/>
                <a:cs typeface="Arial"/>
              </a:rPr>
              <a:t>Standardizing does that division once, on the data itself. Afterwards a plain dot product already is the correlation, and the ridge paper assumes exactly that.</a:t>
            </a:r>
          </a:p>
        </p:txBody>
      </p:sp>
    </p:spTree>
    <p:extLst>
      <p:ext uri="{BB962C8B-B14F-4D97-AF65-F5344CB8AC3E}">
        <p14:creationId xmlns:p14="http://schemas.microsoft.com/office/powerpoint/2010/main" val="3721971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19FB32F-1466-45AC-A5DF-80464BF1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II · THE GEOMETRY OF CORRELATION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6E81482-9DAC-431F-9E26-229CB220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XᵀX is the correlation matrix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7FAB63D-253F-4B86-961D-0E787B9A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>
        <p:nvPicPr>
          <p:cNvPr id="11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9fde0a7ac146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60723" y="1600200"/>
            <a:ext cx="4270248" cy="1069848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B9ACE4F-A608-4227-9305-8D8603E5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088"/>
            <a:ext cx="10820095" cy="3044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On the diagonal: squared column lengths, all equal to 1.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Off the diagonal: the pairwise correlations.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The trace is p, so the eigenvalues always add up to p. They share a fixed budget.</a:t>
            </a:r>
          </a:p>
        </p:txBody>
      </p:sp>
    </p:spTree>
    <p:extLst>
      <p:ext uri="{BB962C8B-B14F-4D97-AF65-F5344CB8AC3E}">
        <p14:creationId xmlns:p14="http://schemas.microsoft.com/office/powerpoint/2010/main" val="19737231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6CEFD82-C907-4719-97BB-4FD52345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II · THE GEOMETRY OF CORRELATION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21CE632-592B-41B5-9BEF-C52FA4F3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Eigenvalues: where the information is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2090659-8368-4DB8-8B9C-9FBDE393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1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b3a75cc50b43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5335" y="1600200"/>
            <a:ext cx="4480560" cy="4160520"/>
          </a:xfrm>
          <a:prstGeom xmlns:a="http://schemas.openxmlformats.org/drawingml/2006/main" prst="rect">
            <a:avLst/>
          </a:prstGeom>
        </p:spPr>
      </p:pic>
      <p:pic>
        <p:nvPicPr>
          <p:cNvPr id="1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c49fb93ed4a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05559" y="1600200"/>
            <a:ext cx="4242816" cy="685800"/>
          </a:xfrm>
          <a:prstGeom xmlns:a="http://schemas.openxmlformats.org/drawingml/2006/main" prst="rect">
            <a:avLst/>
          </a:prstGeom>
        </p:spPr>
      </p:pic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A863EA1-FAAC-412C-BBE5-BBF8B105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60320"/>
            <a:ext cx="5882335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8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  <a:ea typeface="Arial"/>
                <a:cs typeface="Arial"/>
              </a:rPr>
              <a:t>Each eigenvalue is the spread of the data cloud along its eigenvector.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8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  <a:ea typeface="Arial"/>
                <a:cs typeface="Arial"/>
              </a:rPr>
              <a:t>For the cars: λ₁ = 1.91 along the diagonal, λ₂ = 0.09 across it. They sum to 2.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8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  <a:ea typeface="Arial"/>
                <a:cs typeface="Arial"/>
              </a:rPr>
              <a:t>Along the short axis the data barely varies. Whatever the coefficients do in that direction, the data cannot tell.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8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  <a:ea typeface="Arial"/>
                <a:cs typeface="Arial"/>
              </a:rPr>
              <a:t>Remember the small one. Everything in Session 1 is about 1/λ₂.</a:t>
            </a:r>
          </a:p>
        </p:txBody>
      </p:sp>
    </p:spTree>
    <p:extLst>
      <p:ext uri="{BB962C8B-B14F-4D97-AF65-F5344CB8AC3E}">
        <p14:creationId xmlns:p14="http://schemas.microsoft.com/office/powerpoint/2010/main" val="5121913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7CC8CD-74A4-4F80-B18A-78F546A1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II · THE GEOMETRY OF CORRELATION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9077419-B0CA-4DC5-AAC7-5A3807E2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What we assume about the noise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9671D17-54DC-445D-87D7-E27BE1EF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9C541-EE4D-47F5-B8B8-E90090E7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00200"/>
            <a:ext cx="7429500" cy="7239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6ECD6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700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defRPr>
            </a:pPr>
            <a:r>
              <a:rPr sz="2700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rPr>
              <a:t>E[ε | X] = 0          Cov(ε | X) = σ²Iₙ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C07B8B-018B-4196-8D80-39EC0CF20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A8710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A8710A"/>
                </a:solidFill>
                <a:latin typeface="Arial"/>
                <a:ea typeface="Arial"/>
                <a:cs typeface="Arial"/>
              </a:rPr>
              <a:t>COV MEANS COVARIANCE MATRIX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2F473-2651-4975-9C37-52ECA772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6100"/>
            <a:ext cx="103632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rPr>
              <a:t>Cov(Z | X) = E[(Z − E[Z | X])(Z − E[Z | X])ᵀ | X]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E5693D-B2B6-4E15-992B-A4A85F20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100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A8710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A8710A"/>
                </a:solidFill>
                <a:latin typeface="Arial"/>
                <a:ea typeface="Arial"/>
                <a:cs typeface="Arial"/>
              </a:rPr>
              <a:t>DIAGONAL ENTRIES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79B836-6665-420E-9F03-EB7C919B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52950"/>
            <a:ext cx="43053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325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defRPr>
            </a:pPr>
            <a:r>
              <a:rPr sz="2325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rPr>
              <a:t>Var(εᵢ | X) = σ²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EB91A2-52CE-4C3D-B0BA-34418F41C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57800"/>
            <a:ext cx="4191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Every observation has the same error variance.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A4D534-5978-4DAA-AB69-3C0D587C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71950"/>
            <a:ext cx="190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7D3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B78EE5-8DAC-4512-B9EB-B229E9E9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10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37627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37627F"/>
                </a:solidFill>
                <a:latin typeface="Arial"/>
                <a:ea typeface="Arial"/>
                <a:cs typeface="Arial"/>
              </a:rPr>
              <a:t>OFF-DIAGONAL ENTRIES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26018F-E3A7-4AE6-97C0-1D2C11C5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47625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rPr>
              <a:t>Cov(εᵢ, εⱼ | X) = 0,  i ≠ j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B798E-E27E-416E-A6F9-8EF6E350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578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Errors from distinct observations are uncorrelated.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622EB8-7369-404B-83E1-FC1F3C28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98170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B0413A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B0413A"/>
                </a:solidFill>
                <a:latin typeface="Arial"/>
                <a:ea typeface="Arial"/>
                <a:cs typeface="Arial"/>
              </a:rPr>
              <a:t>Normality is not assumed.</a:t>
            </a:r>
          </a:p>
        </p:txBody>
      </p:sp>
    </p:spTree>
    <p:extLst>
      <p:ext uri="{BB962C8B-B14F-4D97-AF65-F5344CB8AC3E}">
        <p14:creationId xmlns:p14="http://schemas.microsoft.com/office/powerpoint/2010/main" val="85798055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436B0D-A390-4370-A0CD-F0E62C54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III · WHAT MAKES AN ESTIMATE GOOD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AE2C62F-A4F3-4EEA-9E7C-CD3492173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Least squares: make the leftovers small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02E08AC-72F0-4521-8348-A1537146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F3195D-0245-4BB2-AAA1-E6B24E6B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A8710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A8710A"/>
                </a:solidFill>
                <a:latin typeface="Arial"/>
                <a:ea typeface="Arial"/>
                <a:cs typeface="Arial"/>
              </a:rPr>
              <a:t>NOTATION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F3DD1-0B44-4DD2-8EA0-7A15F195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81200"/>
            <a:ext cx="4762500" cy="571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rPr>
              <a:t>β = true coefficients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77C1B9-6D09-431D-B9A8-C0B07A41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81200"/>
            <a:ext cx="4762500" cy="571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rPr>
              <a:t>B ∈ ℝᵖ = candidate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90C947-D860-4C4D-AB50-B3D0E34D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724150"/>
            <a:ext cx="8915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6B7280"/>
                </a:solidFill>
                <a:latin typeface="Arial"/>
                <a:ea typeface="Arial"/>
                <a:cs typeface="Arial"/>
              </a:rPr>
              <a:t>β stays fixed. B is the vector varied during minimization.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F12971-411A-46F2-B6D3-78BF7CE2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52800"/>
            <a:ext cx="933450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6ECD6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defRPr>
            </a:pPr>
            <a:r>
              <a:rPr sz="2850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rPr>
              <a:t>φ(B) = ‖Y − XB‖²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EC1126-56D6-4DE9-9EF3-B6ECD355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71950"/>
            <a:ext cx="93345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rPr>
              <a:t>gradient with respect to B:   −2XᵀY + 2XᵀXB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76A6D0-C1D9-48B6-AC23-526D29D2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72050"/>
            <a:ext cx="93345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defRPr>
            </a:pPr>
            <a:r>
              <a:rPr sz="2550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rPr>
              <a:t>at B = β̂:     XᵀXβ̂ = XᵀY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B80774-7BAB-4F0F-AE04-9A71F8A3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8293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A8710A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A8710A"/>
                </a:solidFill>
                <a:latin typeface="Arial"/>
                <a:ea typeface="Arial"/>
                <a:cs typeface="Arial"/>
              </a:rPr>
              <a:t>The minimizing candidate receives the name β̂.</a:t>
            </a:r>
          </a:p>
        </p:txBody>
      </p:sp>
    </p:spTree>
    <p:extLst>
      <p:ext uri="{BB962C8B-B14F-4D97-AF65-F5344CB8AC3E}">
        <p14:creationId xmlns:p14="http://schemas.microsoft.com/office/powerpoint/2010/main" val="142478458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32FB21F-4460-441A-AD3D-24ED3DCC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III · WHAT MAKES AN ESTIMATE GOOD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43C90D-C572-4C5C-BE11-246EAAA9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Least squares as orthogonal projection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65A2F49-1BF0-434F-B0EE-7E42BF64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pic>
        <p:nvPicPr>
          <p:cNvPr id="1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ac63cf64c44c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28055" y="1600200"/>
            <a:ext cx="5577840" cy="4009072"/>
          </a:xfrm>
          <a:prstGeom xmlns:a="http://schemas.openxmlformats.org/drawingml/2006/main" prst="rect">
            <a:avLst/>
          </a:prstGeom>
        </p:spPr>
      </p:pic>
      <p:pic>
        <p:nvPicPr>
          <p:cNvPr id="1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93b49be8e44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600200"/>
            <a:ext cx="4785055" cy="649822"/>
          </a:xfrm>
          <a:prstGeom xmlns:a="http://schemas.openxmlformats.org/drawingml/2006/main" prst="rect">
            <a:avLst/>
          </a:prstGeom>
        </p:spPr>
      </p:pic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2089E97-1336-42E7-8592-AC13B66A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342"/>
            <a:ext cx="4785055" cy="36021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8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  <a:ea typeface="Arial"/>
                <a:cs typeface="Arial"/>
              </a:rPr>
              <a:t>Every fitted vector has the form XB, so it lies in the column space of X.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8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  <a:ea typeface="Arial"/>
                <a:cs typeface="Arial"/>
              </a:rPr>
              <a:t>Least squares selects Ŷ = Xβ̂, the point in Col(X) nearest to Y.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8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  <a:ea typeface="Arial"/>
                <a:cs typeface="Arial"/>
              </a:rPr>
              <a:t>At the nearest point, the residual e = Y − Ŷ is perpendicular to every column of X. Thus Xᵀe = 0, which gives the normal equations.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8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  <a:ea typeface="Arial"/>
                <a:cs typeface="Arial"/>
              </a:rPr>
              <a:t>Ŷ lives in ℝⁿ. β̂ lives in ℝᵖ and gives the coordinates of Ŷ in the columns of X.</a:t>
            </a:r>
          </a:p>
        </p:txBody>
      </p:sp>
    </p:spTree>
    <p:extLst>
      <p:ext uri="{BB962C8B-B14F-4D97-AF65-F5344CB8AC3E}">
        <p14:creationId xmlns:p14="http://schemas.microsoft.com/office/powerpoint/2010/main" val="70048799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2E4F2B2-1E51-4553-96E3-C339D268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III · WHAT MAKES AN ESTIMATE GOOD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F8F3CAB-8EF1-4CF6-80EA-40B9AFBE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When can XᵀX be inverted?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EEC2FE3-A416-4A6D-967A-CD73057C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pic>
        <p:nvPicPr>
          <p:cNvPr id="11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aed12644d146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93261" y="1600200"/>
            <a:ext cx="4805172" cy="704088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91279AD-5447-4C94-9170-0207FB5C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4328"/>
            <a:ext cx="10820095" cy="3410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So XᵀX is positive semidefinite for any X.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If the columns are linearly independent, Xv ≠ 0 whenever v ≠ 0, the quadratic form is strictly positive, and the inverse exists.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Nearly dependent columns keep the inverse but make it enormous. That is the ridge paper's whole subject.</a:t>
            </a:r>
          </a:p>
        </p:txBody>
      </p:sp>
    </p:spTree>
    <p:extLst>
      <p:ext uri="{BB962C8B-B14F-4D97-AF65-F5344CB8AC3E}">
        <p14:creationId xmlns:p14="http://schemas.microsoft.com/office/powerpoint/2010/main" val="180928757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11566C-0570-44CE-B807-30C478EA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III · WHAT MAKES AN ESTIMATE GOOD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55D56C1-A39D-4E44-92B6-DC10AF55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The estimate is a random variable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2318056-2BBE-48C6-A49D-A163AC7E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pic>
        <p:nvPicPr>
          <p:cNvPr id="11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91e4d9e7364a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01187" y="1600200"/>
            <a:ext cx="5989320" cy="736092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34167DB-4138-4EBB-9E71-60C394EBE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56332"/>
            <a:ext cx="10820095" cy="33787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β and X are fixed. Redraw the noise, and the estimate moves.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An estimator therefore has a distribution, and we can ask two questions of it: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where is its centre, and how wide is its spread?</a:t>
            </a:r>
          </a:p>
        </p:txBody>
      </p:sp>
    </p:spTree>
    <p:extLst>
      <p:ext uri="{BB962C8B-B14F-4D97-AF65-F5344CB8AC3E}">
        <p14:creationId xmlns:p14="http://schemas.microsoft.com/office/powerpoint/2010/main" val="45392427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0BE0768-F5D3-4CCC-A6FB-BF7EB419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III · WHAT MAKES AN ESTIMATE GOOD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97D9F8E-D884-468A-9ACF-0CF85257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Unbiased, with covariance σ²(XᵀX)⁻¹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6E93ED0-2063-4631-BF16-1543A8C8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pic>
        <p:nvPicPr>
          <p:cNvPr id="11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65ed1d5cd14d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18357" y="1600200"/>
            <a:ext cx="5554980" cy="736092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F8DFC3C-BD87-454A-9DF7-CF0E0EDE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56332"/>
            <a:ext cx="10820095" cy="33787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The centre is exactly right: least squares is unbiased.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The spread is the inverse of the correlation matrix. Along eigenvector pⱼ the variance is σ²/λⱼ.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For the cars: σ²/λ₁ = 0.52 σ²  but  σ²/λ₂ = 11.5 σ².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One direction of the estimate is 22 times noisier than the other, and the data caused it.</a:t>
            </a:r>
          </a:p>
        </p:txBody>
      </p:sp>
    </p:spTree>
    <p:extLst>
      <p:ext uri="{BB962C8B-B14F-4D97-AF65-F5344CB8AC3E}">
        <p14:creationId xmlns:p14="http://schemas.microsoft.com/office/powerpoint/2010/main" val="16649344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2B826FC-3527-431A-BC81-39DA4AFD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III · WHAT MAKES AN ESTIMATE GOOD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A5BA5B-C9F4-479E-BBD7-2C561721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Unbiased is not the same as accurate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D0B4B13-3D85-410E-8B9C-2489DAC3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pic>
        <p:nvPicPr>
          <p:cNvPr id="1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167c3104a4d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600200"/>
            <a:ext cx="6675120" cy="3337560"/>
          </a:xfrm>
          <a:prstGeom xmlns:a="http://schemas.openxmlformats.org/drawingml/2006/main" prst="rect">
            <a:avLst/>
          </a:prstGeom>
        </p:spPr>
      </p:pic>
      <p:pic>
        <p:nvPicPr>
          <p:cNvPr id="1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17120ec5b54a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0" y="1600200"/>
            <a:ext cx="3733495" cy="510384"/>
          </a:xfrm>
          <a:prstGeom xmlns:a="http://schemas.openxmlformats.org/drawingml/2006/main" prst="rect">
            <a:avLst/>
          </a:prstGeom>
        </p:spPr>
      </p:pic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38C2200-D077-42A6-862A-4DC79665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339184"/>
            <a:ext cx="3733495" cy="3878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  <a:ea typeface="Arial"/>
                <a:cs typeface="Arial"/>
              </a:rPr>
              <a:t>Player A is centred on the bullseye but scatters widely. Player B aims a little off and clusters tightly.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6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  <a:ea typeface="Arial"/>
                <a:cs typeface="Arial"/>
              </a:rPr>
              <a:t>Every single dart of B lands closer. Mean squared error scores both players on the same scale.</a:t>
            </a:r>
          </a:p>
        </p:txBody>
      </p:sp>
    </p:spTree>
    <p:extLst>
      <p:ext uri="{BB962C8B-B14F-4D97-AF65-F5344CB8AC3E}">
        <p14:creationId xmlns:p14="http://schemas.microsoft.com/office/powerpoint/2010/main" val="75999249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49A4D0D-B5F9-4EAD-BB08-0CA2FD4E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III · WHAT MAKES AN ESTIMATE GOOD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5DA6902-2EF2-4C0C-BEFB-C5241F93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The Gauss–Markov theorem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DDAF535-F114-4E7D-93E0-A8681368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FAA121-6E8C-4330-89DB-A0D112CE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19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A8710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A8710A"/>
                </a:solidFill>
                <a:latin typeface="Arial"/>
                <a:ea typeface="Arial"/>
                <a:cs typeface="Arial"/>
              </a:rPr>
              <a:t>COMPARISON CLASS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9B31B4-B1C6-4218-91C6-7607360B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447675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defRPr>
            </a:pPr>
            <a:r>
              <a:rPr sz="2550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rPr>
              <a:t>β̃ = 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6E2787-EC45-4E45-8B4D-F0861A05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6B7280"/>
                </a:solidFill>
                <a:latin typeface="Arial"/>
                <a:ea typeface="Arial"/>
                <a:cs typeface="Arial"/>
              </a:rPr>
              <a:t>Linear in 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A80326-7323-4F9D-8899-F00CAB6A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962150"/>
            <a:ext cx="447675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defRPr>
            </a:pPr>
            <a:r>
              <a:rPr sz="2550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rPr>
              <a:t>CX = 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47F2B-987F-477A-8909-D2F0FB79D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479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 i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6B7280"/>
                </a:solidFill>
                <a:latin typeface="Arial"/>
                <a:ea typeface="Arial"/>
                <a:cs typeface="Arial"/>
              </a:rPr>
              <a:t>Unbiased for every 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0179FB-7A83-40CB-85E6-96DDAB62C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19450"/>
            <a:ext cx="99822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6ECD6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625" b="1" i="0">
                <a:solidFill>
                  <a:srgbClr val="A8710A"/>
                </a:solidFill>
                <a:latin typeface="Cambria Math"/>
                <a:ea typeface="Cambria Math"/>
                <a:cs typeface="Cambria Math"/>
              </a:defRPr>
            </a:pPr>
            <a:r>
              <a:rPr sz="2625" b="1" i="0">
                <a:solidFill>
                  <a:srgbClr val="A8710A"/>
                </a:solidFill>
                <a:latin typeface="Cambria Math"/>
                <a:ea typeface="Cambria Math"/>
                <a:cs typeface="Cambria Math"/>
              </a:rPr>
              <a:t>Var(aᵀβ̂ | X) ≤ Var(aᵀβ̃ | X)     for every a ∈ ℝᵖ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1EC0A5-1640-4279-8A24-6BA965A8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76700"/>
            <a:ext cx="948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282E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24282E"/>
                </a:solidFill>
                <a:latin typeface="Arial"/>
                <a:ea typeface="Arial"/>
                <a:cs typeface="Arial"/>
              </a:rPr>
              <a:t>The vector a selects a direction: Var(aᵀβ̂ | X) = aᵀ Cov(β̂ | X)a. Setting a = eⱼ compares coefficient j.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B63D8F-B460-4EC0-AD6D-38290B6C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05350"/>
            <a:ext cx="97536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rPr>
              <a:t>C = (XᵀX)⁻¹Xᵀ + D,   DX = 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8EF6C3-6B2B-45D4-A2B8-140C9E33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14950"/>
            <a:ext cx="97536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0" i="0">
                <a:solidFill>
                  <a:srgbClr val="24282E"/>
                </a:solidFill>
                <a:latin typeface="Cambria Math"/>
                <a:ea typeface="Cambria Math"/>
                <a:cs typeface="Cambria Math"/>
              </a:rPr>
              <a:t>Var(aᵀβ̃ | X) − Var(aᵀβ̂ | X) = σ²‖Dᵀa‖² ≥ 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A41836-FCC6-4AE9-91B6-29BEBBCB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07695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B0413A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B0413A"/>
                </a:solidFill>
                <a:latin typeface="Arial"/>
                <a:ea typeface="Arial"/>
                <a:cs typeface="Arial"/>
              </a:rPr>
              <a:t>Ridge is biased, so Gauss–Markov does not compare ridge with least squares.</a:t>
            </a:r>
          </a:p>
        </p:txBody>
      </p:sp>
    </p:spTree>
    <p:extLst>
      <p:ext uri="{BB962C8B-B14F-4D97-AF65-F5344CB8AC3E}">
        <p14:creationId xmlns:p14="http://schemas.microsoft.com/office/powerpoint/2010/main" val="203679882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C360276-0ACC-40EF-9AF6-31E3FB13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PART III · WHAT MAKES AN ESTIMATE GOOD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AD42E48-4DE4-439D-AF75-89B1FDE7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Where this leaves us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1E47F06-8149-4C60-A718-E8783643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pic>
        <p:nvPicPr>
          <p:cNvPr id="11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4bdb8590be41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43353" y="1600200"/>
            <a:ext cx="7904988" cy="736092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4537D73-3F28-4A9C-9152-C388A4AF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56332"/>
            <a:ext cx="10820095" cy="33787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In the eigenvector basis, every 1/λⱼ becomes 1/(λⱼ + k). The small eigenvalue can no longer explode.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The price is bias. Session 1 proves that for some k &gt; 0 the trade lowers the mean squared error, always.</a:t>
            </a:r>
          </a:p>
          <a:p xmlns:a="http://schemas.openxmlformats.org/drawingml/2006/main">
            <a:pPr>
              <a:lnSpc>
                <a:spcPct val="118000"/>
              </a:lnSpc>
              <a:spcAft>
                <a:spcPts val="900"/>
              </a:spcAft>
              <a:buNone/>
            </a:pPr>
            <a:r>
              <a:rPr sz="19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  <a:ea typeface="Arial"/>
                <a:cs typeface="Arial"/>
              </a:rPr>
              <a:t>Bring the centred model, the eigenvalues, and the bias–variance split. The paper assumes all three.</a:t>
            </a:r>
          </a:p>
        </p:txBody>
      </p:sp>
    </p:spTree>
    <p:extLst>
      <p:ext uri="{BB962C8B-B14F-4D97-AF65-F5344CB8AC3E}">
        <p14:creationId xmlns:p14="http://schemas.microsoft.com/office/powerpoint/2010/main" val="203856418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8FDED53-E3B3-4B0C-BDD5-940E0528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CLOSING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86451E2-55C2-44E8-B58A-D602BD4A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Exercises I — the matrix XᵀX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7B08841-4D28-4481-813A-095B9A0E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454EDB4-EBA2-4411-B2E1-EF211F37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35727" cy="411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1.  Prove that XᵀX is symmetric, whatever the shape of X. That is what licenses XᵀX = PΛPᵀ.</a:t>
            </a:r>
          </a:p>
          <a:p xmlns:a="http://schemas.openxmlformats.org/drawingml/2006/main">
            <a:pPr algn="l">
              <a:lnSpc>
                <a:spcPct val="12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2.  Prove that vᵀXᵀXv ≥ 0 for every v, so XᵀX is positive semidefinite and its eigenvalues are ≥ 0.</a:t>
            </a:r>
          </a:p>
          <a:p xmlns:a="http://schemas.openxmlformats.org/drawingml/2006/main">
            <a:pPr algn="l">
              <a:lnSpc>
                <a:spcPct val="12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3.  Prove that a symmetric M with vᵀMv &gt; 0 for every v ≠ 0 is invertible. When does XᵀX qualify?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ECEF74D-DE1D-4DCF-A1C3-91E474A8E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167" y="1600200"/>
            <a:ext cx="5135727" cy="411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4.  Prove that unit-length u, v have |uᵀv| ≤ 1, with equality only when parallel. Deduce r = cos θ ∈ [−1, 1].</a:t>
            </a:r>
          </a:p>
          <a:p xmlns:a="http://schemas.openxmlformats.org/drawingml/2006/main">
            <a:pPr algn="l">
              <a:lnSpc>
                <a:spcPct val="12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5.  Prove that the eigenvalues of a symmetric matrix sum to its trace. Deduce Σλⱼ = p for standardized columns.</a:t>
            </a:r>
          </a:p>
          <a:p xmlns:a="http://schemas.openxmlformats.org/drawingml/2006/main">
            <a:pPr algn="l">
              <a:lnSpc>
                <a:spcPct val="12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6.  Prove that A⁻¹ keeps the eigenvectors and reciprocates the eigenvalues. Deduce the variance σ²/λⱼ along pⱼ.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B20AFDB-D25E-4564-AF12-278389A3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108200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6B7280"/>
                </a:solidFill>
                <a:latin typeface="Georgia"/>
                <a:ea typeface="Georgia"/>
                <a:cs typeface="Georgia"/>
              </a:rPr>
              <a:t>Work in pairs. Every one of these six is used somewhere in the ridge paper.</a:t>
            </a:r>
          </a:p>
        </p:txBody>
      </p:sp>
    </p:spTree>
    <p:extLst>
      <p:ext uri="{BB962C8B-B14F-4D97-AF65-F5344CB8AC3E}">
        <p14:creationId xmlns:p14="http://schemas.microsoft.com/office/powerpoint/2010/main" val="176179937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CF8B696-3CA0-4F2F-911D-600E1839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CLOSING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B53963-758A-4919-B0D2-603D7B9E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Exercises II — the model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30F661F-1510-4338-8FB4-C27ED4AC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D2F778F-4FDF-4E4F-A454-6ECACCFBA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35727" cy="411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7.  Prove that E[εᵢ] = 0, E[εᵢ²] = σ² and E[εᵢεⱼ] = 0 for i ≠ j are exactly Cov(ε) = σ²I. Which assumption is the diagonal, which the off-diagonal?</a:t>
            </a:r>
          </a:p>
          <a:p xmlns:a="http://schemas.openxmlformats.org/drawingml/2006/main">
            <a:pPr algn="l">
              <a:lnSpc>
                <a:spcPct val="12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8.  Derive the normal equations twice: by orthogonal projection, and by differentiating ‖Y − XB‖².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626EBE2-D529-49D5-ADDC-F97F9FF9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167" y="1600200"/>
            <a:ext cx="5135727" cy="411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9.  Prove that least squares is unbiased and that Cov(β̂ | X) = σ²(XᵀX)⁻¹.</a:t>
            </a:r>
          </a:p>
          <a:p xmlns:a="http://schemas.openxmlformats.org/drawingml/2006/main">
            <a:pPr algn="l">
              <a:lnSpc>
                <a:spcPct val="12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10.  Prove E‖β̃ − β‖² = tr Cov(β̃) + ‖bias‖², and show that the cross-term vanishes.</a:t>
            </a:r>
          </a:p>
          <a:p xmlns:a="http://schemas.openxmlformats.org/drawingml/2006/main">
            <a:pPr algn="l">
              <a:lnSpc>
                <a:spcPct val="125000"/>
              </a:lnSpc>
              <a:spcAft>
                <a:spcPts val="1200"/>
              </a:spcAft>
              <a:buNone/>
            </a:pPr>
            <a:r>
              <a:rPr sz="18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11.  For β̃ = cβ̂ with 0 ≤ c ≤ 1, prove the best c is B/(B + V). Is it ever 1?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FC2C7E-6CF5-474E-A160-36119D87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108200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6B7280"/>
                </a:solidFill>
                <a:latin typeface="Georgia"/>
                <a:ea typeface="Georgia"/>
                <a:cs typeface="Georgia"/>
              </a:rPr>
              <a:t>Mark the line where each assumption about ε enters.</a:t>
            </a:r>
          </a:p>
        </p:txBody>
      </p:sp>
    </p:spTree>
    <p:extLst>
      <p:ext uri="{BB962C8B-B14F-4D97-AF65-F5344CB8AC3E}">
        <p14:creationId xmlns:p14="http://schemas.microsoft.com/office/powerpoint/2010/main" val="185172761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6189A70-3FB7-4C55-B635-A4FC5580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"/>
            <a:ext cx="108200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200" b="1">
                <a:solidFill>
                  <a:srgbClr val="A8710A"/>
                </a:solidFill>
                <a:latin typeface="Arial"/>
                <a:ea typeface="Arial"/>
                <a:cs typeface="Arial"/>
              </a:rPr>
              <a:t>CLOSING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DD82BC-AA6F-4102-89E3-89BE7686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8368"/>
            <a:ext cx="1082009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3400" b="1">
                <a:solidFill>
                  <a:srgbClr val="24282E"/>
                </a:solidFill>
                <a:latin typeface="Georgia"/>
                <a:ea typeface="Georgia"/>
                <a:cs typeface="Georgia"/>
              </a:rPr>
              <a:t>Before Session 1 you should be able to prove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C856D94-D0B8-41DF-BB4D-9B667C10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495" y="635508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spcAft>
                <a:spcPts val="0"/>
              </a:spcAft>
              <a:buNone/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CAD1768-49DB-4004-A9F7-626CF3F5E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35727" cy="411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800"/>
              </a:spcAft>
              <a:buNone/>
            </a:pPr>
            <a:r>
              <a:rPr sz="15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1.  XᵀX is symmetric and positive semidefinite; positive definite under full column rank.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800"/>
              </a:spcAft>
              <a:buNone/>
            </a:pPr>
            <a:r>
              <a:rPr sz="15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2.  A symmetric matrix with vᵀMv &gt; 0 for every v ≠ 0 is invertible.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800"/>
              </a:spcAft>
              <a:buNone/>
            </a:pPr>
            <a:r>
              <a:rPr sz="15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3.  Unit-length vectors have |uᵀv| ≤ 1, so a dot product of standardized columns is a correlation.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800"/>
              </a:spcAft>
              <a:buNone/>
            </a:pPr>
            <a:r>
              <a:rPr sz="15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4.  The eigenvalues of a symmetric matrix sum to its trace, hence to p under this scaling.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800"/>
              </a:spcAft>
              <a:buNone/>
            </a:pPr>
            <a:r>
              <a:rPr sz="15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5.  A⁻¹ keeps the eigenvectors and reciprocates the eigenvalues, so the variance along pⱼ is σ²/λⱼ.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800"/>
              </a:spcAft>
              <a:buNone/>
            </a:pPr>
            <a:r>
              <a:rPr sz="15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6.  E[εᵢεⱼ] = 0 for i ≠ j and E[εᵢ²] = σ² are exactly Cov(ε) = σ²I.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9E44FBB-0C85-43D4-A0D4-4703C9BE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167" y="1600200"/>
            <a:ext cx="5135727" cy="411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800"/>
              </a:spcAft>
              <a:buNone/>
            </a:pPr>
            <a:r>
              <a:rPr sz="15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7.  Orthogonal projection gives the normal equations. Full column rank makes the least squares coefficients unique.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800"/>
              </a:spcAft>
              <a:buNone/>
            </a:pPr>
            <a:r>
              <a:rPr sz="15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8.  Least squares is unbiased with covariance σ²(XᵀX)⁻¹.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800"/>
              </a:spcAft>
              <a:buNone/>
            </a:pPr>
            <a:r>
              <a:rPr sz="15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9.  Vector MSE = total variance + squared bias.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800"/>
              </a:spcAft>
              <a:buNone/>
            </a:pPr>
            <a:r>
              <a:rPr sz="15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10.  Gauss–Markov compares only linear unbiased estimators.</a:t>
            </a:r>
          </a:p>
          <a:p xmlns:a="http://schemas.openxmlformats.org/drawingml/2006/main">
            <a:pPr algn="l">
              <a:lnSpc>
                <a:spcPct val="118000"/>
              </a:lnSpc>
              <a:spcAft>
                <a:spcPts val="800"/>
              </a:spcAft>
              <a:buNone/>
            </a:pPr>
            <a:r>
              <a:rPr sz="1500" b="0">
                <a:solidFill>
                  <a:srgbClr val="24282E"/>
                </a:solidFill>
                <a:latin typeface="Arial"/>
                <a:ea typeface="Arial"/>
                <a:cs typeface="Arial"/>
              </a:rPr>
              <a:t>11.  A biased estimator can have a lower MSE.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899677-5061-46B8-9309-F63F31F3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108200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6B7280"/>
                </a:solidFill>
                <a:latin typeface="Georgia"/>
                <a:ea typeface="Georgia"/>
                <a:cs typeface="Georgia"/>
              </a:rPr>
              <a:t>Next: Hoerl &amp; Kennard (1970), “Ridge Regression: Biased Estimation for Nonorthogonal Problems”.</a:t>
            </a:r>
          </a:p>
        </p:txBody>
      </p:sp>
    </p:spTree>
    <p:extLst>
      <p:ext uri="{BB962C8B-B14F-4D97-AF65-F5344CB8AC3E}">
        <p14:creationId xmlns:p14="http://schemas.microsoft.com/office/powerpoint/2010/main" val="34058832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2026-09-04T13:15:09.5950000Z</dcterms:created>
  <dcterms:modified xsi:type="dcterms:W3CDTF">2026-09-04T13:15:09.5950000Z</dcterms:modified>
</coreProperties>
</file>