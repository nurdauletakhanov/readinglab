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a0c13d647fc4c37" /><Relationship Type="http://schemas.openxmlformats.org/officeDocument/2006/relationships/extended-properties" Target="/docProps/app.xml" Id="Rccc54e96d6ce40a9" /><Relationship Type="http://schemas.openxmlformats.org/officeDocument/2006/relationships/officeDocument" Target="/ppt/presentation.xml" Id="R0ebed72880ef4b29" /></Relationships>
</file>

<file path=ppt/presentation.xml><?xml version="1.0" encoding="utf-8"?>
<p:presentation xmlns:p="http://schemas.openxmlformats.org/presentationml/2006/main">
  <p:sldMasterIdLst>
    <p:sldMasterId xmlns:r="http://schemas.openxmlformats.org/officeDocument/2006/relationships" id="2147483648" r:id="R66d4fc33df5147dd"/>
  </p:sldMasterIdLst>
  <p:notesMasterIdLst>
    <p:notesMasterId xmlns:r="http://schemas.openxmlformats.org/officeDocument/2006/relationships" r:id="R03d8f04f4dad4598"/>
  </p:notesMasterIdLst>
  <p:sldIdLst>
    <p:sldId xmlns:r="http://schemas.openxmlformats.org/officeDocument/2006/relationships" id="256" r:id="Rceb1a74b07c0420c"/>
    <p:sldId xmlns:r="http://schemas.openxmlformats.org/officeDocument/2006/relationships" id="257" r:id="R58da8a011f324e55"/>
    <p:sldId xmlns:r="http://schemas.openxmlformats.org/officeDocument/2006/relationships" id="258" r:id="R8a235b2bd7f24e67"/>
    <p:sldId xmlns:r="http://schemas.openxmlformats.org/officeDocument/2006/relationships" id="259" r:id="Rae3d7dc270ad401f"/>
    <p:sldId xmlns:r="http://schemas.openxmlformats.org/officeDocument/2006/relationships" id="260" r:id="Ra0dbb849ed06427e"/>
    <p:sldId xmlns:r="http://schemas.openxmlformats.org/officeDocument/2006/relationships" id="261" r:id="R625fbc5eb5334f73"/>
    <p:sldId xmlns:r="http://schemas.openxmlformats.org/officeDocument/2006/relationships" id="262" r:id="R1f7647313e864b82"/>
    <p:sldId xmlns:r="http://schemas.openxmlformats.org/officeDocument/2006/relationships" id="263" r:id="R757acdbba3974928"/>
    <p:sldId xmlns:r="http://schemas.openxmlformats.org/officeDocument/2006/relationships" id="264" r:id="R4bc557d240d943fd"/>
    <p:sldId xmlns:r="http://schemas.openxmlformats.org/officeDocument/2006/relationships" id="265" r:id="R87f21f4e2a3141b7"/>
    <p:sldId xmlns:r="http://schemas.openxmlformats.org/officeDocument/2006/relationships" id="266" r:id="R5030df3e3e8f4073"/>
    <p:sldId xmlns:r="http://schemas.openxmlformats.org/officeDocument/2006/relationships" id="267" r:id="R9d6ef8528701472f"/>
    <p:sldId xmlns:r="http://schemas.openxmlformats.org/officeDocument/2006/relationships" id="268" r:id="R0fed4f98f6e648de"/>
    <p:sldId xmlns:r="http://schemas.openxmlformats.org/officeDocument/2006/relationships" id="269" r:id="R2bd47d2653224201"/>
    <p:sldId xmlns:r="http://schemas.openxmlformats.org/officeDocument/2006/relationships" id="270" r:id="R8d1542d3b8db483e"/>
    <p:sldId xmlns:r="http://schemas.openxmlformats.org/officeDocument/2006/relationships" id="271" r:id="R83431be06756493e"/>
    <p:sldId xmlns:r="http://schemas.openxmlformats.org/officeDocument/2006/relationships" id="272" r:id="R79a4020ec5114aab"/>
    <p:sldId xmlns:r="http://schemas.openxmlformats.org/officeDocument/2006/relationships" id="273" r:id="R0fc8d8e442234afd"/>
    <p:sldId xmlns:r="http://schemas.openxmlformats.org/officeDocument/2006/relationships" id="274" r:id="R701b54d126044c44"/>
    <p:sldId xmlns:r="http://schemas.openxmlformats.org/officeDocument/2006/relationships" id="275" r:id="R924b620a7c86453b"/>
    <p:sldId xmlns:r="http://schemas.openxmlformats.org/officeDocument/2006/relationships" id="276" r:id="R9634964be0b44f8c"/>
    <p:sldId xmlns:r="http://schemas.openxmlformats.org/officeDocument/2006/relationships" id="277" r:id="Rfbcd55e67e85483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c34f30820aa4696" /><Relationship Type="http://schemas.openxmlformats.org/officeDocument/2006/relationships/slideMaster" Target="/ppt/slideMasters/slideMaster1.xml" Id="R66d4fc33df5147dd" /><Relationship Type="http://schemas.openxmlformats.org/officeDocument/2006/relationships/notesMaster" Target="/ppt/notesMasters/notesMaster1.xml" Id="R03d8f04f4dad4598" /><Relationship Type="http://schemas.openxmlformats.org/officeDocument/2006/relationships/presProps" Target="/ppt/presProps.xml" Id="R6264befab34a427c" /><Relationship Type="http://schemas.openxmlformats.org/officeDocument/2006/relationships/tableStyles" Target="/ppt/tableStyles.xml" Id="R9d1fbab2301e48e8" /><Relationship Type="http://schemas.openxmlformats.org/officeDocument/2006/relationships/slide" Target="/ppt/slides/slide1.xml" Id="Rceb1a74b07c0420c" /><Relationship Type="http://schemas.openxmlformats.org/officeDocument/2006/relationships/slide" Target="/ppt/slides/slide2.xml" Id="R58da8a011f324e55" /><Relationship Type="http://schemas.openxmlformats.org/officeDocument/2006/relationships/slide" Target="/ppt/slides/slide3.xml" Id="R8a235b2bd7f24e67" /><Relationship Type="http://schemas.openxmlformats.org/officeDocument/2006/relationships/slide" Target="/ppt/slides/slide4.xml" Id="Rae3d7dc270ad401f" /><Relationship Type="http://schemas.openxmlformats.org/officeDocument/2006/relationships/slide" Target="/ppt/slides/slide5.xml" Id="Ra0dbb849ed06427e" /><Relationship Type="http://schemas.openxmlformats.org/officeDocument/2006/relationships/slide" Target="/ppt/slides/slide6.xml" Id="R625fbc5eb5334f73" /><Relationship Type="http://schemas.openxmlformats.org/officeDocument/2006/relationships/slide" Target="/ppt/slides/slide7.xml" Id="R1f7647313e864b82" /><Relationship Type="http://schemas.openxmlformats.org/officeDocument/2006/relationships/slide" Target="/ppt/slides/slide8.xml" Id="R757acdbba3974928" /><Relationship Type="http://schemas.openxmlformats.org/officeDocument/2006/relationships/slide" Target="/ppt/slides/slide9.xml" Id="R4bc557d240d943fd" /><Relationship Type="http://schemas.openxmlformats.org/officeDocument/2006/relationships/slide" Target="/ppt/slides/slide10.xml" Id="R87f21f4e2a3141b7" /><Relationship Type="http://schemas.openxmlformats.org/officeDocument/2006/relationships/slide" Target="/ppt/slides/slide11.xml" Id="R5030df3e3e8f4073" /><Relationship Type="http://schemas.openxmlformats.org/officeDocument/2006/relationships/slide" Target="/ppt/slides/slide12.xml" Id="R9d6ef8528701472f" /><Relationship Type="http://schemas.openxmlformats.org/officeDocument/2006/relationships/slide" Target="/ppt/slides/slide13.xml" Id="R0fed4f98f6e648de" /><Relationship Type="http://schemas.openxmlformats.org/officeDocument/2006/relationships/slide" Target="/ppt/slides/slide14.xml" Id="R2bd47d2653224201" /><Relationship Type="http://schemas.openxmlformats.org/officeDocument/2006/relationships/slide" Target="/ppt/slides/slide15.xml" Id="R8d1542d3b8db483e" /><Relationship Type="http://schemas.openxmlformats.org/officeDocument/2006/relationships/slide" Target="/ppt/slides/slide16.xml" Id="R83431be06756493e" /><Relationship Type="http://schemas.openxmlformats.org/officeDocument/2006/relationships/slide" Target="/ppt/slides/slide17.xml" Id="R79a4020ec5114aab" /><Relationship Type="http://schemas.openxmlformats.org/officeDocument/2006/relationships/slide" Target="/ppt/slides/slide18.xml" Id="R0fc8d8e442234afd" /><Relationship Type="http://schemas.openxmlformats.org/officeDocument/2006/relationships/slide" Target="/ppt/slides/slide19.xml" Id="R701b54d126044c44" /><Relationship Type="http://schemas.openxmlformats.org/officeDocument/2006/relationships/slide" Target="/ppt/slides/slide20.xml" Id="R924b620a7c86453b" /><Relationship Type="http://schemas.openxmlformats.org/officeDocument/2006/relationships/slide" Target="/ppt/slides/slide21.xml" Id="R9634964be0b44f8c" /><Relationship Type="http://schemas.openxmlformats.org/officeDocument/2006/relationships/slide" Target="/ppt/slides/slide22.xml" Id="Rfbcd55e67e85483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49c8a3a1e1492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0cedcf43027433e" /><Relationship Type="http://schemas.openxmlformats.org/officeDocument/2006/relationships/notesMaster" Target="/ppt/notesMasters/notesMaster1.xml" Id="R4b20472b1cd34d6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fcdb103ae544979" /><Relationship Type="http://schemas.openxmlformats.org/officeDocument/2006/relationships/notesMaster" Target="/ppt/notesMasters/notesMaster1.xml" Id="R9b39f4b0462d4539" /></Relationships>
</file>

<file path=ppt/notesSlides/_rels/notesSlide3.xml.rels>&#65279;<?xml version="1.0" encoding="utf-8"?><Relationships xmlns="http://schemas.openxmlformats.org/package/2006/relationships"><Relationship Type="http://schemas.openxmlformats.org/officeDocument/2006/relationships/slide" Target="/ppt/slides/slide3.xml" Id="R9d4ec50e42b44e8e" /><Relationship Type="http://schemas.openxmlformats.org/officeDocument/2006/relationships/notesMaster" Target="/ppt/notesMasters/notesMaster1.xml" Id="Rbd966bcabecb439e" /></Relationships>
</file>

<file path=ppt/notesSlides/_rels/notesSlide4.xml.rels>&#65279;<?xml version="1.0" encoding="utf-8"?><Relationships xmlns="http://schemas.openxmlformats.org/package/2006/relationships"><Relationship Type="http://schemas.openxmlformats.org/officeDocument/2006/relationships/slide" Target="/ppt/slides/slide4.xml" Id="R349fdbf0a10244d5" /><Relationship Type="http://schemas.openxmlformats.org/officeDocument/2006/relationships/notesMaster" Target="/ppt/notesMasters/notesMaster1.xml" Id="Rf9780d6f02a2443f" /></Relationships>
</file>

<file path=ppt/notesSlides/_rels/notesSlide5.xml.rels>&#65279;<?xml version="1.0" encoding="utf-8"?><Relationships xmlns="http://schemas.openxmlformats.org/package/2006/relationships"><Relationship Type="http://schemas.openxmlformats.org/officeDocument/2006/relationships/slide" Target="/ppt/slides/slide5.xml" Id="R136ca193f3d64860" /><Relationship Type="http://schemas.openxmlformats.org/officeDocument/2006/relationships/notesMaster" Target="/ppt/notesMasters/notesMaster1.xml" Id="Rcc8edb4e2f6e46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d32ac336ca84d26" /><Relationship Type="http://schemas.openxmlformats.org/officeDocument/2006/relationships/notesMaster" Target="/ppt/notesMasters/notesMaster1.xml" Id="R89fc1758b422480d" /></Relationships>
</file>

<file path=ppt/notesSlides/_rels/notesSlide7.xml.rels>&#65279;<?xml version="1.0" encoding="utf-8"?><Relationships xmlns="http://schemas.openxmlformats.org/package/2006/relationships"><Relationship Type="http://schemas.openxmlformats.org/officeDocument/2006/relationships/slide" Target="/ppt/slides/slide7.xml" Id="R24241aa0129a435d" /><Relationship Type="http://schemas.openxmlformats.org/officeDocument/2006/relationships/notesMaster" Target="/ppt/notesMasters/notesMaster1.xml" Id="R2d68d1d0380443f8" /></Relationships>
</file>

<file path=ppt/notesSlides/_rels/notesSlide8.xml.rels>&#65279;<?xml version="1.0" encoding="utf-8"?><Relationships xmlns="http://schemas.openxmlformats.org/package/2006/relationships"><Relationship Type="http://schemas.openxmlformats.org/officeDocument/2006/relationships/slide" Target="/ppt/slides/slide8.xml" Id="R86f589aa95094645" /><Relationship Type="http://schemas.openxmlformats.org/officeDocument/2006/relationships/notesMaster" Target="/ppt/notesMasters/notesMaster1.xml" Id="R6552ecb66728419c" /></Relationships>
</file>

<file path=ppt/notesSlides/_rels/notesSlide9.xml.rels>&#65279;<?xml version="1.0" encoding="utf-8"?><Relationships xmlns="http://schemas.openxmlformats.org/package/2006/relationships"><Relationship Type="http://schemas.openxmlformats.org/officeDocument/2006/relationships/slide" Target="/ppt/slides/slide9.xml" Id="R30ea0346a28544ee" /><Relationship Type="http://schemas.openxmlformats.org/officeDocument/2006/relationships/notesMaster" Target="/ppt/notesMasters/notesMaster1.xml" Id="R21ff4d05c1e04e2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c688905b7ff4787" /><Relationship Type="http://schemas.openxmlformats.org/officeDocument/2006/relationships/notesMaster" Target="/ppt/notesMasters/notesMaster1.xml" Id="R9b7045d4a41f4bb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f8224a1e7334842" /><Relationship Type="http://schemas.openxmlformats.org/officeDocument/2006/relationships/notesMaster" Target="/ppt/notesMasters/notesMaster1.xml" Id="R3b842472236149c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2ab156c2d6c47b1" /><Relationship Type="http://schemas.openxmlformats.org/officeDocument/2006/relationships/notesMaster" Target="/ppt/notesMasters/notesMaster1.xml" Id="R82e3c7321f6d46e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f4d0b6b370e41bc" /><Relationship Type="http://schemas.openxmlformats.org/officeDocument/2006/relationships/notesMaster" Target="/ppt/notesMasters/notesMaster1.xml" Id="Rb2a1914650344f1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b9ff63c9b114065" /><Relationship Type="http://schemas.openxmlformats.org/officeDocument/2006/relationships/notesMaster" Target="/ppt/notesMasters/notesMaster1.xml" Id="Rd4d32f63d50d44c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fe7d8c6a8054cc7" /><Relationship Type="http://schemas.openxmlformats.org/officeDocument/2006/relationships/notesMaster" Target="/ppt/notesMasters/notesMaster1.xml" Id="Ra1082430bcf6442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2a91340281345bb" /><Relationship Type="http://schemas.openxmlformats.org/officeDocument/2006/relationships/notesMaster" Target="/ppt/notesMasters/notesMaster1.xml" Id="Ra1945c73652a487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1fd4201af864104" /><Relationship Type="http://schemas.openxmlformats.org/officeDocument/2006/relationships/notesMaster" Target="/ppt/notesMasters/notesMaster1.xml" Id="R4d6b676ee55043e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ffbdbb3a3934407" /><Relationship Type="http://schemas.openxmlformats.org/officeDocument/2006/relationships/notesMaster" Target="/ppt/notesMasters/notesMaster1.xml" Id="R707f089ef6fd438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226deeaf1b444d8" /><Relationship Type="http://schemas.openxmlformats.org/officeDocument/2006/relationships/notesMaster" Target="/ppt/notesMasters/notesMaster1.xml" Id="R3ea0be1ba14d477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5c21d25b62547e6" /><Relationship Type="http://schemas.openxmlformats.org/officeDocument/2006/relationships/notesMaster" Target="/ppt/notesMasters/notesMaster1.xml" Id="R066dc37e5c994ae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319522cf57d48b6" /><Relationship Type="http://schemas.openxmlformats.org/officeDocument/2006/relationships/notesMaster" Target="/ppt/notesMasters/notesMaster1.xml" Id="R2e8ee279b5174c8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040378ba2b544fc" /><Relationship Type="http://schemas.openxmlformats.org/officeDocument/2006/relationships/notesMaster" Target="/ppt/notesMasters/notesMaster1.xml" Id="Ra1f1de75d3764e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 Welcome the group. Explain that Session 0 supplies the linear algebra and statistical language needed for the ridge regression paper. Ask who has previously derived ordinary least squares from the objective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min] Use these questions as the map for the lecture. Tell the audience that no hand calculation is required. The aim is to explain each result from the model assumptions.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Introduce n as the number of observations and p as the number of predictors. Ask the audience to identify n and p before showing the model notation. Answer: n = 5 and p =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Read the dimensions aloud. Stress that n counts observations while p counts predictor columns. Keep the car example visible as the concrete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This slide addresses the common dimension confusion. Each predictor column has n entries, so x_j lives in R^n. The Gram matrix compares predictor columns with one another, so it has p rows and p columns. Ask: what is the dimension of X transpose? Answer: p by 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Explain why the intercept does not disappear from the original problem. Centering changes coordinates. It lets the paper focus on coefficient geometry without repeatedly carrying the intercept term.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Distinguish B, a candidate coefficient vector, from beta hat, the minimizing estimator. The norm is taken in observation space because it measures the n residuals.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Derive each line. Ask why the cross terms combine into minus two B transpose X transpose Y. Then set the gradient to zero. Do not skip the rank condition before applying the inverse.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Treat this as a short proof. First establish positive semidefiniteness. Then prove both directions of the equivalence between full column rank and invertibility of the Gram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Hold the design matrix fixed and imagine collecting new responses under new noise. Beta hat changes because epsilon changes. This is the repeated sampling interpretation used in the following expectations and covariances.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State the assumptions conditional on X. Clarify that equal variance and uncorrelated errors are stronger than zero conditional mean. Normality becomes relevant for exact finite sample distributional inference, not for the results derived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Ask the audience to identify the exact step where the zero mean assumption enters. Stress the difference between a property of the estimator over repeated samples and the error in one observed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Use the covariance transformation rule Cov(A epsilon) = A Cov(epsilon) A transpose. Cancel the middle X transpose X carefully. This formula provides the bridge from predictor geometry to unstable estimates.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Explain that each predictor column is an n dimensional vector. After centering and scaling to unit Euclidean length, the inner product equals the sample correlation under this convention. Point out that sample variance scaling differs by the common factor square root of n minus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Connect each entry of X transpose X to a pair of predictor columns. The trace equals the sum of eigenvalues. Under unit length scaling, each diagonal entry is one, so the trace equals 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min] Move into the eigenvector basis. Along eigenvector p_j, the variance is sigma squared divided by lambda_j. Ask what happens as lambda_j approaches zero. Relate this to nearly redundant predictor columns.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Derive the decomposition by adding and subtracting the estimator mean. Explain why the cross term has expectation zero. The trace appears because the squared Euclidean norm sums the coordinate variances.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State the class of competing estimators before stating optimality. The covariance difference is positive semidefinite. Emphasize the opening that matters for ridge: Gauss Markov does not rule out a biased estimator with smaller MSE.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min] Present ridge as a controlled change to the Gram matrix. In each eigendirection, the denominator increases by k. Preview the central question for Session 1: when does the variance reduction outweigh the squared bias? Source: Hoerl and Kennard, 1970.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min] Assign one problem to each pair or small group. Ask for complete logical implications, not numerical examples. After ten minutes, invite two groups to present their proof structure.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 min] These problems combine the session. For the shrinkage estimator, let beta tilde c equal c times beta hat. Guide students to separate variance and squared bias before differentiating with respect to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min] Return to the four questions from the opening. Ask for one sentence answers from the room. Point students to the paper and the Session 0 tutorial. Source: Hoerl, A. E. and Kennard, R. W. (1970), Technometrics 12(1), DOI 10.1080/00401706.1970.10488634.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fac95c87fbb4da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c70ffed8d6a4ef4" /><Relationship Type="http://schemas.openxmlformats.org/officeDocument/2006/relationships/slideLayout" Target="/ppt/slideLayouts/slideLayout1.xml" Id="Rc748471e7c1a4d8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748471e7c1a4d8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fffb9c4436047b3" /><Relationship Type="http://schemas.openxmlformats.org/officeDocument/2006/relationships/notesSlide" Target="/ppt/notesSlides/notesSlide1.xml" Id="R8ae1f1072110478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d9c7d9e169f4d33" /><Relationship Type="http://schemas.openxmlformats.org/officeDocument/2006/relationships/notesSlide" Target="/ppt/notesSlides/notesSlide2.xml" Id="R7ed1c39061874f6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931bcd2ce7e44a0" /><Relationship Type="http://schemas.openxmlformats.org/officeDocument/2006/relationships/notesSlide" Target="/ppt/notesSlides/notesSlide3.xml" Id="Rb49a2c9056b94bc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26a9befa0d04a52" /><Relationship Type="http://schemas.openxmlformats.org/officeDocument/2006/relationships/notesSlide" Target="/ppt/notesSlides/notesSlide4.xml" Id="R38df19465bee45b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146fd8b89d64953" /><Relationship Type="http://schemas.openxmlformats.org/officeDocument/2006/relationships/notesSlide" Target="/ppt/notesSlides/notesSlide5.xml" Id="R1fa75a83e60b475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b10dc4e29fb4df9" /><Relationship Type="http://schemas.openxmlformats.org/officeDocument/2006/relationships/notesSlide" Target="/ppt/notesSlides/notesSlide6.xml" Id="R30d51ecf9d1e4ce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111c423004b4075" /><Relationship Type="http://schemas.openxmlformats.org/officeDocument/2006/relationships/notesSlide" Target="/ppt/notesSlides/notesSlide7.xml" Id="R2b19276e142e4be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ca19f2c49784e5f" /><Relationship Type="http://schemas.openxmlformats.org/officeDocument/2006/relationships/notesSlide" Target="/ppt/notesSlides/notesSlide8.xml" Id="Rdc7b8edf10b44a5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3111060db364303" /><Relationship Type="http://schemas.openxmlformats.org/officeDocument/2006/relationships/notesSlide" Target="/ppt/notesSlides/notesSlide9.xml" Id="R68f3f5186aae476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4e0d0f8d0f947cf" /><Relationship Type="http://schemas.openxmlformats.org/officeDocument/2006/relationships/notesSlide" Target="/ppt/notesSlides/notesSlide10.xml" Id="R8b03e7e6fcaf472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9b2ab943100484e" /><Relationship Type="http://schemas.openxmlformats.org/officeDocument/2006/relationships/notesSlide" Target="/ppt/notesSlides/notesSlide11.xml" Id="R589f8a6452e54cb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22116f596ac4aa1" /><Relationship Type="http://schemas.openxmlformats.org/officeDocument/2006/relationships/notesSlide" Target="/ppt/notesSlides/notesSlide12.xml" Id="R62024e7e2e8941f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3360d921e6a4144" /><Relationship Type="http://schemas.openxmlformats.org/officeDocument/2006/relationships/notesSlide" Target="/ppt/notesSlides/notesSlide13.xml" Id="R4980692a6b6b438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d26e80c36a74c50" /><Relationship Type="http://schemas.openxmlformats.org/officeDocument/2006/relationships/notesSlide" Target="/ppt/notesSlides/notesSlide14.xml" Id="R8c9833412e88478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9ba19cfdd5f429a" /><Relationship Type="http://schemas.openxmlformats.org/officeDocument/2006/relationships/notesSlide" Target="/ppt/notesSlides/notesSlide15.xml" Id="R1882ffef629f440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4f434262a044efd" /><Relationship Type="http://schemas.openxmlformats.org/officeDocument/2006/relationships/notesSlide" Target="/ppt/notesSlides/notesSlide16.xml" Id="Rfdafe06807c9409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045fc9529b54c42" /><Relationship Type="http://schemas.openxmlformats.org/officeDocument/2006/relationships/notesSlide" Target="/ppt/notesSlides/notesSlide17.xml" Id="R5f471918455e4bb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be9c87274a34871" /><Relationship Type="http://schemas.openxmlformats.org/officeDocument/2006/relationships/notesSlide" Target="/ppt/notesSlides/notesSlide18.xml" Id="R10c04921305c49a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2f66068619d43e0" /><Relationship Type="http://schemas.openxmlformats.org/officeDocument/2006/relationships/notesSlide" Target="/ppt/notesSlides/notesSlide19.xml" Id="R112c8cb110cb492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377c7bb39134c4f" /><Relationship Type="http://schemas.openxmlformats.org/officeDocument/2006/relationships/notesSlide" Target="/ppt/notesSlides/notesSlide20.xml" Id="Rc647ae55048b4a4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1f88e8fc7ec4cf4" /><Relationship Type="http://schemas.openxmlformats.org/officeDocument/2006/relationships/notesSlide" Target="/ppt/notesSlides/notesSlide21.xml" Id="R6e60b98e479a439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1211b0a07fa4665" /><Relationship Type="http://schemas.openxmlformats.org/officeDocument/2006/relationships/hyperlink" Target="https://doi.org/10.1080/00401706.1970.10488634" TargetMode="External" Id="Rcc99c93cc7204b83" /><Relationship Type="http://schemas.openxmlformats.org/officeDocument/2006/relationships/notesSlide" Target="/ppt/notesSlides/notesSlide22.xml" Id="Rdd7cd5c414b94497" /></Relationships>
</file>

<file path=ppt/slides/slide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E9260F5-F877-42ED-9959-5146D9FDAC0D}"/>
              </a:ext>
            </a:extLst>
          </p:cNvPr>
          <p:cNvSpPr>
            <a:spLocks xmlns:a="http://schemas.openxmlformats.org/drawingml/2006/main" noGrp="1"/>
          </p:cNvSpPr>
          <p:nvPr/>
        </p:nvSpPr>
        <p:spPr>
          <a:xfrm xmlns:a="http://schemas.openxmlformats.org/drawingml/2006/main" rot="0">
            <a:off x="685800" y="609600"/>
            <a:ext cx="762000" cy="66675"/>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A62E31-8207-4840-B963-23DFE4AABEA7}"/>
              </a:ext>
            </a:extLst>
          </p:cNvPr>
          <p:cNvSpPr>
            <a:spLocks xmlns:a="http://schemas.openxmlformats.org/drawingml/2006/main" noGrp="1"/>
          </p:cNvSpPr>
          <p:nvPr/>
        </p:nvSpPr>
        <p:spPr>
          <a:xfrm xmlns:a="http://schemas.openxmlformats.org/drawingml/2006/main" rot="0">
            <a:off x="685800" y="819150"/>
            <a:ext cx="342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200" b="1" i="0">
                <a:solidFill>
                  <a:srgbClr val="A8710A"/>
                </a:solidFill>
                <a:latin typeface="Arial"/>
                <a:ea typeface="Arial"/>
                <a:cs typeface="Arial"/>
              </a:defRPr>
            </a:pPr>
            <a:r>
              <a:rPr sz="1200" b="1" i="0">
                <a:solidFill>
                  <a:srgbClr val="A8710A"/>
                </a:solidFill>
                <a:latin typeface="Arial"/>
                <a:ea typeface="Arial"/>
                <a:cs typeface="Arial"/>
              </a:rPr>
              <a:t>READINGLAB  SESSION 0</a:t>
            </a:r>
          </a:p>
        </p:txBody>
      </p:sp>
      <p:sp>
        <p:nvSpPr>
          <p:cNvPr id="3" name="">
            <a:extLst xmlns:a="http://schemas.openxmlformats.org/drawingml/2006/main">
              <a:ext uri="{FF2B5EF4-FFF2-40B4-BE49-F238E27FC236}">
                <a16:creationId xmlns:a16="http://schemas.microsoft.com/office/drawing/2014/main" id="{26AA5735-1DC6-4540-9D83-6FF4F4FE2D5C}"/>
              </a:ext>
            </a:extLst>
          </p:cNvPr>
          <p:cNvSpPr>
            <a:spLocks xmlns:a="http://schemas.openxmlformats.org/drawingml/2006/main" noGrp="1"/>
          </p:cNvSpPr>
          <p:nvPr/>
        </p:nvSpPr>
        <p:spPr>
          <a:xfrm xmlns:a="http://schemas.openxmlformats.org/drawingml/2006/main" rot="0">
            <a:off x="685800" y="1524000"/>
            <a:ext cx="7524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4000"/>
              </a:lnSpc>
              <a:buNone/>
              <a:defRPr sz="4950" b="1" i="0">
                <a:solidFill>
                  <a:srgbClr val="252A31"/>
                </a:solidFill>
                <a:latin typeface="Georgia"/>
                <a:ea typeface="Georgia"/>
                <a:cs typeface="Georgia"/>
              </a:defRPr>
            </a:pPr>
            <a:r>
              <a:rPr sz="4950" b="1" i="0">
                <a:solidFill>
                  <a:srgbClr val="252A31"/>
                </a:solidFill>
                <a:latin typeface="Georgia"/>
                <a:ea typeface="Georgia"/>
                <a:cs typeface="Georgia"/>
              </a:rPr>
              <a:t>Least Squares</a:t>
            </a:r>
          </a:p>
          <a:p xmlns:a="http://schemas.openxmlformats.org/drawingml/2006/main">
            <a:pPr algn="l">
              <a:lnSpc>
                <a:spcPct val="94000"/>
              </a:lnSpc>
              <a:buNone/>
              <a:defRPr sz="4950" b="1" i="0">
                <a:solidFill>
                  <a:srgbClr val="252A31"/>
                </a:solidFill>
                <a:latin typeface="Georgia"/>
                <a:ea typeface="Georgia"/>
                <a:cs typeface="Georgia"/>
              </a:defRPr>
            </a:pPr>
            <a:r>
              <a:rPr sz="4950" b="1" i="0">
                <a:solidFill>
                  <a:srgbClr val="252A31"/>
                </a:solidFill>
                <a:latin typeface="Georgia"/>
                <a:ea typeface="Georgia"/>
                <a:cs typeface="Georgia"/>
              </a:rPr>
              <a:t>Foundations</a:t>
            </a:r>
          </a:p>
        </p:txBody>
      </p:sp>
      <p:sp>
        <p:nvSpPr>
          <p:cNvPr id="4" name="">
            <a:extLst xmlns:a="http://schemas.openxmlformats.org/drawingml/2006/main">
              <a:ext uri="{FF2B5EF4-FFF2-40B4-BE49-F238E27FC236}">
                <a16:creationId xmlns:a16="http://schemas.microsoft.com/office/drawing/2014/main" id="{BBFC4C6C-3D62-4146-985D-3578FD91A6FB}"/>
              </a:ext>
            </a:extLst>
          </p:cNvPr>
          <p:cNvSpPr>
            <a:spLocks xmlns:a="http://schemas.openxmlformats.org/drawingml/2006/main" noGrp="1"/>
          </p:cNvSpPr>
          <p:nvPr/>
        </p:nvSpPr>
        <p:spPr>
          <a:xfrm xmlns:a="http://schemas.openxmlformats.org/drawingml/2006/main" rot="0">
            <a:off x="723900" y="3981450"/>
            <a:ext cx="609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0" i="0">
                <a:solidFill>
                  <a:srgbClr val="68717D"/>
                </a:solidFill>
                <a:latin typeface="Arial"/>
                <a:ea typeface="Arial"/>
                <a:cs typeface="Arial"/>
              </a:defRPr>
            </a:pPr>
            <a:r>
              <a:rPr sz="2100" b="0" i="0">
                <a:solidFill>
                  <a:srgbClr val="68717D"/>
                </a:solidFill>
                <a:latin typeface="Arial"/>
                <a:ea typeface="Arial"/>
                <a:cs typeface="Arial"/>
              </a:rPr>
              <a:t>Preparation for ridge regression</a:t>
            </a:r>
          </a:p>
        </p:txBody>
      </p:sp>
      <p:sp>
        <p:nvSpPr>
          <p:cNvPr id="5" name="">
            <a:extLst xmlns:a="http://schemas.openxmlformats.org/drawingml/2006/main">
              <a:ext uri="{FF2B5EF4-FFF2-40B4-BE49-F238E27FC236}">
                <a16:creationId xmlns:a16="http://schemas.microsoft.com/office/drawing/2014/main" id="{7AEA2947-7FDE-4080-A356-6332D82F4627}"/>
              </a:ext>
            </a:extLst>
          </p:cNvPr>
          <p:cNvSpPr>
            <a:spLocks xmlns:a="http://schemas.openxmlformats.org/drawingml/2006/main" noGrp="1"/>
          </p:cNvSpPr>
          <p:nvPr/>
        </p:nvSpPr>
        <p:spPr>
          <a:xfrm xmlns:a="http://schemas.openxmlformats.org/drawingml/2006/main" rot="0">
            <a:off x="8858250" y="971550"/>
            <a:ext cx="25717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5000"/>
              </a:lnSpc>
              <a:buNone/>
              <a:defRPr sz="19500" b="1" i="0">
                <a:solidFill>
                  <a:srgbClr val="EFE4C9"/>
                </a:solidFill>
                <a:latin typeface="Georgia"/>
                <a:ea typeface="Georgia"/>
                <a:cs typeface="Georgia"/>
              </a:defRPr>
            </a:pPr>
            <a:r>
              <a:rPr sz="19500" b="1" i="0">
                <a:solidFill>
                  <a:srgbClr val="EFE4C9"/>
                </a:solidFill>
                <a:latin typeface="Georgia"/>
                <a:ea typeface="Georgia"/>
                <a:cs typeface="Georgia"/>
              </a:rPr>
              <a:t>0</a:t>
            </a:r>
          </a:p>
        </p:txBody>
      </p:sp>
      <p:sp>
        <p:nvSpPr>
          <p:cNvPr id="6" name="">
            <a:extLst xmlns:a="http://schemas.openxmlformats.org/drawingml/2006/main">
              <a:ext uri="{FF2B5EF4-FFF2-40B4-BE49-F238E27FC236}">
                <a16:creationId xmlns:a16="http://schemas.microsoft.com/office/drawing/2014/main" id="{75604961-02AC-4A4B-A4FA-F232D9F2C993}"/>
              </a:ext>
            </a:extLst>
          </p:cNvPr>
          <p:cNvSpPr>
            <a:spLocks xmlns:a="http://schemas.openxmlformats.org/drawingml/2006/main" noGrp="1"/>
          </p:cNvSpPr>
          <p:nvPr/>
        </p:nvSpPr>
        <p:spPr>
          <a:xfrm xmlns:a="http://schemas.openxmlformats.org/drawingml/2006/main" rot="0">
            <a:off x="723900" y="5848350"/>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575" b="0" i="0">
                <a:solidFill>
                  <a:srgbClr val="252A31"/>
                </a:solidFill>
                <a:latin typeface="Arial"/>
                <a:ea typeface="Arial"/>
                <a:cs typeface="Arial"/>
              </a:defRPr>
            </a:pPr>
            <a:r>
              <a:rPr sz="1575" b="0" i="0">
                <a:solidFill>
                  <a:srgbClr val="252A31"/>
                </a:solidFill>
                <a:latin typeface="Arial"/>
                <a:ea typeface="Arial"/>
                <a:cs typeface="Arial"/>
              </a:rPr>
              <a:t>Nurdaulet Akhanov</a:t>
            </a:r>
          </a:p>
        </p:txBody>
      </p:sp>
      <p:sp>
        <p:nvSpPr>
          <p:cNvPr id="7" name="">
            <a:extLst xmlns:a="http://schemas.openxmlformats.org/drawingml/2006/main">
              <a:ext uri="{FF2B5EF4-FFF2-40B4-BE49-F238E27FC236}">
                <a16:creationId xmlns:a16="http://schemas.microsoft.com/office/drawing/2014/main" id="{02ACE63A-7437-4642-B68A-4BAADA8415F9}"/>
              </a:ext>
            </a:extLst>
          </p:cNvPr>
          <p:cNvSpPr>
            <a:spLocks xmlns:a="http://schemas.openxmlformats.org/drawingml/2006/main" noGrp="1"/>
          </p:cNvSpPr>
          <p:nvPr/>
        </p:nvSpPr>
        <p:spPr>
          <a:xfrm xmlns:a="http://schemas.openxmlformats.org/drawingml/2006/main" rot="0">
            <a:off x="8572500" y="58483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575" b="0" i="0">
                <a:solidFill>
                  <a:srgbClr val="68717D"/>
                </a:solidFill>
                <a:latin typeface="Arial"/>
                <a:ea typeface="Arial"/>
                <a:cs typeface="Arial"/>
              </a:defRPr>
            </a:pPr>
            <a:r>
              <a:rPr sz="1575" b="0" i="0">
                <a:solidFill>
                  <a:srgbClr val="68717D"/>
                </a:solidFill>
                <a:latin typeface="Arial"/>
                <a:ea typeface="Arial"/>
                <a:cs typeface="Arial"/>
              </a:rPr>
              <a:t>4 September 2026</a:t>
            </a:r>
          </a:p>
        </p:txBody>
      </p:sp>
    </p:spTree>
    <p:extLst>
      <p:ext uri="{BB962C8B-B14F-4D97-AF65-F5344CB8AC3E}">
        <p14:creationId xmlns:p14="http://schemas.microsoft.com/office/powerpoint/2010/main" val="1225594042"/>
      </p:ext>
    </p:extLst>
  </p:cSld>
</p:sld>
</file>

<file path=ppt/slides/slide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70DFEEE-0324-40D7-B571-2A890B122B19}"/>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Questions for today</a:t>
            </a:r>
          </a:p>
        </p:txBody>
      </p:sp>
      <p:sp>
        <p:nvSpPr>
          <p:cNvPr id="2" name="">
            <a:extLst xmlns:a="http://schemas.openxmlformats.org/drawingml/2006/main">
              <a:ext uri="{FF2B5EF4-FFF2-40B4-BE49-F238E27FC236}">
                <a16:creationId xmlns:a16="http://schemas.microsoft.com/office/drawing/2014/main" id="{089FB8E3-08A1-4C4A-B3BD-C55C99F2E69F}"/>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a:t>
            </a:r>
          </a:p>
        </p:txBody>
      </p:sp>
      <p:sp>
        <p:nvSpPr>
          <p:cNvPr id="3" name="">
            <a:extLst xmlns:a="http://schemas.openxmlformats.org/drawingml/2006/main">
              <a:ext uri="{FF2B5EF4-FFF2-40B4-BE49-F238E27FC236}">
                <a16:creationId xmlns:a16="http://schemas.microsoft.com/office/drawing/2014/main" id="{8AA8378B-2098-4688-A5BA-15CC42697616}"/>
              </a:ext>
            </a:extLst>
          </p:cNvPr>
          <p:cNvSpPr>
            <a:spLocks xmlns:a="http://schemas.openxmlformats.org/drawingml/2006/main" noGrp="1"/>
          </p:cNvSpPr>
          <p:nvPr/>
        </p:nvSpPr>
        <p:spPr>
          <a:xfrm xmlns:a="http://schemas.openxmlformats.org/drawingml/2006/main" rot="0">
            <a:off x="685800" y="1695450"/>
            <a:ext cx="523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600" b="1" i="0">
                <a:solidFill>
                  <a:srgbClr val="A8710A"/>
                </a:solidFill>
                <a:latin typeface="Georgia"/>
                <a:ea typeface="Georgia"/>
                <a:cs typeface="Georgia"/>
              </a:defRPr>
            </a:pPr>
            <a:r>
              <a:rPr sz="3600" b="1" i="0">
                <a:solidFill>
                  <a:srgbClr val="A8710A"/>
                </a:solidFill>
                <a:latin typeface="Georgia"/>
                <a:ea typeface="Georgia"/>
                <a:cs typeface="Georgia"/>
              </a:rPr>
              <a:t>1</a:t>
            </a:r>
          </a:p>
        </p:txBody>
      </p:sp>
      <p:sp>
        <p:nvSpPr>
          <p:cNvPr id="4" name="">
            <a:extLst xmlns:a="http://schemas.openxmlformats.org/drawingml/2006/main">
              <a:ext uri="{FF2B5EF4-FFF2-40B4-BE49-F238E27FC236}">
                <a16:creationId xmlns:a16="http://schemas.microsoft.com/office/drawing/2014/main" id="{E3D57745-5400-4721-A85F-6BC7B774CA7D}"/>
              </a:ext>
            </a:extLst>
          </p:cNvPr>
          <p:cNvSpPr>
            <a:spLocks xmlns:a="http://schemas.openxmlformats.org/drawingml/2006/main" noGrp="1"/>
          </p:cNvSpPr>
          <p:nvPr/>
        </p:nvSpPr>
        <p:spPr>
          <a:xfrm xmlns:a="http://schemas.openxmlformats.org/drawingml/2006/main" rot="0">
            <a:off x="1352550" y="1704975"/>
            <a:ext cx="4191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When does the least squares solution exist uniquely?</a:t>
            </a:r>
          </a:p>
        </p:txBody>
      </p:sp>
      <p:sp>
        <p:nvSpPr>
          <p:cNvPr id="5" name="">
            <a:extLst xmlns:a="http://schemas.openxmlformats.org/drawingml/2006/main">
              <a:ext uri="{FF2B5EF4-FFF2-40B4-BE49-F238E27FC236}">
                <a16:creationId xmlns:a16="http://schemas.microsoft.com/office/drawing/2014/main" id="{EE53AAAF-9E47-4488-9EB9-89C64D4EB062}"/>
              </a:ext>
            </a:extLst>
          </p:cNvPr>
          <p:cNvSpPr>
            <a:spLocks xmlns:a="http://schemas.openxmlformats.org/drawingml/2006/main" noGrp="1"/>
          </p:cNvSpPr>
          <p:nvPr/>
        </p:nvSpPr>
        <p:spPr>
          <a:xfrm xmlns:a="http://schemas.openxmlformats.org/drawingml/2006/main" rot="0">
            <a:off x="685800" y="2990850"/>
            <a:ext cx="523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600" b="1" i="0">
                <a:solidFill>
                  <a:srgbClr val="A8710A"/>
                </a:solidFill>
                <a:latin typeface="Georgia"/>
                <a:ea typeface="Georgia"/>
                <a:cs typeface="Georgia"/>
              </a:defRPr>
            </a:pPr>
            <a:r>
              <a:rPr sz="3600" b="1" i="0">
                <a:solidFill>
                  <a:srgbClr val="A8710A"/>
                </a:solidFill>
                <a:latin typeface="Georgia"/>
                <a:ea typeface="Georgia"/>
                <a:cs typeface="Georgia"/>
              </a:rPr>
              <a:t>2</a:t>
            </a:r>
          </a:p>
        </p:txBody>
      </p:sp>
      <p:sp>
        <p:nvSpPr>
          <p:cNvPr id="6" name="">
            <a:extLst xmlns:a="http://schemas.openxmlformats.org/drawingml/2006/main">
              <a:ext uri="{FF2B5EF4-FFF2-40B4-BE49-F238E27FC236}">
                <a16:creationId xmlns:a16="http://schemas.microsoft.com/office/drawing/2014/main" id="{882330B4-9995-41CD-9150-1FB66599F0EB}"/>
              </a:ext>
            </a:extLst>
          </p:cNvPr>
          <p:cNvSpPr>
            <a:spLocks xmlns:a="http://schemas.openxmlformats.org/drawingml/2006/main" noGrp="1"/>
          </p:cNvSpPr>
          <p:nvPr/>
        </p:nvSpPr>
        <p:spPr>
          <a:xfrm xmlns:a="http://schemas.openxmlformats.org/drawingml/2006/main" rot="0">
            <a:off x="1352550" y="3000375"/>
            <a:ext cx="4191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Why can correlated predictors make coefficients unstable?</a:t>
            </a:r>
          </a:p>
        </p:txBody>
      </p:sp>
      <p:sp>
        <p:nvSpPr>
          <p:cNvPr id="7" name="">
            <a:extLst xmlns:a="http://schemas.openxmlformats.org/drawingml/2006/main">
              <a:ext uri="{FF2B5EF4-FFF2-40B4-BE49-F238E27FC236}">
                <a16:creationId xmlns:a16="http://schemas.microsoft.com/office/drawing/2014/main" id="{BEE1CB86-66DD-44EF-8B74-A46101F06403}"/>
              </a:ext>
            </a:extLst>
          </p:cNvPr>
          <p:cNvSpPr>
            <a:spLocks xmlns:a="http://schemas.openxmlformats.org/drawingml/2006/main" noGrp="1"/>
          </p:cNvSpPr>
          <p:nvPr/>
        </p:nvSpPr>
        <p:spPr>
          <a:xfrm xmlns:a="http://schemas.openxmlformats.org/drawingml/2006/main" rot="0">
            <a:off x="6076950" y="1657350"/>
            <a:ext cx="19050" cy="37147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C9B3B90-031B-4606-820F-342BCF6CAA85}"/>
              </a:ext>
            </a:extLst>
          </p:cNvPr>
          <p:cNvSpPr>
            <a:spLocks xmlns:a="http://schemas.openxmlformats.org/drawingml/2006/main" noGrp="1"/>
          </p:cNvSpPr>
          <p:nvPr/>
        </p:nvSpPr>
        <p:spPr>
          <a:xfrm xmlns:a="http://schemas.openxmlformats.org/drawingml/2006/main" rot="0">
            <a:off x="6572250" y="1695450"/>
            <a:ext cx="523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600" b="1" i="0">
                <a:solidFill>
                  <a:srgbClr val="2C6A6C"/>
                </a:solidFill>
                <a:latin typeface="Georgia"/>
                <a:ea typeface="Georgia"/>
                <a:cs typeface="Georgia"/>
              </a:defRPr>
            </a:pPr>
            <a:r>
              <a:rPr sz="3600" b="1" i="0">
                <a:solidFill>
                  <a:srgbClr val="2C6A6C"/>
                </a:solidFill>
                <a:latin typeface="Georgia"/>
                <a:ea typeface="Georgia"/>
                <a:cs typeface="Georgia"/>
              </a:rPr>
              <a:t>3</a:t>
            </a:r>
          </a:p>
        </p:txBody>
      </p:sp>
      <p:sp>
        <p:nvSpPr>
          <p:cNvPr id="9" name="">
            <a:extLst xmlns:a="http://schemas.openxmlformats.org/drawingml/2006/main">
              <a:ext uri="{FF2B5EF4-FFF2-40B4-BE49-F238E27FC236}">
                <a16:creationId xmlns:a16="http://schemas.microsoft.com/office/drawing/2014/main" id="{66A32F58-0F3D-4231-BD31-E932868AFE31}"/>
              </a:ext>
            </a:extLst>
          </p:cNvPr>
          <p:cNvSpPr>
            <a:spLocks xmlns:a="http://schemas.openxmlformats.org/drawingml/2006/main" noGrp="1"/>
          </p:cNvSpPr>
          <p:nvPr/>
        </p:nvSpPr>
        <p:spPr>
          <a:xfrm xmlns:a="http://schemas.openxmlformats.org/drawingml/2006/main" rot="0">
            <a:off x="7239000" y="1704975"/>
            <a:ext cx="4095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What exactly does Gauss–Markov guarantee?</a:t>
            </a:r>
          </a:p>
        </p:txBody>
      </p:sp>
      <p:sp>
        <p:nvSpPr>
          <p:cNvPr id="10" name="">
            <a:extLst xmlns:a="http://schemas.openxmlformats.org/drawingml/2006/main">
              <a:ext uri="{FF2B5EF4-FFF2-40B4-BE49-F238E27FC236}">
                <a16:creationId xmlns:a16="http://schemas.microsoft.com/office/drawing/2014/main" id="{B2C116FA-602B-4BF9-BC18-8E8232359E0C}"/>
              </a:ext>
            </a:extLst>
          </p:cNvPr>
          <p:cNvSpPr>
            <a:spLocks xmlns:a="http://schemas.openxmlformats.org/drawingml/2006/main" noGrp="1"/>
          </p:cNvSpPr>
          <p:nvPr/>
        </p:nvSpPr>
        <p:spPr>
          <a:xfrm xmlns:a="http://schemas.openxmlformats.org/drawingml/2006/main" rot="0">
            <a:off x="6572250" y="2990850"/>
            <a:ext cx="523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600" b="1" i="0">
                <a:solidFill>
                  <a:srgbClr val="2C6A6C"/>
                </a:solidFill>
                <a:latin typeface="Georgia"/>
                <a:ea typeface="Georgia"/>
                <a:cs typeface="Georgia"/>
              </a:defRPr>
            </a:pPr>
            <a:r>
              <a:rPr sz="3600" b="1" i="0">
                <a:solidFill>
                  <a:srgbClr val="2C6A6C"/>
                </a:solidFill>
                <a:latin typeface="Georgia"/>
                <a:ea typeface="Georgia"/>
                <a:cs typeface="Georgia"/>
              </a:rPr>
              <a:t>4</a:t>
            </a:r>
          </a:p>
        </p:txBody>
      </p:sp>
      <p:sp>
        <p:nvSpPr>
          <p:cNvPr id="11" name="">
            <a:extLst xmlns:a="http://schemas.openxmlformats.org/drawingml/2006/main">
              <a:ext uri="{FF2B5EF4-FFF2-40B4-BE49-F238E27FC236}">
                <a16:creationId xmlns:a16="http://schemas.microsoft.com/office/drawing/2014/main" id="{7DF6ADD4-C724-4A8B-8F2F-0DD643360AF6}"/>
              </a:ext>
            </a:extLst>
          </p:cNvPr>
          <p:cNvSpPr>
            <a:spLocks xmlns:a="http://schemas.openxmlformats.org/drawingml/2006/main" noGrp="1"/>
          </p:cNvSpPr>
          <p:nvPr/>
        </p:nvSpPr>
        <p:spPr>
          <a:xfrm xmlns:a="http://schemas.openxmlformats.org/drawingml/2006/main" rot="0">
            <a:off x="7239000" y="3000375"/>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How can a little bias reduce total estimation error?</a:t>
            </a:r>
          </a:p>
        </p:txBody>
      </p:sp>
      <p:sp>
        <p:nvSpPr>
          <p:cNvPr id="12" name="">
            <a:extLst xmlns:a="http://schemas.openxmlformats.org/drawingml/2006/main">
              <a:ext uri="{FF2B5EF4-FFF2-40B4-BE49-F238E27FC236}">
                <a16:creationId xmlns:a16="http://schemas.microsoft.com/office/drawing/2014/main" id="{749ACE2C-EF02-4206-974E-AF301AC7A2AF}"/>
              </a:ext>
            </a:extLst>
          </p:cNvPr>
          <p:cNvSpPr>
            <a:spLocks xmlns:a="http://schemas.openxmlformats.org/drawingml/2006/main" noGrp="1"/>
          </p:cNvSpPr>
          <p:nvPr/>
        </p:nvSpPr>
        <p:spPr>
          <a:xfrm xmlns:a="http://schemas.openxmlformats.org/drawingml/2006/main" rot="0">
            <a:off x="685800" y="55626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725" b="0" i="1">
                <a:solidFill>
                  <a:srgbClr val="68717D"/>
                </a:solidFill>
                <a:latin typeface="Arial"/>
                <a:ea typeface="Arial"/>
                <a:cs typeface="Arial"/>
              </a:defRPr>
            </a:pPr>
            <a:r>
              <a:rPr sz="1725" b="0" i="1">
                <a:solidFill>
                  <a:srgbClr val="68717D"/>
                </a:solidFill>
                <a:latin typeface="Arial"/>
                <a:ea typeface="Arial"/>
                <a:cs typeface="Arial"/>
              </a:rPr>
              <a:t>Every exercise today asks for a proof or derivation.</a:t>
            </a:r>
          </a:p>
        </p:txBody>
      </p:sp>
    </p:spTree>
    <p:extLst>
      <p:ext uri="{BB962C8B-B14F-4D97-AF65-F5344CB8AC3E}">
        <p14:creationId xmlns:p14="http://schemas.microsoft.com/office/powerpoint/2010/main" val="911322587"/>
      </p:ext>
    </p:extLst>
  </p:cSld>
</p:sld>
</file>

<file path=ppt/slides/slide3.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52B426F-061E-4054-B845-5258DDE1DA0C}"/>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Five observations and two predictors</a:t>
            </a:r>
          </a:p>
        </p:txBody>
      </p:sp>
      <p:sp>
        <p:nvSpPr>
          <p:cNvPr id="2" name="">
            <a:extLst xmlns:a="http://schemas.openxmlformats.org/drawingml/2006/main">
              <a:ext uri="{FF2B5EF4-FFF2-40B4-BE49-F238E27FC236}">
                <a16:creationId xmlns:a16="http://schemas.microsoft.com/office/drawing/2014/main" id="{2C8CD218-8FBA-475E-A5B8-93719085D15A}"/>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3</a:t>
            </a:r>
          </a:p>
        </p:txBody>
      </p:sp>
      <p:graphicFrame>
        <p:nvGraphicFramePr>
          <p:cNvPr id="7" name=""/>
          <p:cNvGraphicFramePr/>
          <p:nvPr/>
        </p:nvGraphicFramePr>
        <p:xfrm>
          <a:off xmlns:a="http://schemas.openxmlformats.org/drawingml/2006/main" x="876300" y="1695450"/>
          <a:ext xmlns:a="http://schemas.openxmlformats.org/drawingml/2006/main" cx="10439400" cy="3333750"/>
        </p:xfrm>
        <a:graphic xmlns:a="http://schemas.openxmlformats.org/drawingml/2006/main">
          <a:graphicData uri="http://schemas.openxmlformats.org/drawingml/2006/table">
            <a:tbl>
              <a:tblPr/>
              <a:tblGrid>
                <a:gridCol w="1588604"/>
                <a:gridCol w="2723322"/>
                <a:gridCol w="2723322"/>
                <a:gridCol w="3404152"/>
              </a:tblGrid>
              <a:tr h="552450">
                <a:tc>
                  <a:txBody>
                    <a:bodyPr/>
                    <a:lstStyle/>
                    <a:p>
                      <a:pPr algn="ctr"/>
                      <a:r>
                        <a:rPr sz="1650" b="1">
                          <a:solidFill>
                            <a:srgbClr val="252A31"/>
                          </a:solidFill>
                          <a:latin typeface="Arial"/>
                          <a:ea typeface="Arial"/>
                          <a:cs typeface="Arial"/>
                        </a:rPr>
                        <a:t>Car</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Weight (t)</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Horsepower</a:t>
                      </a:r>
                    </a:p>
                  </a:txBody>
                  <a:tcPr marL="91440" marR="91440" marT="45720" marB="45720" anchor="ctr">
                    <a:solidFill>
                      <a:srgbClr val="EFE4C9"/>
                    </a:solidFill>
                  </a:tcPr>
                </a:tc>
                <a:tc>
                  <a:txBody>
                    <a:bodyPr/>
                    <a:lstStyle/>
                    <a:p>
                      <a:pPr algn="r"/>
                      <a:r>
                        <a:rPr sz="1650" b="1">
                          <a:solidFill>
                            <a:srgbClr val="252A31"/>
                          </a:solidFill>
                          <a:latin typeface="Arial"/>
                          <a:ea typeface="Arial"/>
                          <a:cs typeface="Arial"/>
                        </a:rPr>
                        <a:t>Fuel (L/100 km)</a:t>
                      </a:r>
                    </a:p>
                  </a:txBody>
                  <a:tcPr marL="91440" marR="91440" marT="45720" marB="45720" anchor="ctr">
                    <a:solidFill>
                      <a:srgbClr val="EFE4C9"/>
                    </a:solidFill>
                  </a:tcPr>
                </a:tc>
              </a:tr>
              <a:tr h="533400">
                <a:tc>
                  <a:txBody>
                    <a:bodyPr/>
                    <a:lstStyle/>
                    <a:p>
                      <a:pPr algn="ctr"/>
                      <a:r>
                        <a:rPr sz="1575" b="0">
                          <a:solidFill>
                            <a:srgbClr val="252A31"/>
                          </a:solidFill>
                          <a:latin typeface="Arial"/>
                          <a:ea typeface="Arial"/>
                          <a:cs typeface="Arial"/>
                        </a:rPr>
                        <a:t>1</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1.2</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95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6.4</a:t>
                      </a:r>
                    </a:p>
                  </a:txBody>
                  <a:tcPr marL="91440" marR="91440" marT="45720" marB="45720" anchor="ctr">
                    <a:solidFill>
                      <a:srgbClr val="F7F7F5"/>
                    </a:solidFill>
                  </a:tcPr>
                </a:tc>
              </a:tr>
              <a:tr h="533400">
                <a:tc>
                  <a:txBody>
                    <a:bodyPr/>
                    <a:lstStyle/>
                    <a:p>
                      <a:pPr algn="ctr"/>
                      <a:r>
                        <a:rPr sz="1575" b="0">
                          <a:solidFill>
                            <a:srgbClr val="252A31"/>
                          </a:solidFill>
                          <a:latin typeface="Arial"/>
                          <a:ea typeface="Arial"/>
                          <a:cs typeface="Arial"/>
                        </a:rPr>
                        <a:t>2</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1.4</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100</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7.1</a:t>
                      </a:r>
                    </a:p>
                  </a:txBody>
                  <a:tcPr marL="91440" marR="91440" marT="45720" marB="45720" anchor="ctr">
                    <a:solidFill>
                      <a:srgbClr val="FFFDF8"/>
                    </a:solidFill>
                  </a:tcPr>
                </a:tc>
              </a:tr>
              <a:tr h="533400">
                <a:tc>
                  <a:txBody>
                    <a:bodyPr/>
                    <a:lstStyle/>
                    <a:p>
                      <a:pPr algn="ctr"/>
                      <a:r>
                        <a:rPr sz="1575" b="0">
                          <a:solidFill>
                            <a:srgbClr val="252A31"/>
                          </a:solidFill>
                          <a:latin typeface="Arial"/>
                          <a:ea typeface="Arial"/>
                          <a:cs typeface="Arial"/>
                        </a:rPr>
                        <a:t>3</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1.0</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90</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5.8</a:t>
                      </a:r>
                    </a:p>
                  </a:txBody>
                  <a:tcPr marL="91440" marR="91440" marT="45720" marB="45720" anchor="ctr">
                    <a:solidFill>
                      <a:srgbClr val="F7F7F5"/>
                    </a:solidFill>
                  </a:tcPr>
                </a:tc>
              </a:tr>
              <a:tr h="533400">
                <a:tc>
                  <a:txBody>
                    <a:bodyPr/>
                    <a:lstStyle/>
                    <a:p>
                      <a:pPr algn="ctr"/>
                      <a:r>
                        <a:rPr sz="1575" b="0">
                          <a:solidFill>
                            <a:srgbClr val="252A31"/>
                          </a:solidFill>
                          <a:latin typeface="Arial"/>
                          <a:ea typeface="Arial"/>
                          <a:cs typeface="Arial"/>
                        </a:rPr>
                        <a:t>4</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1.8</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150</a:t>
                      </a:r>
                    </a:p>
                  </a:txBody>
                  <a:tcPr marL="91440" marR="91440" marT="45720" marB="45720" anchor="ctr">
                    <a:solidFill>
                      <a:srgbClr val="FFFDF8"/>
                    </a:solidFill>
                  </a:tcPr>
                </a:tc>
                <a:tc>
                  <a:txBody>
                    <a:bodyPr/>
                    <a:lstStyle/>
                    <a:p>
                      <a:pPr algn="r"/>
                      <a:r>
                        <a:rPr sz="1575" b="0">
                          <a:solidFill>
                            <a:srgbClr val="252A31"/>
                          </a:solidFill>
                          <a:latin typeface="Arial"/>
                          <a:ea typeface="Arial"/>
                          <a:cs typeface="Arial"/>
                        </a:rPr>
                        <a:t>9.6</a:t>
                      </a:r>
                    </a:p>
                  </a:txBody>
                  <a:tcPr marL="91440" marR="91440" marT="45720" marB="45720" anchor="ctr">
                    <a:solidFill>
                      <a:srgbClr val="FFFDF8"/>
                    </a:solidFill>
                  </a:tcPr>
                </a:tc>
              </a:tr>
              <a:tr h="533400">
                <a:tc>
                  <a:txBody>
                    <a:bodyPr/>
                    <a:lstStyle/>
                    <a:p>
                      <a:pPr algn="ctr"/>
                      <a:r>
                        <a:rPr sz="1575" b="0">
                          <a:solidFill>
                            <a:srgbClr val="252A31"/>
                          </a:solidFill>
                          <a:latin typeface="Arial"/>
                          <a:ea typeface="Arial"/>
                          <a:cs typeface="Arial"/>
                        </a:rPr>
                        <a:t>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1.6</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115</a:t>
                      </a:r>
                    </a:p>
                  </a:txBody>
                  <a:tcPr marL="91440" marR="91440" marT="45720" marB="45720" anchor="ctr">
                    <a:solidFill>
                      <a:srgbClr val="F7F7F5"/>
                    </a:solidFill>
                  </a:tcPr>
                </a:tc>
                <a:tc>
                  <a:txBody>
                    <a:bodyPr/>
                    <a:lstStyle/>
                    <a:p>
                      <a:pPr algn="r"/>
                      <a:r>
                        <a:rPr sz="1575" b="0">
                          <a:solidFill>
                            <a:srgbClr val="252A31"/>
                          </a:solidFill>
                          <a:latin typeface="Arial"/>
                          <a:ea typeface="Arial"/>
                          <a:cs typeface="Arial"/>
                        </a:rPr>
                        <a:t>8.2</a:t>
                      </a:r>
                    </a:p>
                  </a:txBody>
                  <a:tcPr marL="91440" marR="91440" marT="45720" marB="45720" anchor="ctr">
                    <a:solidFill>
                      <a:srgbClr val="F7F7F5"/>
                    </a:solidFill>
                  </a:tcPr>
                </a:tc>
              </a:tr>
            </a:tbl>
          </a:graphicData>
        </a:graphic>
      </p:graphicFrame>
      <p:sp>
        <p:nvSpPr>
          <p:cNvPr id="4" name="">
            <a:extLst xmlns:a="http://schemas.openxmlformats.org/drawingml/2006/main">
              <a:ext uri="{FF2B5EF4-FFF2-40B4-BE49-F238E27FC236}">
                <a16:creationId xmlns:a16="http://schemas.microsoft.com/office/drawing/2014/main" id="{FA22D61A-C73F-4EC2-A893-563871B87B98}"/>
              </a:ext>
            </a:extLst>
          </p:cNvPr>
          <p:cNvSpPr>
            <a:spLocks xmlns:a="http://schemas.openxmlformats.org/drawingml/2006/main" noGrp="1"/>
          </p:cNvSpPr>
          <p:nvPr/>
        </p:nvSpPr>
        <p:spPr>
          <a:xfrm xmlns:a="http://schemas.openxmlformats.org/drawingml/2006/main" rot="0">
            <a:off x="876300" y="5381625"/>
            <a:ext cx="10439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a:solidFill>
                  <a:srgbClr val="252A31"/>
                </a:solidFill>
                <a:latin typeface="Arial"/>
                <a:ea typeface="Arial"/>
                <a:cs typeface="Arial"/>
              </a:defRPr>
            </a:pPr>
            <a:r>
              <a:rPr sz="1800" b="1">
                <a:solidFill>
                  <a:srgbClr val="252A31"/>
                </a:solidFill>
                <a:latin typeface="Arial"/>
                <a:ea typeface="Arial"/>
                <a:cs typeface="Arial"/>
              </a:rPr>
              <a:t>Response: </a:t>
            </a:r>
            <a:r>
              <a:rPr sz="1800">
                <a:solidFill>
                  <a:srgbClr val="252A31"/>
                </a:solidFill>
                <a:latin typeface="Arial"/>
                <a:ea typeface="Arial"/>
                <a:cs typeface="Arial"/>
              </a:rPr>
              <a:t>fuel consumption    </a:t>
            </a:r>
            <a:r>
              <a:rPr sz="1800" b="1">
                <a:solidFill>
                  <a:srgbClr val="252A31"/>
                </a:solidFill>
                <a:latin typeface="Arial"/>
                <a:ea typeface="Arial"/>
                <a:cs typeface="Arial"/>
              </a:rPr>
              <a:t>Predictors: </a:t>
            </a:r>
            <a:r>
              <a:rPr sz="1800">
                <a:solidFill>
                  <a:srgbClr val="252A31"/>
                </a:solidFill>
                <a:latin typeface="Arial"/>
                <a:ea typeface="Arial"/>
                <a:cs typeface="Arial"/>
              </a:rPr>
              <a:t>weight and horsepower</a:t>
            </a:r>
          </a:p>
        </p:txBody>
      </p:sp>
    </p:spTree>
    <p:extLst>
      <p:ext uri="{BB962C8B-B14F-4D97-AF65-F5344CB8AC3E}">
        <p14:creationId xmlns:p14="http://schemas.microsoft.com/office/powerpoint/2010/main" val="975133322"/>
      </p:ext>
    </p:extLst>
  </p:cSld>
</p:sld>
</file>

<file path=ppt/slides/slide4.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575696-3B17-42F0-8997-0651619B7881}"/>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linear model</a:t>
            </a:r>
          </a:p>
        </p:txBody>
      </p:sp>
      <p:sp>
        <p:nvSpPr>
          <p:cNvPr id="2" name="">
            <a:extLst xmlns:a="http://schemas.openxmlformats.org/drawingml/2006/main">
              <a:ext uri="{FF2B5EF4-FFF2-40B4-BE49-F238E27FC236}">
                <a16:creationId xmlns:a16="http://schemas.microsoft.com/office/drawing/2014/main" id="{E1339209-4B22-42AE-8984-BB005422B624}"/>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4</a:t>
            </a:r>
          </a:p>
        </p:txBody>
      </p:sp>
      <p:sp>
        <p:nvSpPr>
          <p:cNvPr id="3" name="">
            <a:extLst xmlns:a="http://schemas.openxmlformats.org/drawingml/2006/main">
              <a:ext uri="{FF2B5EF4-FFF2-40B4-BE49-F238E27FC236}">
                <a16:creationId xmlns:a16="http://schemas.microsoft.com/office/drawing/2014/main" id="{6A83946B-18BE-4C08-AB2F-342595303833}"/>
              </a:ext>
            </a:extLst>
          </p:cNvPr>
          <p:cNvSpPr>
            <a:spLocks xmlns:a="http://schemas.openxmlformats.org/drawingml/2006/main" noGrp="1"/>
          </p:cNvSpPr>
          <p:nvPr/>
        </p:nvSpPr>
        <p:spPr>
          <a:xfrm xmlns:a="http://schemas.openxmlformats.org/drawingml/2006/main" rot="0">
            <a:off x="2667000" y="1676400"/>
            <a:ext cx="6858000" cy="857250"/>
          </a:xfrm>
          <a:prstGeom xmlns:a="http://schemas.openxmlformats.org/drawingml/2006/main" prst="roundRect">
            <a:avLst>
              <a:gd name="adj" fmla="val 15556"/>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900" b="0" i="0">
                <a:solidFill>
                  <a:srgbClr val="252A31"/>
                </a:solidFill>
                <a:latin typeface="Cambria Math"/>
                <a:ea typeface="Cambria Math"/>
                <a:cs typeface="Cambria Math"/>
              </a:defRPr>
            </a:pPr>
            <a:r>
              <a:rPr sz="3900" b="0" i="0">
                <a:solidFill>
                  <a:srgbClr val="252A31"/>
                </a:solidFill>
                <a:latin typeface="Cambria Math"/>
                <a:ea typeface="Cambria Math"/>
                <a:cs typeface="Cambria Math"/>
              </a:rPr>
              <a:t>Y = Xβ + ε</a:t>
            </a:r>
          </a:p>
        </p:txBody>
      </p:sp>
      <p:sp>
        <p:nvSpPr>
          <p:cNvPr id="4" name="">
            <a:extLst xmlns:a="http://schemas.openxmlformats.org/drawingml/2006/main">
              <a:ext uri="{FF2B5EF4-FFF2-40B4-BE49-F238E27FC236}">
                <a16:creationId xmlns:a16="http://schemas.microsoft.com/office/drawing/2014/main" id="{5F7A58DC-5E5C-4AED-A688-E7B625F3DD91}"/>
              </a:ext>
            </a:extLst>
          </p:cNvPr>
          <p:cNvSpPr>
            <a:spLocks xmlns:a="http://schemas.openxmlformats.org/drawingml/2006/main" noGrp="1"/>
          </p:cNvSpPr>
          <p:nvPr/>
        </p:nvSpPr>
        <p:spPr>
          <a:xfrm xmlns:a="http://schemas.openxmlformats.org/drawingml/2006/main" rot="0">
            <a:off x="990600"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OBSERVATIONS</a:t>
            </a:r>
          </a:p>
        </p:txBody>
      </p:sp>
      <p:sp>
        <p:nvSpPr>
          <p:cNvPr id="5" name="">
            <a:extLst xmlns:a="http://schemas.openxmlformats.org/drawingml/2006/main">
              <a:ext uri="{FF2B5EF4-FFF2-40B4-BE49-F238E27FC236}">
                <a16:creationId xmlns:a16="http://schemas.microsoft.com/office/drawing/2014/main" id="{EFE185EA-624C-42AF-804C-135C0F448FEC}"/>
              </a:ext>
            </a:extLst>
          </p:cNvPr>
          <p:cNvSpPr>
            <a:spLocks xmlns:a="http://schemas.openxmlformats.org/drawingml/2006/main" noGrp="1"/>
          </p:cNvSpPr>
          <p:nvPr/>
        </p:nvSpPr>
        <p:spPr>
          <a:xfrm xmlns:a="http://schemas.openxmlformats.org/drawingml/2006/main" rot="0">
            <a:off x="876300"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Y, ε ∈ ℝⁿ</a:t>
            </a:r>
          </a:p>
        </p:txBody>
      </p:sp>
      <p:sp>
        <p:nvSpPr>
          <p:cNvPr id="6" name="">
            <a:extLst xmlns:a="http://schemas.openxmlformats.org/drawingml/2006/main">
              <a:ext uri="{FF2B5EF4-FFF2-40B4-BE49-F238E27FC236}">
                <a16:creationId xmlns:a16="http://schemas.microsoft.com/office/drawing/2014/main" id="{E1AFD3FD-0325-45E5-AB1B-5162F18D9967}"/>
              </a:ext>
            </a:extLst>
          </p:cNvPr>
          <p:cNvSpPr>
            <a:spLocks xmlns:a="http://schemas.openxmlformats.org/drawingml/2006/main" noGrp="1"/>
          </p:cNvSpPr>
          <p:nvPr/>
        </p:nvSpPr>
        <p:spPr>
          <a:xfrm xmlns:a="http://schemas.openxmlformats.org/drawingml/2006/main" rot="0">
            <a:off x="4714875"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DESIGN MATRIX</a:t>
            </a:r>
          </a:p>
        </p:txBody>
      </p:sp>
      <p:sp>
        <p:nvSpPr>
          <p:cNvPr id="7" name="">
            <a:extLst xmlns:a="http://schemas.openxmlformats.org/drawingml/2006/main">
              <a:ext uri="{FF2B5EF4-FFF2-40B4-BE49-F238E27FC236}">
                <a16:creationId xmlns:a16="http://schemas.microsoft.com/office/drawing/2014/main" id="{82AE2089-E186-420D-B881-365EE4B682C7}"/>
              </a:ext>
            </a:extLst>
          </p:cNvPr>
          <p:cNvSpPr>
            <a:spLocks xmlns:a="http://schemas.openxmlformats.org/drawingml/2006/main" noGrp="1"/>
          </p:cNvSpPr>
          <p:nvPr/>
        </p:nvSpPr>
        <p:spPr>
          <a:xfrm xmlns:a="http://schemas.openxmlformats.org/drawingml/2006/main" rot="0">
            <a:off x="4619625"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dim(X) = n × p</a:t>
            </a:r>
          </a:p>
        </p:txBody>
      </p:sp>
      <p:sp>
        <p:nvSpPr>
          <p:cNvPr id="8" name="">
            <a:extLst xmlns:a="http://schemas.openxmlformats.org/drawingml/2006/main">
              <a:ext uri="{FF2B5EF4-FFF2-40B4-BE49-F238E27FC236}">
                <a16:creationId xmlns:a16="http://schemas.microsoft.com/office/drawing/2014/main" id="{0FC2968E-A789-4FA1-9165-51F994614B2B}"/>
              </a:ext>
            </a:extLst>
          </p:cNvPr>
          <p:cNvSpPr>
            <a:spLocks xmlns:a="http://schemas.openxmlformats.org/drawingml/2006/main" noGrp="1"/>
          </p:cNvSpPr>
          <p:nvPr/>
        </p:nvSpPr>
        <p:spPr>
          <a:xfrm xmlns:a="http://schemas.openxmlformats.org/drawingml/2006/main" rot="0">
            <a:off x="8477250" y="3143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PARAMETERS</a:t>
            </a:r>
          </a:p>
        </p:txBody>
      </p:sp>
      <p:sp>
        <p:nvSpPr>
          <p:cNvPr id="9" name="">
            <a:extLst xmlns:a="http://schemas.openxmlformats.org/drawingml/2006/main">
              <a:ext uri="{FF2B5EF4-FFF2-40B4-BE49-F238E27FC236}">
                <a16:creationId xmlns:a16="http://schemas.microsoft.com/office/drawing/2014/main" id="{87EF02ED-7081-4064-B65A-C5A4F1A80DD5}"/>
              </a:ext>
            </a:extLst>
          </p:cNvPr>
          <p:cNvSpPr>
            <a:spLocks xmlns:a="http://schemas.openxmlformats.org/drawingml/2006/main" noGrp="1"/>
          </p:cNvSpPr>
          <p:nvPr/>
        </p:nvSpPr>
        <p:spPr>
          <a:xfrm xmlns:a="http://schemas.openxmlformats.org/drawingml/2006/main" rot="0">
            <a:off x="8382000" y="3476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β ∈ ℝᵖ</a:t>
            </a:r>
          </a:p>
        </p:txBody>
      </p:sp>
      <p:sp>
        <p:nvSpPr>
          <p:cNvPr id="10" name="">
            <a:extLst xmlns:a="http://schemas.openxmlformats.org/drawingml/2006/main">
              <a:ext uri="{FF2B5EF4-FFF2-40B4-BE49-F238E27FC236}">
                <a16:creationId xmlns:a16="http://schemas.microsoft.com/office/drawing/2014/main" id="{8D3EC51C-8BDE-4514-9259-BE7058C41C74}"/>
              </a:ext>
            </a:extLst>
          </p:cNvPr>
          <p:cNvSpPr>
            <a:spLocks xmlns:a="http://schemas.openxmlformats.org/drawingml/2006/main" noGrp="1"/>
          </p:cNvSpPr>
          <p:nvPr/>
        </p:nvSpPr>
        <p:spPr>
          <a:xfrm xmlns:a="http://schemas.openxmlformats.org/drawingml/2006/main" rot="0">
            <a:off x="876300" y="4953000"/>
            <a:ext cx="1043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252A31"/>
                </a:solidFill>
                <a:latin typeface="Arial"/>
                <a:ea typeface="Arial"/>
                <a:cs typeface="Arial"/>
              </a:defRPr>
            </a:pPr>
            <a:r>
              <a:rPr sz="2025" b="0" i="0">
                <a:solidFill>
                  <a:srgbClr val="252A31"/>
                </a:solidFill>
                <a:latin typeface="Arial"/>
                <a:ea typeface="Arial"/>
                <a:cs typeface="Arial"/>
              </a:rPr>
              <a:t>Car example: n = 5 observations and p = 2 predictors, so X is 5 × 2.</a:t>
            </a:r>
          </a:p>
        </p:txBody>
      </p:sp>
    </p:spTree>
    <p:extLst>
      <p:ext uri="{BB962C8B-B14F-4D97-AF65-F5344CB8AC3E}">
        <p14:creationId xmlns:p14="http://schemas.microsoft.com/office/powerpoint/2010/main" val="543469400"/>
      </p:ext>
    </p:extLst>
  </p:cSld>
</p:sld>
</file>

<file path=ppt/slides/slide5.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98B9E50-8094-4831-B3D6-AA33FA00AA5E}"/>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Observation space and parameter space</a:t>
            </a:r>
          </a:p>
        </p:txBody>
      </p:sp>
      <p:sp>
        <p:nvSpPr>
          <p:cNvPr id="2" name="">
            <a:extLst xmlns:a="http://schemas.openxmlformats.org/drawingml/2006/main">
              <a:ext uri="{FF2B5EF4-FFF2-40B4-BE49-F238E27FC236}">
                <a16:creationId xmlns:a16="http://schemas.microsoft.com/office/drawing/2014/main" id="{C520CF2A-5731-48E0-B593-9CF951CF7D16}"/>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5</a:t>
            </a:r>
          </a:p>
        </p:txBody>
      </p:sp>
      <p:sp>
        <p:nvSpPr>
          <p:cNvPr id="3" name="">
            <a:extLst xmlns:a="http://schemas.openxmlformats.org/drawingml/2006/main">
              <a:ext uri="{FF2B5EF4-FFF2-40B4-BE49-F238E27FC236}">
                <a16:creationId xmlns:a16="http://schemas.microsoft.com/office/drawing/2014/main" id="{2CFA8419-419C-4273-9DD7-77F8779F2F18}"/>
              </a:ext>
            </a:extLst>
          </p:cNvPr>
          <p:cNvSpPr>
            <a:spLocks xmlns:a="http://schemas.openxmlformats.org/drawingml/2006/main" noGrp="1"/>
          </p:cNvSpPr>
          <p:nvPr/>
        </p:nvSpPr>
        <p:spPr>
          <a:xfrm xmlns:a="http://schemas.openxmlformats.org/drawingml/2006/main" rot="0">
            <a:off x="838200" y="16573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PREDICTOR COLUMNS</a:t>
            </a:r>
          </a:p>
        </p:txBody>
      </p:sp>
      <p:sp>
        <p:nvSpPr>
          <p:cNvPr id="4" name="">
            <a:extLst xmlns:a="http://schemas.openxmlformats.org/drawingml/2006/main">
              <a:ext uri="{FF2B5EF4-FFF2-40B4-BE49-F238E27FC236}">
                <a16:creationId xmlns:a16="http://schemas.microsoft.com/office/drawing/2014/main" id="{F529D825-8DEE-4131-9975-EBD24BBA30A3}"/>
              </a:ext>
            </a:extLst>
          </p:cNvPr>
          <p:cNvSpPr>
            <a:spLocks xmlns:a="http://schemas.openxmlformats.org/drawingml/2006/main" noGrp="1"/>
          </p:cNvSpPr>
          <p:nvPr/>
        </p:nvSpPr>
        <p:spPr>
          <a:xfrm xmlns:a="http://schemas.openxmlformats.org/drawingml/2006/main" rot="0">
            <a:off x="1047750" y="2095500"/>
            <a:ext cx="723900" cy="2571750"/>
          </a:xfrm>
          <a:prstGeom xmlns:a="http://schemas.openxmlformats.org/drawingml/2006/main" prst="roundRect">
            <a:avLst>
              <a:gd name="adj" fmla="val 10526"/>
            </a:avLst>
          </a:prstGeom>
          <a:solidFill xmlns:a="http://schemas.openxmlformats.org/drawingml/2006/main">
            <a:srgbClr val="EFE4C9"/>
          </a:solidFill>
          <a:ln xmlns:a="http://schemas.openxmlformats.org/drawingml/2006/main" w="19050">
            <a:solidFill>
              <a:srgbClr val="A8710A"/>
            </a:solidFill>
            <a:prstDash val="solid"/>
          </a:ln>
        </p:spPr>
      </p:sp>
      <p:sp>
        <p:nvSpPr>
          <p:cNvPr id="5" name="">
            <a:extLst xmlns:a="http://schemas.openxmlformats.org/drawingml/2006/main">
              <a:ext uri="{FF2B5EF4-FFF2-40B4-BE49-F238E27FC236}">
                <a16:creationId xmlns:a16="http://schemas.microsoft.com/office/drawing/2014/main" id="{06DC2538-ADD4-4A7D-9823-0FF187FCCD08}"/>
              </a:ext>
            </a:extLst>
          </p:cNvPr>
          <p:cNvSpPr>
            <a:spLocks xmlns:a="http://schemas.openxmlformats.org/drawingml/2006/main" noGrp="1"/>
          </p:cNvSpPr>
          <p:nvPr/>
        </p:nvSpPr>
        <p:spPr>
          <a:xfrm xmlns:a="http://schemas.openxmlformats.org/drawingml/2006/main" rot="0">
            <a:off x="2057400" y="2095500"/>
            <a:ext cx="723900" cy="2571750"/>
          </a:xfrm>
          <a:prstGeom xmlns:a="http://schemas.openxmlformats.org/drawingml/2006/main" prst="roundRect">
            <a:avLst>
              <a:gd name="adj" fmla="val 10526"/>
            </a:avLst>
          </a:prstGeom>
          <a:solidFill xmlns:a="http://schemas.openxmlformats.org/drawingml/2006/main">
            <a:srgbClr val="DCEBEC"/>
          </a:solidFill>
          <a:ln xmlns:a="http://schemas.openxmlformats.org/drawingml/2006/main" w="19050">
            <a:solidFill>
              <a:srgbClr val="2C6A6C"/>
            </a:solidFill>
            <a:prstDash val="solid"/>
          </a:ln>
        </p:spPr>
      </p:sp>
      <p:sp>
        <p:nvSpPr>
          <p:cNvPr id="6" name="">
            <a:extLst xmlns:a="http://schemas.openxmlformats.org/drawingml/2006/main">
              <a:ext uri="{FF2B5EF4-FFF2-40B4-BE49-F238E27FC236}">
                <a16:creationId xmlns:a16="http://schemas.microsoft.com/office/drawing/2014/main" id="{2F614C24-4191-4830-8F3B-F41697BECAEE}"/>
              </a:ext>
            </a:extLst>
          </p:cNvPr>
          <p:cNvSpPr>
            <a:spLocks xmlns:a="http://schemas.openxmlformats.org/drawingml/2006/main" noGrp="1"/>
          </p:cNvSpPr>
          <p:nvPr/>
        </p:nvSpPr>
        <p:spPr>
          <a:xfrm xmlns:a="http://schemas.openxmlformats.org/drawingml/2006/main" rot="0">
            <a:off x="1047750" y="2209800"/>
            <a:ext cx="723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A8710A"/>
                </a:solidFill>
                <a:latin typeface="Cambria Math"/>
                <a:ea typeface="Cambria Math"/>
                <a:cs typeface="Cambria Math"/>
              </a:defRPr>
            </a:pPr>
            <a:r>
              <a:rPr sz="2250" b="1" i="0">
                <a:solidFill>
                  <a:srgbClr val="A8710A"/>
                </a:solidFill>
                <a:latin typeface="Cambria Math"/>
                <a:ea typeface="Cambria Math"/>
                <a:cs typeface="Cambria Math"/>
              </a:rPr>
              <a:t>x₁</a:t>
            </a:r>
          </a:p>
        </p:txBody>
      </p:sp>
      <p:sp>
        <p:nvSpPr>
          <p:cNvPr id="7" name="">
            <a:extLst xmlns:a="http://schemas.openxmlformats.org/drawingml/2006/main">
              <a:ext uri="{FF2B5EF4-FFF2-40B4-BE49-F238E27FC236}">
                <a16:creationId xmlns:a16="http://schemas.microsoft.com/office/drawing/2014/main" id="{94ADEC5B-F190-4AC0-B348-1188B78045B8}"/>
              </a:ext>
            </a:extLst>
          </p:cNvPr>
          <p:cNvSpPr>
            <a:spLocks xmlns:a="http://schemas.openxmlformats.org/drawingml/2006/main" noGrp="1"/>
          </p:cNvSpPr>
          <p:nvPr/>
        </p:nvSpPr>
        <p:spPr>
          <a:xfrm xmlns:a="http://schemas.openxmlformats.org/drawingml/2006/main" rot="0">
            <a:off x="2057400" y="2209800"/>
            <a:ext cx="723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2C6A6C"/>
                </a:solidFill>
                <a:latin typeface="Cambria Math"/>
                <a:ea typeface="Cambria Math"/>
                <a:cs typeface="Cambria Math"/>
              </a:defRPr>
            </a:pPr>
            <a:r>
              <a:rPr sz="2250" b="1" i="0">
                <a:solidFill>
                  <a:srgbClr val="2C6A6C"/>
                </a:solidFill>
                <a:latin typeface="Cambria Math"/>
                <a:ea typeface="Cambria Math"/>
                <a:cs typeface="Cambria Math"/>
              </a:rPr>
              <a:t>x₂</a:t>
            </a:r>
          </a:p>
        </p:txBody>
      </p:sp>
      <p:sp>
        <p:nvSpPr>
          <p:cNvPr id="8" name="">
            <a:extLst xmlns:a="http://schemas.openxmlformats.org/drawingml/2006/main">
              <a:ext uri="{FF2B5EF4-FFF2-40B4-BE49-F238E27FC236}">
                <a16:creationId xmlns:a16="http://schemas.microsoft.com/office/drawing/2014/main" id="{4A641904-7BDD-4E3E-9001-CF675DB95AB3}"/>
              </a:ext>
            </a:extLst>
          </p:cNvPr>
          <p:cNvSpPr>
            <a:spLocks xmlns:a="http://schemas.openxmlformats.org/drawingml/2006/main" noGrp="1"/>
          </p:cNvSpPr>
          <p:nvPr/>
        </p:nvSpPr>
        <p:spPr>
          <a:xfrm xmlns:a="http://schemas.openxmlformats.org/drawingml/2006/main" rot="0">
            <a:off x="1238250" y="281940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20FA162-6675-41A0-B1E6-40302C3F1E8D}"/>
              </a:ext>
            </a:extLst>
          </p:cNvPr>
          <p:cNvSpPr>
            <a:spLocks xmlns:a="http://schemas.openxmlformats.org/drawingml/2006/main" noGrp="1"/>
          </p:cNvSpPr>
          <p:nvPr/>
        </p:nvSpPr>
        <p:spPr>
          <a:xfrm xmlns:a="http://schemas.openxmlformats.org/drawingml/2006/main" rot="0">
            <a:off x="2247900" y="281940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40D28C8-8AB5-4D4D-8A7D-E2BD21CCD9E8}"/>
              </a:ext>
            </a:extLst>
          </p:cNvPr>
          <p:cNvSpPr>
            <a:spLocks xmlns:a="http://schemas.openxmlformats.org/drawingml/2006/main" noGrp="1"/>
          </p:cNvSpPr>
          <p:nvPr/>
        </p:nvSpPr>
        <p:spPr>
          <a:xfrm xmlns:a="http://schemas.openxmlformats.org/drawingml/2006/main" rot="0">
            <a:off x="1238250" y="3152775"/>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629A4FC-CFF9-422A-82A9-A631EC211A85}"/>
              </a:ext>
            </a:extLst>
          </p:cNvPr>
          <p:cNvSpPr>
            <a:spLocks xmlns:a="http://schemas.openxmlformats.org/drawingml/2006/main" noGrp="1"/>
          </p:cNvSpPr>
          <p:nvPr/>
        </p:nvSpPr>
        <p:spPr>
          <a:xfrm xmlns:a="http://schemas.openxmlformats.org/drawingml/2006/main" rot="0">
            <a:off x="2247900" y="3152775"/>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5F73855-13AD-4FEB-B6EC-240F6E4EDB7C}"/>
              </a:ext>
            </a:extLst>
          </p:cNvPr>
          <p:cNvSpPr>
            <a:spLocks xmlns:a="http://schemas.openxmlformats.org/drawingml/2006/main" noGrp="1"/>
          </p:cNvSpPr>
          <p:nvPr/>
        </p:nvSpPr>
        <p:spPr>
          <a:xfrm xmlns:a="http://schemas.openxmlformats.org/drawingml/2006/main" rot="0">
            <a:off x="1238250" y="348615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CE35BFB-F775-4926-AD74-8EAB5F1FD547}"/>
              </a:ext>
            </a:extLst>
          </p:cNvPr>
          <p:cNvSpPr>
            <a:spLocks xmlns:a="http://schemas.openxmlformats.org/drawingml/2006/main" noGrp="1"/>
          </p:cNvSpPr>
          <p:nvPr/>
        </p:nvSpPr>
        <p:spPr>
          <a:xfrm xmlns:a="http://schemas.openxmlformats.org/drawingml/2006/main" rot="0">
            <a:off x="2247900" y="348615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801AD4-4941-4988-B1A0-92FE45E87D0D}"/>
              </a:ext>
            </a:extLst>
          </p:cNvPr>
          <p:cNvSpPr>
            <a:spLocks xmlns:a="http://schemas.openxmlformats.org/drawingml/2006/main" noGrp="1"/>
          </p:cNvSpPr>
          <p:nvPr/>
        </p:nvSpPr>
        <p:spPr>
          <a:xfrm xmlns:a="http://schemas.openxmlformats.org/drawingml/2006/main" rot="0">
            <a:off x="1238250" y="3819525"/>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94E86AC-125C-41FC-BDBA-4DC86B6FA9D2}"/>
              </a:ext>
            </a:extLst>
          </p:cNvPr>
          <p:cNvSpPr>
            <a:spLocks xmlns:a="http://schemas.openxmlformats.org/drawingml/2006/main" noGrp="1"/>
          </p:cNvSpPr>
          <p:nvPr/>
        </p:nvSpPr>
        <p:spPr>
          <a:xfrm xmlns:a="http://schemas.openxmlformats.org/drawingml/2006/main" rot="0">
            <a:off x="2247900" y="3819525"/>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841A0CB-FAA8-4E36-8E70-32093626FBB6}"/>
              </a:ext>
            </a:extLst>
          </p:cNvPr>
          <p:cNvSpPr>
            <a:spLocks xmlns:a="http://schemas.openxmlformats.org/drawingml/2006/main" noGrp="1"/>
          </p:cNvSpPr>
          <p:nvPr/>
        </p:nvSpPr>
        <p:spPr>
          <a:xfrm xmlns:a="http://schemas.openxmlformats.org/drawingml/2006/main" rot="0">
            <a:off x="1238250" y="4152900"/>
            <a:ext cx="342900" cy="3810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71287D1-39E1-46EE-B391-75BAE5F5127F}"/>
              </a:ext>
            </a:extLst>
          </p:cNvPr>
          <p:cNvSpPr>
            <a:spLocks xmlns:a="http://schemas.openxmlformats.org/drawingml/2006/main" noGrp="1"/>
          </p:cNvSpPr>
          <p:nvPr/>
        </p:nvSpPr>
        <p:spPr>
          <a:xfrm xmlns:a="http://schemas.openxmlformats.org/drawingml/2006/main" rot="0">
            <a:off x="2247900" y="4152900"/>
            <a:ext cx="342900" cy="3810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5AD9BCA-866F-46A6-8097-952E4A3864EA}"/>
              </a:ext>
            </a:extLst>
          </p:cNvPr>
          <p:cNvSpPr>
            <a:spLocks xmlns:a="http://schemas.openxmlformats.org/drawingml/2006/main" noGrp="1"/>
          </p:cNvSpPr>
          <p:nvPr/>
        </p:nvSpPr>
        <p:spPr>
          <a:xfrm xmlns:a="http://schemas.openxmlformats.org/drawingml/2006/main" rot="0">
            <a:off x="762000" y="4933950"/>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xⱼ ∈ ℝⁿ</a:t>
            </a:r>
          </a:p>
        </p:txBody>
      </p:sp>
      <p:sp>
        <p:nvSpPr>
          <p:cNvPr id="19" name="">
            <a:extLst xmlns:a="http://schemas.openxmlformats.org/drawingml/2006/main">
              <a:ext uri="{FF2B5EF4-FFF2-40B4-BE49-F238E27FC236}">
                <a16:creationId xmlns:a16="http://schemas.microsoft.com/office/drawing/2014/main" id="{1D5F65DF-52FE-4B43-9112-2C8D26871801}"/>
              </a:ext>
            </a:extLst>
          </p:cNvPr>
          <p:cNvSpPr>
            <a:spLocks xmlns:a="http://schemas.openxmlformats.org/drawingml/2006/main" noGrp="1"/>
          </p:cNvSpPr>
          <p:nvPr/>
        </p:nvSpPr>
        <p:spPr>
          <a:xfrm xmlns:a="http://schemas.openxmlformats.org/drawingml/2006/main" rot="0">
            <a:off x="3733800" y="1790700"/>
            <a:ext cx="19050" cy="37338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1D1EE7E-0C05-4DE8-8FF9-EA4C442D0E84}"/>
              </a:ext>
            </a:extLst>
          </p:cNvPr>
          <p:cNvSpPr>
            <a:spLocks xmlns:a="http://schemas.openxmlformats.org/drawingml/2006/main" noGrp="1"/>
          </p:cNvSpPr>
          <p:nvPr/>
        </p:nvSpPr>
        <p:spPr>
          <a:xfrm xmlns:a="http://schemas.openxmlformats.org/drawingml/2006/main" rot="0">
            <a:off x="4333875" y="16573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DESIGN MATRIX</a:t>
            </a:r>
          </a:p>
        </p:txBody>
      </p:sp>
      <p:sp>
        <p:nvSpPr>
          <p:cNvPr id="21" name="">
            <a:extLst xmlns:a="http://schemas.openxmlformats.org/drawingml/2006/main">
              <a:ext uri="{FF2B5EF4-FFF2-40B4-BE49-F238E27FC236}">
                <a16:creationId xmlns:a16="http://schemas.microsoft.com/office/drawing/2014/main" id="{058BFF85-8E36-4864-B2B0-4979DC7ADAE4}"/>
              </a:ext>
            </a:extLst>
          </p:cNvPr>
          <p:cNvSpPr>
            <a:spLocks xmlns:a="http://schemas.openxmlformats.org/drawingml/2006/main" noGrp="1"/>
          </p:cNvSpPr>
          <p:nvPr/>
        </p:nvSpPr>
        <p:spPr>
          <a:xfrm xmlns:a="http://schemas.openxmlformats.org/drawingml/2006/main" rot="0">
            <a:off x="4171950" y="2286000"/>
            <a:ext cx="3810000" cy="876300"/>
          </a:xfrm>
          <a:prstGeom xmlns:a="http://schemas.openxmlformats.org/drawingml/2006/main" prst="roundRect">
            <a:avLst>
              <a:gd name="adj" fmla="val 10870"/>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X = [ x₁  x₂  ⋯  xₚ ]</a:t>
            </a:r>
          </a:p>
        </p:txBody>
      </p:sp>
      <p:sp>
        <p:nvSpPr>
          <p:cNvPr id="22" name="">
            <a:extLst xmlns:a="http://schemas.openxmlformats.org/drawingml/2006/main">
              <a:ext uri="{FF2B5EF4-FFF2-40B4-BE49-F238E27FC236}">
                <a16:creationId xmlns:a16="http://schemas.microsoft.com/office/drawing/2014/main" id="{95669EC8-67AD-445E-A372-6DF46D5C706C}"/>
              </a:ext>
            </a:extLst>
          </p:cNvPr>
          <p:cNvSpPr>
            <a:spLocks xmlns:a="http://schemas.openxmlformats.org/drawingml/2006/main" noGrp="1"/>
          </p:cNvSpPr>
          <p:nvPr/>
        </p:nvSpPr>
        <p:spPr>
          <a:xfrm xmlns:a="http://schemas.openxmlformats.org/drawingml/2006/main" rot="0">
            <a:off x="5000625" y="3562350"/>
            <a:ext cx="2000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00" b="1" i="0">
                <a:solidFill>
                  <a:srgbClr val="68717D"/>
                </a:solidFill>
                <a:latin typeface="Arial"/>
                <a:ea typeface="Arial"/>
                <a:cs typeface="Arial"/>
              </a:defRPr>
            </a:pPr>
            <a:r>
              <a:rPr sz="2100" b="1" i="0">
                <a:solidFill>
                  <a:srgbClr val="68717D"/>
                </a:solidFill>
                <a:latin typeface="Arial"/>
                <a:ea typeface="Arial"/>
                <a:cs typeface="Arial"/>
              </a:rPr>
              <a:t>n rows</a:t>
            </a:r>
          </a:p>
          <a:p xmlns:a="http://schemas.openxmlformats.org/drawingml/2006/main">
            <a:pPr algn="ctr">
              <a:lnSpc>
                <a:spcPct val="105000"/>
              </a:lnSpc>
              <a:buNone/>
              <a:defRPr sz="2100" b="1" i="0">
                <a:solidFill>
                  <a:srgbClr val="68717D"/>
                </a:solidFill>
                <a:latin typeface="Arial"/>
                <a:ea typeface="Arial"/>
                <a:cs typeface="Arial"/>
              </a:defRPr>
            </a:pPr>
            <a:r>
              <a:rPr sz="2100" b="1" i="0">
                <a:solidFill>
                  <a:srgbClr val="68717D"/>
                </a:solidFill>
                <a:latin typeface="Arial"/>
                <a:ea typeface="Arial"/>
                <a:cs typeface="Arial"/>
              </a:rPr>
              <a:t>p columns</a:t>
            </a:r>
          </a:p>
        </p:txBody>
      </p:sp>
      <p:sp>
        <p:nvSpPr>
          <p:cNvPr id="23" name="">
            <a:extLst xmlns:a="http://schemas.openxmlformats.org/drawingml/2006/main">
              <a:ext uri="{FF2B5EF4-FFF2-40B4-BE49-F238E27FC236}">
                <a16:creationId xmlns:a16="http://schemas.microsoft.com/office/drawing/2014/main" id="{7B1A7D04-4FB5-49D6-A3EB-17F8645C83ED}"/>
              </a:ext>
            </a:extLst>
          </p:cNvPr>
          <p:cNvSpPr>
            <a:spLocks xmlns:a="http://schemas.openxmlformats.org/drawingml/2006/main" noGrp="1"/>
          </p:cNvSpPr>
          <p:nvPr/>
        </p:nvSpPr>
        <p:spPr>
          <a:xfrm xmlns:a="http://schemas.openxmlformats.org/drawingml/2006/main" rot="0">
            <a:off x="8315325" y="1790700"/>
            <a:ext cx="19050" cy="37338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0B8ECE5-AD1E-44FA-B689-C33433932F41}"/>
              </a:ext>
            </a:extLst>
          </p:cNvPr>
          <p:cNvSpPr>
            <a:spLocks xmlns:a="http://schemas.openxmlformats.org/drawingml/2006/main" noGrp="1"/>
          </p:cNvSpPr>
          <p:nvPr/>
        </p:nvSpPr>
        <p:spPr>
          <a:xfrm xmlns:a="http://schemas.openxmlformats.org/drawingml/2006/main" rot="0">
            <a:off x="8867775" y="1657350"/>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PAIRWISE PRODUCTS</a:t>
            </a:r>
          </a:p>
        </p:txBody>
      </p:sp>
      <p:sp>
        <p:nvSpPr>
          <p:cNvPr id="25" name="">
            <a:extLst xmlns:a="http://schemas.openxmlformats.org/drawingml/2006/main">
              <a:ext uri="{FF2B5EF4-FFF2-40B4-BE49-F238E27FC236}">
                <a16:creationId xmlns:a16="http://schemas.microsoft.com/office/drawing/2014/main" id="{870EAE30-200F-4641-A49E-A3B6E20DAC3D}"/>
              </a:ext>
            </a:extLst>
          </p:cNvPr>
          <p:cNvSpPr>
            <a:spLocks xmlns:a="http://schemas.openxmlformats.org/drawingml/2006/main" noGrp="1"/>
          </p:cNvSpPr>
          <p:nvPr/>
        </p:nvSpPr>
        <p:spPr>
          <a:xfrm xmlns:a="http://schemas.openxmlformats.org/drawingml/2006/main" rot="0">
            <a:off x="8572500" y="2428875"/>
            <a:ext cx="2876550" cy="857250"/>
          </a:xfrm>
          <a:prstGeom xmlns:a="http://schemas.openxmlformats.org/drawingml/2006/main" prst="roundRect">
            <a:avLst>
              <a:gd name="adj" fmla="val 11111"/>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dim(XᵀX) = p × p</a:t>
            </a:r>
          </a:p>
        </p:txBody>
      </p:sp>
      <p:sp>
        <p:nvSpPr>
          <p:cNvPr id="26" name="">
            <a:extLst xmlns:a="http://schemas.openxmlformats.org/drawingml/2006/main">
              <a:ext uri="{FF2B5EF4-FFF2-40B4-BE49-F238E27FC236}">
                <a16:creationId xmlns:a16="http://schemas.microsoft.com/office/drawing/2014/main" id="{08FDF982-B64E-40D0-A635-0C242FF5DA25}"/>
              </a:ext>
            </a:extLst>
          </p:cNvPr>
          <p:cNvSpPr>
            <a:spLocks xmlns:a="http://schemas.openxmlformats.org/drawingml/2006/main" noGrp="1"/>
          </p:cNvSpPr>
          <p:nvPr/>
        </p:nvSpPr>
        <p:spPr>
          <a:xfrm xmlns:a="http://schemas.openxmlformats.org/drawingml/2006/main" rot="0">
            <a:off x="8743950" y="3667125"/>
            <a:ext cx="2476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950" b="0" i="0">
                <a:solidFill>
                  <a:srgbClr val="252A31"/>
                </a:solidFill>
                <a:latin typeface="Arial"/>
                <a:ea typeface="Arial"/>
                <a:cs typeface="Arial"/>
              </a:defRPr>
            </a:pPr>
            <a:r>
              <a:rPr sz="1950" b="0" i="0">
                <a:solidFill>
                  <a:srgbClr val="252A31"/>
                </a:solidFill>
                <a:latin typeface="Arial"/>
                <a:ea typeface="Arial"/>
                <a:cs typeface="Arial"/>
              </a:rPr>
              <a:t>Rows and columns now index predictors.</a:t>
            </a:r>
          </a:p>
        </p:txBody>
      </p:sp>
    </p:spTree>
    <p:extLst>
      <p:ext uri="{BB962C8B-B14F-4D97-AF65-F5344CB8AC3E}">
        <p14:creationId xmlns:p14="http://schemas.microsoft.com/office/powerpoint/2010/main" val="1312020135"/>
      </p:ext>
    </p:extLst>
  </p:cSld>
</p:sld>
</file>

<file path=ppt/slides/slide6.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F731C6-8E89-4597-AA20-E5624A11AD3A}"/>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Intercept and centering</a:t>
            </a:r>
          </a:p>
        </p:txBody>
      </p:sp>
      <p:sp>
        <p:nvSpPr>
          <p:cNvPr id="2" name="">
            <a:extLst xmlns:a="http://schemas.openxmlformats.org/drawingml/2006/main">
              <a:ext uri="{FF2B5EF4-FFF2-40B4-BE49-F238E27FC236}">
                <a16:creationId xmlns:a16="http://schemas.microsoft.com/office/drawing/2014/main" id="{A044901F-FA97-41CA-8E63-EE7189D597F5}"/>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6</a:t>
            </a:r>
          </a:p>
        </p:txBody>
      </p:sp>
      <p:sp>
        <p:nvSpPr>
          <p:cNvPr id="3" name="">
            <a:extLst xmlns:a="http://schemas.openxmlformats.org/drawingml/2006/main">
              <a:ext uri="{FF2B5EF4-FFF2-40B4-BE49-F238E27FC236}">
                <a16:creationId xmlns:a16="http://schemas.microsoft.com/office/drawing/2014/main" id="{7CF2F867-5980-44F6-B34E-188C40F47AA1}"/>
              </a:ext>
            </a:extLst>
          </p:cNvPr>
          <p:cNvSpPr>
            <a:spLocks xmlns:a="http://schemas.openxmlformats.org/drawingml/2006/main" noGrp="1"/>
          </p:cNvSpPr>
          <p:nvPr/>
        </p:nvSpPr>
        <p:spPr>
          <a:xfrm xmlns:a="http://schemas.openxmlformats.org/drawingml/2006/main" rot="0">
            <a:off x="1847850" y="1695450"/>
            <a:ext cx="84963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375" b="0" i="0">
                <a:solidFill>
                  <a:srgbClr val="252A31"/>
                </a:solidFill>
                <a:latin typeface="Cambria Math"/>
                <a:ea typeface="Cambria Math"/>
                <a:cs typeface="Cambria Math"/>
              </a:defRPr>
            </a:pPr>
            <a:r>
              <a:rPr sz="3375" b="0" i="0">
                <a:solidFill>
                  <a:srgbClr val="252A31"/>
                </a:solidFill>
                <a:latin typeface="Cambria Math"/>
                <a:ea typeface="Cambria Math"/>
                <a:cs typeface="Cambria Math"/>
              </a:rPr>
              <a:t>Y = 1β₀ + Xβ + ε</a:t>
            </a:r>
          </a:p>
        </p:txBody>
      </p:sp>
      <p:sp>
        <p:nvSpPr>
          <p:cNvPr id="4" name="">
            <a:extLst xmlns:a="http://schemas.openxmlformats.org/drawingml/2006/main">
              <a:ext uri="{FF2B5EF4-FFF2-40B4-BE49-F238E27FC236}">
                <a16:creationId xmlns:a16="http://schemas.microsoft.com/office/drawing/2014/main" id="{E99E920F-BA06-4526-BDE7-5BCCEDD6ECCF}"/>
              </a:ext>
            </a:extLst>
          </p:cNvPr>
          <p:cNvSpPr>
            <a:spLocks xmlns:a="http://schemas.openxmlformats.org/drawingml/2006/main" noGrp="1"/>
          </p:cNvSpPr>
          <p:nvPr/>
        </p:nvSpPr>
        <p:spPr>
          <a:xfrm xmlns:a="http://schemas.openxmlformats.org/drawingml/2006/main" rot="0">
            <a:off x="1047750" y="3028950"/>
            <a:ext cx="1009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252A31"/>
                </a:solidFill>
                <a:latin typeface="Arial"/>
                <a:ea typeface="Arial"/>
                <a:cs typeface="Arial"/>
              </a:defRPr>
            </a:pPr>
            <a:r>
              <a:rPr sz="2250" b="1" i="0">
                <a:solidFill>
                  <a:srgbClr val="252A31"/>
                </a:solidFill>
                <a:latin typeface="Arial"/>
                <a:ea typeface="Arial"/>
                <a:cs typeface="Arial"/>
              </a:rPr>
              <a:t>Subtract the mean from Y and from every predictor column.</a:t>
            </a:r>
          </a:p>
        </p:txBody>
      </p:sp>
      <p:sp>
        <p:nvSpPr>
          <p:cNvPr id="5" name="">
            <a:extLst xmlns:a="http://schemas.openxmlformats.org/drawingml/2006/main">
              <a:ext uri="{FF2B5EF4-FFF2-40B4-BE49-F238E27FC236}">
                <a16:creationId xmlns:a16="http://schemas.microsoft.com/office/drawing/2014/main" id="{C9C8003C-46A1-4A74-8D3F-D405562EA4DE}"/>
              </a:ext>
            </a:extLst>
          </p:cNvPr>
          <p:cNvSpPr>
            <a:spLocks xmlns:a="http://schemas.openxmlformats.org/drawingml/2006/main" noGrp="1"/>
          </p:cNvSpPr>
          <p:nvPr/>
        </p:nvSpPr>
        <p:spPr>
          <a:xfrm xmlns:a="http://schemas.openxmlformats.org/drawingml/2006/main" rot="0">
            <a:off x="2381250" y="3905250"/>
            <a:ext cx="742950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1218D26-BB63-4384-AAD1-BA0C9578E237}"/>
              </a:ext>
            </a:extLst>
          </p:cNvPr>
          <p:cNvSpPr>
            <a:spLocks xmlns:a="http://schemas.openxmlformats.org/drawingml/2006/main" noGrp="1"/>
          </p:cNvSpPr>
          <p:nvPr/>
        </p:nvSpPr>
        <p:spPr>
          <a:xfrm xmlns:a="http://schemas.openxmlformats.org/drawingml/2006/main" rot="0">
            <a:off x="1676400" y="4248150"/>
            <a:ext cx="8839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In centered coordinates, the fitted intercept is zero. The ridge paper works with the remaining model</a:t>
            </a:r>
          </a:p>
        </p:txBody>
      </p:sp>
      <p:sp>
        <p:nvSpPr>
          <p:cNvPr id="7" name="">
            <a:extLst xmlns:a="http://schemas.openxmlformats.org/drawingml/2006/main">
              <a:ext uri="{FF2B5EF4-FFF2-40B4-BE49-F238E27FC236}">
                <a16:creationId xmlns:a16="http://schemas.microsoft.com/office/drawing/2014/main" id="{2D26127B-2C3D-4D67-84ED-2D552739A6BD}"/>
              </a:ext>
            </a:extLst>
          </p:cNvPr>
          <p:cNvSpPr>
            <a:spLocks xmlns:a="http://schemas.openxmlformats.org/drawingml/2006/main" noGrp="1"/>
          </p:cNvSpPr>
          <p:nvPr/>
        </p:nvSpPr>
        <p:spPr>
          <a:xfrm xmlns:a="http://schemas.openxmlformats.org/drawingml/2006/main" rot="0">
            <a:off x="3619500" y="5095875"/>
            <a:ext cx="4953000" cy="628650"/>
          </a:xfrm>
          <a:prstGeom xmlns:a="http://schemas.openxmlformats.org/drawingml/2006/main" prst="roundRect">
            <a:avLst>
              <a:gd name="adj" fmla="val 15152"/>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00" b="0" i="0">
                <a:solidFill>
                  <a:srgbClr val="252A31"/>
                </a:solidFill>
                <a:latin typeface="Cambria Math"/>
                <a:ea typeface="Cambria Math"/>
                <a:cs typeface="Cambria Math"/>
              </a:defRPr>
            </a:pPr>
            <a:r>
              <a:rPr sz="3000" b="0" i="0">
                <a:solidFill>
                  <a:srgbClr val="252A31"/>
                </a:solidFill>
                <a:latin typeface="Cambria Math"/>
                <a:ea typeface="Cambria Math"/>
                <a:cs typeface="Cambria Math"/>
              </a:rPr>
              <a:t>Y = Xβ + ε</a:t>
            </a:r>
          </a:p>
        </p:txBody>
      </p:sp>
    </p:spTree>
    <p:extLst>
      <p:ext uri="{BB962C8B-B14F-4D97-AF65-F5344CB8AC3E}">
        <p14:creationId xmlns:p14="http://schemas.microsoft.com/office/powerpoint/2010/main" val="1225266766"/>
      </p:ext>
    </p:extLst>
  </p:cSld>
</p:sld>
</file>

<file path=ppt/slides/slide7.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DA2197-A7C7-4410-AFDA-34FED154C666}"/>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least squares objective</a:t>
            </a:r>
          </a:p>
        </p:txBody>
      </p:sp>
      <p:sp>
        <p:nvSpPr>
          <p:cNvPr id="2" name="">
            <a:extLst xmlns:a="http://schemas.openxmlformats.org/drawingml/2006/main">
              <a:ext uri="{FF2B5EF4-FFF2-40B4-BE49-F238E27FC236}">
                <a16:creationId xmlns:a16="http://schemas.microsoft.com/office/drawing/2014/main" id="{CBA23C75-8C96-480B-BBF0-C1CBEF36969F}"/>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7</a:t>
            </a:r>
          </a:p>
        </p:txBody>
      </p:sp>
      <p:sp>
        <p:nvSpPr>
          <p:cNvPr id="3" name="">
            <a:extLst xmlns:a="http://schemas.openxmlformats.org/drawingml/2006/main">
              <a:ext uri="{FF2B5EF4-FFF2-40B4-BE49-F238E27FC236}">
                <a16:creationId xmlns:a16="http://schemas.microsoft.com/office/drawing/2014/main" id="{E8396204-C959-4350-9E16-56B7D6AFE41A}"/>
              </a:ext>
            </a:extLst>
          </p:cNvPr>
          <p:cNvSpPr>
            <a:spLocks xmlns:a="http://schemas.openxmlformats.org/drawingml/2006/main" noGrp="1"/>
          </p:cNvSpPr>
          <p:nvPr/>
        </p:nvSpPr>
        <p:spPr>
          <a:xfrm xmlns:a="http://schemas.openxmlformats.org/drawingml/2006/main" rot="0">
            <a:off x="876300" y="171450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RESIDUAL VECTOR</a:t>
            </a:r>
          </a:p>
        </p:txBody>
      </p:sp>
      <p:sp>
        <p:nvSpPr>
          <p:cNvPr id="4" name="">
            <a:extLst xmlns:a="http://schemas.openxmlformats.org/drawingml/2006/main">
              <a:ext uri="{FF2B5EF4-FFF2-40B4-BE49-F238E27FC236}">
                <a16:creationId xmlns:a16="http://schemas.microsoft.com/office/drawing/2014/main" id="{D389B594-1532-497C-B3F7-1EF9968A11CD}"/>
              </a:ext>
            </a:extLst>
          </p:cNvPr>
          <p:cNvSpPr>
            <a:spLocks xmlns:a="http://schemas.openxmlformats.org/drawingml/2006/main" noGrp="1"/>
          </p:cNvSpPr>
          <p:nvPr/>
        </p:nvSpPr>
        <p:spPr>
          <a:xfrm xmlns:a="http://schemas.openxmlformats.org/drawingml/2006/main" rot="0">
            <a:off x="876300" y="2076450"/>
            <a:ext cx="4857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3000" b="0" i="0">
                <a:solidFill>
                  <a:srgbClr val="252A31"/>
                </a:solidFill>
                <a:latin typeface="Cambria Math"/>
                <a:ea typeface="Cambria Math"/>
                <a:cs typeface="Cambria Math"/>
              </a:defRPr>
            </a:pPr>
            <a:r>
              <a:rPr sz="3000" b="0" i="0">
                <a:solidFill>
                  <a:srgbClr val="252A31"/>
                </a:solidFill>
                <a:latin typeface="Cambria Math"/>
                <a:ea typeface="Cambria Math"/>
                <a:cs typeface="Cambria Math"/>
              </a:rPr>
              <a:t>r(B) = Y − XB</a:t>
            </a:r>
          </a:p>
        </p:txBody>
      </p:sp>
      <p:sp>
        <p:nvSpPr>
          <p:cNvPr id="5" name="">
            <a:extLst xmlns:a="http://schemas.openxmlformats.org/drawingml/2006/main">
              <a:ext uri="{FF2B5EF4-FFF2-40B4-BE49-F238E27FC236}">
                <a16:creationId xmlns:a16="http://schemas.microsoft.com/office/drawing/2014/main" id="{FB81F519-F914-49B3-ACC8-AF0CB982ED73}"/>
              </a:ext>
            </a:extLst>
          </p:cNvPr>
          <p:cNvSpPr>
            <a:spLocks xmlns:a="http://schemas.openxmlformats.org/drawingml/2006/main" noGrp="1"/>
          </p:cNvSpPr>
          <p:nvPr/>
        </p:nvSpPr>
        <p:spPr>
          <a:xfrm xmlns:a="http://schemas.openxmlformats.org/drawingml/2006/main" rot="0">
            <a:off x="876300" y="33718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OPTIMIZATION PROBLEM</a:t>
            </a:r>
          </a:p>
        </p:txBody>
      </p:sp>
      <p:sp>
        <p:nvSpPr>
          <p:cNvPr id="6" name="">
            <a:extLst xmlns:a="http://schemas.openxmlformats.org/drawingml/2006/main">
              <a:ext uri="{FF2B5EF4-FFF2-40B4-BE49-F238E27FC236}">
                <a16:creationId xmlns:a16="http://schemas.microsoft.com/office/drawing/2014/main" id="{4506AE74-A02B-437A-9F7A-A94F8291C6B6}"/>
              </a:ext>
            </a:extLst>
          </p:cNvPr>
          <p:cNvSpPr>
            <a:spLocks xmlns:a="http://schemas.openxmlformats.org/drawingml/2006/main" noGrp="1"/>
          </p:cNvSpPr>
          <p:nvPr/>
        </p:nvSpPr>
        <p:spPr>
          <a:xfrm xmlns:a="http://schemas.openxmlformats.org/drawingml/2006/main" rot="0">
            <a:off x="876300" y="3733800"/>
            <a:ext cx="723900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3150" b="0" i="0">
                <a:solidFill>
                  <a:srgbClr val="252A31"/>
                </a:solidFill>
                <a:latin typeface="Cambria Math"/>
                <a:ea typeface="Cambria Math"/>
                <a:cs typeface="Cambria Math"/>
              </a:defRPr>
            </a:pPr>
            <a:r>
              <a:rPr sz="3150" b="0" i="0">
                <a:solidFill>
                  <a:srgbClr val="252A31"/>
                </a:solidFill>
                <a:latin typeface="Cambria Math"/>
                <a:ea typeface="Cambria Math"/>
                <a:cs typeface="Cambria Math"/>
              </a:rPr>
              <a:t>β̂ = arg minᴮ ‖Y − XB‖²</a:t>
            </a:r>
          </a:p>
        </p:txBody>
      </p:sp>
      <p:sp>
        <p:nvSpPr>
          <p:cNvPr id="7" name="">
            <a:extLst xmlns:a="http://schemas.openxmlformats.org/drawingml/2006/main">
              <a:ext uri="{FF2B5EF4-FFF2-40B4-BE49-F238E27FC236}">
                <a16:creationId xmlns:a16="http://schemas.microsoft.com/office/drawing/2014/main" id="{6530152F-2ED1-46A9-9E65-143AEDBDDCCA}"/>
              </a:ext>
            </a:extLst>
          </p:cNvPr>
          <p:cNvSpPr>
            <a:spLocks xmlns:a="http://schemas.openxmlformats.org/drawingml/2006/main" noGrp="1"/>
          </p:cNvSpPr>
          <p:nvPr/>
        </p:nvSpPr>
        <p:spPr>
          <a:xfrm xmlns:a="http://schemas.openxmlformats.org/drawingml/2006/main" rot="0">
            <a:off x="8572500" y="1790700"/>
            <a:ext cx="19050" cy="32385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D6B56E0-8401-4B5E-BCB5-19716903A46E}"/>
              </a:ext>
            </a:extLst>
          </p:cNvPr>
          <p:cNvSpPr>
            <a:spLocks xmlns:a="http://schemas.openxmlformats.org/drawingml/2006/main" noGrp="1"/>
          </p:cNvSpPr>
          <p:nvPr/>
        </p:nvSpPr>
        <p:spPr>
          <a:xfrm xmlns:a="http://schemas.openxmlformats.org/drawingml/2006/main" rot="0">
            <a:off x="9010650" y="2228850"/>
            <a:ext cx="238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The residual lives in observation space ℝⁿ.</a:t>
            </a:r>
          </a:p>
        </p:txBody>
      </p:sp>
      <p:sp>
        <p:nvSpPr>
          <p:cNvPr id="9" name="">
            <a:extLst xmlns:a="http://schemas.openxmlformats.org/drawingml/2006/main">
              <a:ext uri="{FF2B5EF4-FFF2-40B4-BE49-F238E27FC236}">
                <a16:creationId xmlns:a16="http://schemas.microsoft.com/office/drawing/2014/main" id="{16D45D7F-3E77-4CCF-A25A-DBA726F08AD8}"/>
              </a:ext>
            </a:extLst>
          </p:cNvPr>
          <p:cNvSpPr>
            <a:spLocks xmlns:a="http://schemas.openxmlformats.org/drawingml/2006/main" noGrp="1"/>
          </p:cNvSpPr>
          <p:nvPr/>
        </p:nvSpPr>
        <p:spPr>
          <a:xfrm xmlns:a="http://schemas.openxmlformats.org/drawingml/2006/main" rot="0">
            <a:off x="9010650" y="3581400"/>
            <a:ext cx="238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Least squares chooses coefficients in ℝᵖ that minimize its squared length.</a:t>
            </a:r>
          </a:p>
        </p:txBody>
      </p:sp>
    </p:spTree>
    <p:extLst>
      <p:ext uri="{BB962C8B-B14F-4D97-AF65-F5344CB8AC3E}">
        <p14:creationId xmlns:p14="http://schemas.microsoft.com/office/powerpoint/2010/main" val="38202634"/>
      </p:ext>
    </p:extLst>
  </p:cSld>
</p:sld>
</file>

<file path=ppt/slides/slide8.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539DA40-5625-426D-9883-0D5A18E075B5}"/>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normal equations</a:t>
            </a:r>
          </a:p>
        </p:txBody>
      </p:sp>
      <p:sp>
        <p:nvSpPr>
          <p:cNvPr id="2" name="">
            <a:extLst xmlns:a="http://schemas.openxmlformats.org/drawingml/2006/main">
              <a:ext uri="{FF2B5EF4-FFF2-40B4-BE49-F238E27FC236}">
                <a16:creationId xmlns:a16="http://schemas.microsoft.com/office/drawing/2014/main" id="{F1ADFA1A-3F4E-4290-9F82-34A4B54D5A79}"/>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8</a:t>
            </a:r>
          </a:p>
        </p:txBody>
      </p:sp>
      <p:sp>
        <p:nvSpPr>
          <p:cNvPr id="3" name="">
            <a:extLst xmlns:a="http://schemas.openxmlformats.org/drawingml/2006/main">
              <a:ext uri="{FF2B5EF4-FFF2-40B4-BE49-F238E27FC236}">
                <a16:creationId xmlns:a16="http://schemas.microsoft.com/office/drawing/2014/main" id="{F1E054D1-CBEA-4528-A234-63CF7267943F}"/>
              </a:ext>
            </a:extLst>
          </p:cNvPr>
          <p:cNvSpPr>
            <a:spLocks xmlns:a="http://schemas.openxmlformats.org/drawingml/2006/main" noGrp="1"/>
          </p:cNvSpPr>
          <p:nvPr/>
        </p:nvSpPr>
        <p:spPr>
          <a:xfrm xmlns:a="http://schemas.openxmlformats.org/drawingml/2006/main" rot="0">
            <a:off x="1028700" y="1657350"/>
            <a:ext cx="1013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φ(B) = (Y − XB)ᵀ(Y − XB)</a:t>
            </a:r>
          </a:p>
        </p:txBody>
      </p:sp>
      <p:sp>
        <p:nvSpPr>
          <p:cNvPr id="4" name="">
            <a:extLst xmlns:a="http://schemas.openxmlformats.org/drawingml/2006/main">
              <a:ext uri="{FF2B5EF4-FFF2-40B4-BE49-F238E27FC236}">
                <a16:creationId xmlns:a16="http://schemas.microsoft.com/office/drawing/2014/main" id="{708802C2-24DB-4058-8F89-76DBA45360F5}"/>
              </a:ext>
            </a:extLst>
          </p:cNvPr>
          <p:cNvSpPr>
            <a:spLocks xmlns:a="http://schemas.openxmlformats.org/drawingml/2006/main" noGrp="1"/>
          </p:cNvSpPr>
          <p:nvPr/>
        </p:nvSpPr>
        <p:spPr>
          <a:xfrm xmlns:a="http://schemas.openxmlformats.org/drawingml/2006/main" rot="0">
            <a:off x="1028700" y="2324100"/>
            <a:ext cx="10134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 YᵀY − 2BᵀXᵀY + BᵀXᵀXB</a:t>
            </a:r>
          </a:p>
        </p:txBody>
      </p:sp>
      <p:sp>
        <p:nvSpPr>
          <p:cNvPr id="5" name="">
            <a:extLst xmlns:a="http://schemas.openxmlformats.org/drawingml/2006/main">
              <a:ext uri="{FF2B5EF4-FFF2-40B4-BE49-F238E27FC236}">
                <a16:creationId xmlns:a16="http://schemas.microsoft.com/office/drawing/2014/main" id="{7A77E504-983C-4B7D-AD99-9344B9023B01}"/>
              </a:ext>
            </a:extLst>
          </p:cNvPr>
          <p:cNvSpPr>
            <a:spLocks xmlns:a="http://schemas.openxmlformats.org/drawingml/2006/main" noGrp="1"/>
          </p:cNvSpPr>
          <p:nvPr/>
        </p:nvSpPr>
        <p:spPr>
          <a:xfrm xmlns:a="http://schemas.openxmlformats.org/drawingml/2006/main" rot="0">
            <a:off x="1028700" y="3152775"/>
            <a:ext cx="10134600" cy="609600"/>
          </a:xfrm>
          <a:prstGeom xmlns:a="http://schemas.openxmlformats.org/drawingml/2006/main" prst="roundRect">
            <a:avLst>
              <a:gd name="adj" fmla="val 15625"/>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00" b="0" i="0">
                <a:solidFill>
                  <a:srgbClr val="252A31"/>
                </a:solidFill>
                <a:latin typeface="Cambria Math"/>
                <a:ea typeface="Cambria Math"/>
                <a:cs typeface="Cambria Math"/>
              </a:defRPr>
            </a:pPr>
            <a:r>
              <a:rPr sz="2700" b="0" i="0">
                <a:solidFill>
                  <a:srgbClr val="252A31"/>
                </a:solidFill>
                <a:latin typeface="Cambria Math"/>
                <a:ea typeface="Cambria Math"/>
                <a:cs typeface="Cambria Math"/>
              </a:rPr>
              <a:t>∇φ(B) = −2XᵀY + 2XᵀXB</a:t>
            </a:r>
          </a:p>
        </p:txBody>
      </p:sp>
      <p:sp>
        <p:nvSpPr>
          <p:cNvPr id="6" name="">
            <a:extLst xmlns:a="http://schemas.openxmlformats.org/drawingml/2006/main">
              <a:ext uri="{FF2B5EF4-FFF2-40B4-BE49-F238E27FC236}">
                <a16:creationId xmlns:a16="http://schemas.microsoft.com/office/drawing/2014/main" id="{DC1E4148-C953-4A09-91D0-1E7B11D3F358}"/>
              </a:ext>
            </a:extLst>
          </p:cNvPr>
          <p:cNvSpPr>
            <a:spLocks xmlns:a="http://schemas.openxmlformats.org/drawingml/2006/main" noGrp="1"/>
          </p:cNvSpPr>
          <p:nvPr/>
        </p:nvSpPr>
        <p:spPr>
          <a:xfrm xmlns:a="http://schemas.openxmlformats.org/drawingml/2006/main" rot="0">
            <a:off x="1028700" y="4143375"/>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At a minimum</a:t>
            </a:r>
          </a:p>
        </p:txBody>
      </p:sp>
      <p:sp>
        <p:nvSpPr>
          <p:cNvPr id="7" name="">
            <a:extLst xmlns:a="http://schemas.openxmlformats.org/drawingml/2006/main">
              <a:ext uri="{FF2B5EF4-FFF2-40B4-BE49-F238E27FC236}">
                <a16:creationId xmlns:a16="http://schemas.microsoft.com/office/drawing/2014/main" id="{13408B76-74BB-4AEB-8E93-7E19BDD3CA64}"/>
              </a:ext>
            </a:extLst>
          </p:cNvPr>
          <p:cNvSpPr>
            <a:spLocks xmlns:a="http://schemas.openxmlformats.org/drawingml/2006/main" noGrp="1"/>
          </p:cNvSpPr>
          <p:nvPr/>
        </p:nvSpPr>
        <p:spPr>
          <a:xfrm xmlns:a="http://schemas.openxmlformats.org/drawingml/2006/main" rot="0">
            <a:off x="3095625" y="4019550"/>
            <a:ext cx="4000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XᵀXB = XᵀY</a:t>
            </a:r>
          </a:p>
        </p:txBody>
      </p:sp>
      <p:sp>
        <p:nvSpPr>
          <p:cNvPr id="8" name="">
            <a:extLst xmlns:a="http://schemas.openxmlformats.org/drawingml/2006/main">
              <a:ext uri="{FF2B5EF4-FFF2-40B4-BE49-F238E27FC236}">
                <a16:creationId xmlns:a16="http://schemas.microsoft.com/office/drawing/2014/main" id="{EA353278-38B1-4E2E-B866-9A1FF6283C2B}"/>
              </a:ext>
            </a:extLst>
          </p:cNvPr>
          <p:cNvSpPr>
            <a:spLocks xmlns:a="http://schemas.openxmlformats.org/drawingml/2006/main" noGrp="1"/>
          </p:cNvSpPr>
          <p:nvPr/>
        </p:nvSpPr>
        <p:spPr>
          <a:xfrm xmlns:a="http://schemas.openxmlformats.org/drawingml/2006/main" rot="0">
            <a:off x="1028700" y="4933950"/>
            <a:ext cx="314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If X has full column rank</a:t>
            </a:r>
          </a:p>
        </p:txBody>
      </p:sp>
      <p:sp>
        <p:nvSpPr>
          <p:cNvPr id="9" name="">
            <a:extLst xmlns:a="http://schemas.openxmlformats.org/drawingml/2006/main">
              <a:ext uri="{FF2B5EF4-FFF2-40B4-BE49-F238E27FC236}">
                <a16:creationId xmlns:a16="http://schemas.microsoft.com/office/drawing/2014/main" id="{7FF8645A-F9B1-48C1-8E26-4BDE94430E82}"/>
              </a:ext>
            </a:extLst>
          </p:cNvPr>
          <p:cNvSpPr>
            <a:spLocks xmlns:a="http://schemas.openxmlformats.org/drawingml/2006/main" noGrp="1"/>
          </p:cNvSpPr>
          <p:nvPr/>
        </p:nvSpPr>
        <p:spPr>
          <a:xfrm xmlns:a="http://schemas.openxmlformats.org/drawingml/2006/main" rot="0">
            <a:off x="4000500" y="4762500"/>
            <a:ext cx="5810250" cy="742950"/>
          </a:xfrm>
          <a:prstGeom xmlns:a="http://schemas.openxmlformats.org/drawingml/2006/main" prst="roundRect">
            <a:avLst>
              <a:gd name="adj" fmla="val 12821"/>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β̂ = (XᵀX)⁻¹XᵀY</a:t>
            </a:r>
          </a:p>
        </p:txBody>
      </p:sp>
    </p:spTree>
    <p:extLst>
      <p:ext uri="{BB962C8B-B14F-4D97-AF65-F5344CB8AC3E}">
        <p14:creationId xmlns:p14="http://schemas.microsoft.com/office/powerpoint/2010/main" val="1877732680"/>
      </p:ext>
    </p:extLst>
  </p:cSld>
</p:sld>
</file>

<file path=ppt/slides/slide9.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3FA4F2-0A67-4B5F-B468-DD24A1B6EF1F}"/>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Full column rank and invertibility</a:t>
            </a:r>
          </a:p>
        </p:txBody>
      </p:sp>
      <p:sp>
        <p:nvSpPr>
          <p:cNvPr id="2" name="">
            <a:extLst xmlns:a="http://schemas.openxmlformats.org/drawingml/2006/main">
              <a:ext uri="{FF2B5EF4-FFF2-40B4-BE49-F238E27FC236}">
                <a16:creationId xmlns:a16="http://schemas.microsoft.com/office/drawing/2014/main" id="{A00ED2BF-1C6C-44C1-A138-4A1E5C686949}"/>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9</a:t>
            </a:r>
          </a:p>
        </p:txBody>
      </p:sp>
      <p:sp>
        <p:nvSpPr>
          <p:cNvPr id="3" name="">
            <a:extLst xmlns:a="http://schemas.openxmlformats.org/drawingml/2006/main">
              <a:ext uri="{FF2B5EF4-FFF2-40B4-BE49-F238E27FC236}">
                <a16:creationId xmlns:a16="http://schemas.microsoft.com/office/drawing/2014/main" id="{6D43DB46-F4C3-4478-B577-D8BABE5D59AA}"/>
              </a:ext>
            </a:extLst>
          </p:cNvPr>
          <p:cNvSpPr>
            <a:spLocks xmlns:a="http://schemas.openxmlformats.org/drawingml/2006/main" noGrp="1"/>
          </p:cNvSpPr>
          <p:nvPr/>
        </p:nvSpPr>
        <p:spPr>
          <a:xfrm xmlns:a="http://schemas.openxmlformats.org/drawingml/2006/main" rot="0">
            <a:off x="1143000" y="1695450"/>
            <a:ext cx="9906000" cy="742950"/>
          </a:xfrm>
          <a:prstGeom xmlns:a="http://schemas.openxmlformats.org/drawingml/2006/main" prst="roundRect">
            <a:avLst>
              <a:gd name="adj" fmla="val 12821"/>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vᵀXᵀXv = (Xv)ᵀ(Xv) = ‖Xv‖² ≥ 0</a:t>
            </a:r>
          </a:p>
        </p:txBody>
      </p:sp>
      <p:sp>
        <p:nvSpPr>
          <p:cNvPr id="4" name="">
            <a:extLst xmlns:a="http://schemas.openxmlformats.org/drawingml/2006/main">
              <a:ext uri="{FF2B5EF4-FFF2-40B4-BE49-F238E27FC236}">
                <a16:creationId xmlns:a16="http://schemas.microsoft.com/office/drawing/2014/main" id="{17E4485A-C675-408A-9228-F43EC40CBC47}"/>
              </a:ext>
            </a:extLst>
          </p:cNvPr>
          <p:cNvSpPr>
            <a:spLocks xmlns:a="http://schemas.openxmlformats.org/drawingml/2006/main" noGrp="1"/>
          </p:cNvSpPr>
          <p:nvPr/>
        </p:nvSpPr>
        <p:spPr>
          <a:xfrm xmlns:a="http://schemas.openxmlformats.org/drawingml/2006/main" rot="0">
            <a:off x="1143000" y="2686050"/>
            <a:ext cx="9906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This proves that XᵀX is positive semidefinite.</a:t>
            </a:r>
          </a:p>
        </p:txBody>
      </p:sp>
      <p:sp>
        <p:nvSpPr>
          <p:cNvPr id="5" name="">
            <a:extLst xmlns:a="http://schemas.openxmlformats.org/drawingml/2006/main">
              <a:ext uri="{FF2B5EF4-FFF2-40B4-BE49-F238E27FC236}">
                <a16:creationId xmlns:a16="http://schemas.microsoft.com/office/drawing/2014/main" id="{01931481-D60C-43E0-BF0C-831EF0911E57}"/>
              </a:ext>
            </a:extLst>
          </p:cNvPr>
          <p:cNvSpPr>
            <a:spLocks xmlns:a="http://schemas.openxmlformats.org/drawingml/2006/main" noGrp="1"/>
          </p:cNvSpPr>
          <p:nvPr/>
        </p:nvSpPr>
        <p:spPr>
          <a:xfrm xmlns:a="http://schemas.openxmlformats.org/drawingml/2006/main" rot="0">
            <a:off x="1314450" y="3448050"/>
            <a:ext cx="409575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E323172-EB2B-4435-BACC-CACFC7CEC4F1}"/>
              </a:ext>
            </a:extLst>
          </p:cNvPr>
          <p:cNvSpPr>
            <a:spLocks xmlns:a="http://schemas.openxmlformats.org/drawingml/2006/main" noGrp="1"/>
          </p:cNvSpPr>
          <p:nvPr/>
        </p:nvSpPr>
        <p:spPr>
          <a:xfrm xmlns:a="http://schemas.openxmlformats.org/drawingml/2006/main" rot="0">
            <a:off x="6762750" y="3448050"/>
            <a:ext cx="4095750" cy="1905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10CB187-7BB2-439C-AF4E-BDF552DA0A1A}"/>
              </a:ext>
            </a:extLst>
          </p:cNvPr>
          <p:cNvSpPr>
            <a:spLocks xmlns:a="http://schemas.openxmlformats.org/drawingml/2006/main" noGrp="1"/>
          </p:cNvSpPr>
          <p:nvPr/>
        </p:nvSpPr>
        <p:spPr>
          <a:xfrm xmlns:a="http://schemas.openxmlformats.org/drawingml/2006/main" rot="0">
            <a:off x="1314450" y="3714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FULL COLUMN RANK</a:t>
            </a:r>
          </a:p>
        </p:txBody>
      </p:sp>
      <p:sp>
        <p:nvSpPr>
          <p:cNvPr id="8" name="">
            <a:extLst xmlns:a="http://schemas.openxmlformats.org/drawingml/2006/main">
              <a:ext uri="{FF2B5EF4-FFF2-40B4-BE49-F238E27FC236}">
                <a16:creationId xmlns:a16="http://schemas.microsoft.com/office/drawing/2014/main" id="{288FA9BD-E2EA-4E70-BD16-3DC480F08284}"/>
              </a:ext>
            </a:extLst>
          </p:cNvPr>
          <p:cNvSpPr>
            <a:spLocks xmlns:a="http://schemas.openxmlformats.org/drawingml/2006/main" noGrp="1"/>
          </p:cNvSpPr>
          <p:nvPr/>
        </p:nvSpPr>
        <p:spPr>
          <a:xfrm xmlns:a="http://schemas.openxmlformats.org/drawingml/2006/main" rot="0">
            <a:off x="1314450" y="4095750"/>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Xv ≠ 0 for every v ≠ 0</a:t>
            </a:r>
          </a:p>
        </p:txBody>
      </p:sp>
      <p:sp>
        <p:nvSpPr>
          <p:cNvPr id="9" name="">
            <a:extLst xmlns:a="http://schemas.openxmlformats.org/drawingml/2006/main">
              <a:ext uri="{FF2B5EF4-FFF2-40B4-BE49-F238E27FC236}">
                <a16:creationId xmlns:a16="http://schemas.microsoft.com/office/drawing/2014/main" id="{DD7A4D9E-9422-4B06-A1ED-B71FBD5F0166}"/>
              </a:ext>
            </a:extLst>
          </p:cNvPr>
          <p:cNvSpPr>
            <a:spLocks xmlns:a="http://schemas.openxmlformats.org/drawingml/2006/main" noGrp="1"/>
          </p:cNvSpPr>
          <p:nvPr/>
        </p:nvSpPr>
        <p:spPr>
          <a:xfrm xmlns:a="http://schemas.openxmlformats.org/drawingml/2006/main" rot="0">
            <a:off x="1314450" y="476250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Then vᵀXᵀXv &gt; 0, so XᵀX is positive definite and invertible.</a:t>
            </a:r>
          </a:p>
        </p:txBody>
      </p:sp>
      <p:sp>
        <p:nvSpPr>
          <p:cNvPr id="10" name="">
            <a:extLst xmlns:a="http://schemas.openxmlformats.org/drawingml/2006/main">
              <a:ext uri="{FF2B5EF4-FFF2-40B4-BE49-F238E27FC236}">
                <a16:creationId xmlns:a16="http://schemas.microsoft.com/office/drawing/2014/main" id="{D0883C7E-7DC9-4235-A718-4649F00CF380}"/>
              </a:ext>
            </a:extLst>
          </p:cNvPr>
          <p:cNvSpPr>
            <a:spLocks xmlns:a="http://schemas.openxmlformats.org/drawingml/2006/main" noGrp="1"/>
          </p:cNvSpPr>
          <p:nvPr/>
        </p:nvSpPr>
        <p:spPr>
          <a:xfrm xmlns:a="http://schemas.openxmlformats.org/drawingml/2006/main" rot="0">
            <a:off x="6762750" y="3714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DEPENDENT COLUMNS</a:t>
            </a:r>
          </a:p>
        </p:txBody>
      </p:sp>
      <p:sp>
        <p:nvSpPr>
          <p:cNvPr id="11" name="">
            <a:extLst xmlns:a="http://schemas.openxmlformats.org/drawingml/2006/main">
              <a:ext uri="{FF2B5EF4-FFF2-40B4-BE49-F238E27FC236}">
                <a16:creationId xmlns:a16="http://schemas.microsoft.com/office/drawing/2014/main" id="{B7CCD140-94B3-4D41-9EF6-78E9DDF9AE4F}"/>
              </a:ext>
            </a:extLst>
          </p:cNvPr>
          <p:cNvSpPr>
            <a:spLocks xmlns:a="http://schemas.openxmlformats.org/drawingml/2006/main" noGrp="1"/>
          </p:cNvSpPr>
          <p:nvPr/>
        </p:nvSpPr>
        <p:spPr>
          <a:xfrm xmlns:a="http://schemas.openxmlformats.org/drawingml/2006/main" rot="0">
            <a:off x="6762750" y="4095750"/>
            <a:ext cx="4095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Xv = 0 for some v ≠ 0</a:t>
            </a:r>
          </a:p>
        </p:txBody>
      </p:sp>
      <p:sp>
        <p:nvSpPr>
          <p:cNvPr id="12" name="">
            <a:extLst xmlns:a="http://schemas.openxmlformats.org/drawingml/2006/main">
              <a:ext uri="{FF2B5EF4-FFF2-40B4-BE49-F238E27FC236}">
                <a16:creationId xmlns:a16="http://schemas.microsoft.com/office/drawing/2014/main" id="{8811D035-3A32-4F72-BBD2-F2E0C22DCB17}"/>
              </a:ext>
            </a:extLst>
          </p:cNvPr>
          <p:cNvSpPr>
            <a:spLocks xmlns:a="http://schemas.openxmlformats.org/drawingml/2006/main" noGrp="1"/>
          </p:cNvSpPr>
          <p:nvPr/>
        </p:nvSpPr>
        <p:spPr>
          <a:xfrm xmlns:a="http://schemas.openxmlformats.org/drawingml/2006/main" rot="0">
            <a:off x="6762750" y="476250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The same v lies in the null space of XᵀX, so the inverse does not exist.</a:t>
            </a:r>
          </a:p>
        </p:txBody>
      </p:sp>
    </p:spTree>
    <p:extLst>
      <p:ext uri="{BB962C8B-B14F-4D97-AF65-F5344CB8AC3E}">
        <p14:creationId xmlns:p14="http://schemas.microsoft.com/office/powerpoint/2010/main" val="1084364121"/>
      </p:ext>
    </p:extLst>
  </p:cSld>
</p:sld>
</file>

<file path=ppt/slides/slide10.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DB293F4-71D4-44E4-B2C3-9C17A544D5D0}"/>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Why the estimate is random</a:t>
            </a:r>
          </a:p>
        </p:txBody>
      </p:sp>
      <p:sp>
        <p:nvSpPr>
          <p:cNvPr id="2" name="">
            <a:extLst xmlns:a="http://schemas.openxmlformats.org/drawingml/2006/main">
              <a:ext uri="{FF2B5EF4-FFF2-40B4-BE49-F238E27FC236}">
                <a16:creationId xmlns:a16="http://schemas.microsoft.com/office/drawing/2014/main" id="{8AC07675-74DB-41B2-ABCA-B3EC93F9F915}"/>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3A650708-2F2F-4C74-BA61-AA83122C237C}"/>
              </a:ext>
            </a:extLst>
          </p:cNvPr>
          <p:cNvSpPr>
            <a:spLocks xmlns:a="http://schemas.openxmlformats.org/drawingml/2006/main" noGrp="1"/>
          </p:cNvSpPr>
          <p:nvPr/>
        </p:nvSpPr>
        <p:spPr>
          <a:xfrm xmlns:a="http://schemas.openxmlformats.org/drawingml/2006/main" rot="0">
            <a:off x="1476375" y="1733550"/>
            <a:ext cx="9239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β̂ = (XᵀX)⁻¹Xᵀ(Xβ + ε)</a:t>
            </a:r>
          </a:p>
        </p:txBody>
      </p:sp>
      <p:sp>
        <p:nvSpPr>
          <p:cNvPr id="4" name="">
            <a:extLst xmlns:a="http://schemas.openxmlformats.org/drawingml/2006/main">
              <a:ext uri="{FF2B5EF4-FFF2-40B4-BE49-F238E27FC236}">
                <a16:creationId xmlns:a16="http://schemas.microsoft.com/office/drawing/2014/main" id="{AA30B25E-F165-497B-BDC8-A88C37267BC7}"/>
              </a:ext>
            </a:extLst>
          </p:cNvPr>
          <p:cNvSpPr>
            <a:spLocks xmlns:a="http://schemas.openxmlformats.org/drawingml/2006/main" noGrp="1"/>
          </p:cNvSpPr>
          <p:nvPr/>
        </p:nvSpPr>
        <p:spPr>
          <a:xfrm xmlns:a="http://schemas.openxmlformats.org/drawingml/2006/main" rot="0">
            <a:off x="1476375" y="2552700"/>
            <a:ext cx="9239250" cy="781050"/>
          </a:xfrm>
          <a:prstGeom xmlns:a="http://schemas.openxmlformats.org/drawingml/2006/main" prst="roundRect">
            <a:avLst>
              <a:gd name="adj" fmla="val 12195"/>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β̂ = β + (XᵀX)⁻¹Xᵀε</a:t>
            </a:r>
          </a:p>
        </p:txBody>
      </p:sp>
      <p:sp>
        <p:nvSpPr>
          <p:cNvPr id="5" name="">
            <a:extLst xmlns:a="http://schemas.openxmlformats.org/drawingml/2006/main">
              <a:ext uri="{FF2B5EF4-FFF2-40B4-BE49-F238E27FC236}">
                <a16:creationId xmlns:a16="http://schemas.microsoft.com/office/drawing/2014/main" id="{84BFE48A-6157-4809-9EC7-05F046608D5A}"/>
              </a:ext>
            </a:extLst>
          </p:cNvPr>
          <p:cNvSpPr>
            <a:spLocks xmlns:a="http://schemas.openxmlformats.org/drawingml/2006/main" noGrp="1"/>
          </p:cNvSpPr>
          <p:nvPr/>
        </p:nvSpPr>
        <p:spPr>
          <a:xfrm xmlns:a="http://schemas.openxmlformats.org/drawingml/2006/main" rot="0">
            <a:off x="1562100" y="40957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1" i="0">
                <a:solidFill>
                  <a:srgbClr val="A8710A"/>
                </a:solidFill>
                <a:latin typeface="Arial"/>
                <a:ea typeface="Arial"/>
                <a:cs typeface="Arial"/>
              </a:defRPr>
            </a:pPr>
            <a:r>
              <a:rPr sz="1650" b="1" i="0">
                <a:solidFill>
                  <a:srgbClr val="A8710A"/>
                </a:solidFill>
                <a:latin typeface="Arial"/>
                <a:ea typeface="Arial"/>
                <a:cs typeface="Arial"/>
              </a:rPr>
              <a:t>Fixed in repeated sampling</a:t>
            </a:r>
          </a:p>
        </p:txBody>
      </p:sp>
      <p:sp>
        <p:nvSpPr>
          <p:cNvPr id="6" name="">
            <a:extLst xmlns:a="http://schemas.openxmlformats.org/drawingml/2006/main">
              <a:ext uri="{FF2B5EF4-FFF2-40B4-BE49-F238E27FC236}">
                <a16:creationId xmlns:a16="http://schemas.microsoft.com/office/drawing/2014/main" id="{696FAAF5-3668-4D96-AC56-E0B6C94F0A98}"/>
              </a:ext>
            </a:extLst>
          </p:cNvPr>
          <p:cNvSpPr>
            <a:spLocks xmlns:a="http://schemas.openxmlformats.org/drawingml/2006/main" noGrp="1"/>
          </p:cNvSpPr>
          <p:nvPr/>
        </p:nvSpPr>
        <p:spPr>
          <a:xfrm xmlns:a="http://schemas.openxmlformats.org/drawingml/2006/main" rot="0">
            <a:off x="1905000" y="4524375"/>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X and β</a:t>
            </a:r>
          </a:p>
        </p:txBody>
      </p:sp>
      <p:sp>
        <p:nvSpPr>
          <p:cNvPr id="7" name="">
            <a:extLst xmlns:a="http://schemas.openxmlformats.org/drawingml/2006/main">
              <a:ext uri="{FF2B5EF4-FFF2-40B4-BE49-F238E27FC236}">
                <a16:creationId xmlns:a16="http://schemas.microsoft.com/office/drawing/2014/main" id="{3FD5A308-6A43-4999-AB50-A534273D7744}"/>
              </a:ext>
            </a:extLst>
          </p:cNvPr>
          <p:cNvSpPr>
            <a:spLocks xmlns:a="http://schemas.openxmlformats.org/drawingml/2006/main" noGrp="1"/>
          </p:cNvSpPr>
          <p:nvPr/>
        </p:nvSpPr>
        <p:spPr>
          <a:xfrm xmlns:a="http://schemas.openxmlformats.org/drawingml/2006/main" rot="0">
            <a:off x="7105650" y="40957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1" i="0">
                <a:solidFill>
                  <a:srgbClr val="2C6A6C"/>
                </a:solidFill>
                <a:latin typeface="Arial"/>
                <a:ea typeface="Arial"/>
                <a:cs typeface="Arial"/>
              </a:defRPr>
            </a:pPr>
            <a:r>
              <a:rPr sz="1650" b="1" i="0">
                <a:solidFill>
                  <a:srgbClr val="2C6A6C"/>
                </a:solidFill>
                <a:latin typeface="Arial"/>
                <a:ea typeface="Arial"/>
                <a:cs typeface="Arial"/>
              </a:rPr>
              <a:t>Changes across samples</a:t>
            </a:r>
          </a:p>
        </p:txBody>
      </p:sp>
      <p:sp>
        <p:nvSpPr>
          <p:cNvPr id="8" name="">
            <a:extLst xmlns:a="http://schemas.openxmlformats.org/drawingml/2006/main">
              <a:ext uri="{FF2B5EF4-FFF2-40B4-BE49-F238E27FC236}">
                <a16:creationId xmlns:a16="http://schemas.microsoft.com/office/drawing/2014/main" id="{25D794DB-06BC-442E-9ABF-C0C737696373}"/>
              </a:ext>
            </a:extLst>
          </p:cNvPr>
          <p:cNvSpPr>
            <a:spLocks xmlns:a="http://schemas.openxmlformats.org/drawingml/2006/main" noGrp="1"/>
          </p:cNvSpPr>
          <p:nvPr/>
        </p:nvSpPr>
        <p:spPr>
          <a:xfrm xmlns:a="http://schemas.openxmlformats.org/drawingml/2006/main" rot="0">
            <a:off x="7429500" y="4524375"/>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ε and β̂</a:t>
            </a:r>
          </a:p>
        </p:txBody>
      </p:sp>
    </p:spTree>
    <p:extLst>
      <p:ext uri="{BB962C8B-B14F-4D97-AF65-F5344CB8AC3E}">
        <p14:creationId xmlns:p14="http://schemas.microsoft.com/office/powerpoint/2010/main" val="1734128783"/>
      </p:ext>
    </p:extLst>
  </p:cSld>
</p:sld>
</file>

<file path=ppt/slides/slide1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80CD24-AE76-498B-952F-6B70922E8E54}"/>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Noise assumptions</a:t>
            </a:r>
          </a:p>
        </p:txBody>
      </p:sp>
      <p:sp>
        <p:nvSpPr>
          <p:cNvPr id="2" name="">
            <a:extLst xmlns:a="http://schemas.openxmlformats.org/drawingml/2006/main">
              <a:ext uri="{FF2B5EF4-FFF2-40B4-BE49-F238E27FC236}">
                <a16:creationId xmlns:a16="http://schemas.microsoft.com/office/drawing/2014/main" id="{D9B39FEE-4056-414B-966B-C28DED55FC00}"/>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90C502A9-3262-460C-A94D-533C0AB02E6B}"/>
              </a:ext>
            </a:extLst>
          </p:cNvPr>
          <p:cNvSpPr>
            <a:spLocks xmlns:a="http://schemas.openxmlformats.org/drawingml/2006/main" noGrp="1"/>
          </p:cNvSpPr>
          <p:nvPr/>
        </p:nvSpPr>
        <p:spPr>
          <a:xfrm xmlns:a="http://schemas.openxmlformats.org/drawingml/2006/main" rot="0">
            <a:off x="1047750" y="1809750"/>
            <a:ext cx="4286250" cy="781050"/>
          </a:xfrm>
          <a:prstGeom xmlns:a="http://schemas.openxmlformats.org/drawingml/2006/main" prst="roundRect">
            <a:avLst>
              <a:gd name="adj" fmla="val 12195"/>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0" i="0">
                <a:solidFill>
                  <a:srgbClr val="252A31"/>
                </a:solidFill>
                <a:latin typeface="Cambria Math"/>
                <a:ea typeface="Cambria Math"/>
                <a:cs typeface="Cambria Math"/>
              </a:defRPr>
            </a:pPr>
            <a:r>
              <a:rPr sz="3225" b="0" i="0">
                <a:solidFill>
                  <a:srgbClr val="252A31"/>
                </a:solidFill>
                <a:latin typeface="Cambria Math"/>
                <a:ea typeface="Cambria Math"/>
                <a:cs typeface="Cambria Math"/>
              </a:rPr>
              <a:t>E[ε | X] = 0</a:t>
            </a:r>
          </a:p>
        </p:txBody>
      </p:sp>
      <p:sp>
        <p:nvSpPr>
          <p:cNvPr id="4" name="">
            <a:extLst xmlns:a="http://schemas.openxmlformats.org/drawingml/2006/main">
              <a:ext uri="{FF2B5EF4-FFF2-40B4-BE49-F238E27FC236}">
                <a16:creationId xmlns:a16="http://schemas.microsoft.com/office/drawing/2014/main" id="{7A8FEBCD-7C80-44F1-BCEB-D8ECBAA26306}"/>
              </a:ext>
            </a:extLst>
          </p:cNvPr>
          <p:cNvSpPr>
            <a:spLocks xmlns:a="http://schemas.openxmlformats.org/drawingml/2006/main" noGrp="1"/>
          </p:cNvSpPr>
          <p:nvPr/>
        </p:nvSpPr>
        <p:spPr>
          <a:xfrm xmlns:a="http://schemas.openxmlformats.org/drawingml/2006/main" rot="0">
            <a:off x="1047750" y="28384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No systematic error remains after conditioning on the predictors.</a:t>
            </a:r>
          </a:p>
        </p:txBody>
      </p:sp>
      <p:sp>
        <p:nvSpPr>
          <p:cNvPr id="5" name="">
            <a:extLst xmlns:a="http://schemas.openxmlformats.org/drawingml/2006/main">
              <a:ext uri="{FF2B5EF4-FFF2-40B4-BE49-F238E27FC236}">
                <a16:creationId xmlns:a16="http://schemas.microsoft.com/office/drawing/2014/main" id="{1F73C9E6-5082-4B46-8EDE-F67D50ACFCFD}"/>
              </a:ext>
            </a:extLst>
          </p:cNvPr>
          <p:cNvSpPr>
            <a:spLocks xmlns:a="http://schemas.openxmlformats.org/drawingml/2006/main" noGrp="1"/>
          </p:cNvSpPr>
          <p:nvPr/>
        </p:nvSpPr>
        <p:spPr>
          <a:xfrm xmlns:a="http://schemas.openxmlformats.org/drawingml/2006/main" rot="0">
            <a:off x="6858000" y="1809750"/>
            <a:ext cx="4286250" cy="781050"/>
          </a:xfrm>
          <a:prstGeom xmlns:a="http://schemas.openxmlformats.org/drawingml/2006/main" prst="roundRect">
            <a:avLst>
              <a:gd name="adj" fmla="val 12195"/>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75" b="0" i="0">
                <a:solidFill>
                  <a:srgbClr val="252A31"/>
                </a:solidFill>
                <a:latin typeface="Cambria Math"/>
                <a:ea typeface="Cambria Math"/>
                <a:cs typeface="Cambria Math"/>
              </a:defRPr>
            </a:pPr>
            <a:r>
              <a:rPr sz="3075" b="0" i="0">
                <a:solidFill>
                  <a:srgbClr val="252A31"/>
                </a:solidFill>
                <a:latin typeface="Cambria Math"/>
                <a:ea typeface="Cambria Math"/>
                <a:cs typeface="Cambria Math"/>
              </a:rPr>
              <a:t>Cov(ε | X) = σ²Iₙ</a:t>
            </a:r>
          </a:p>
        </p:txBody>
      </p:sp>
      <p:sp>
        <p:nvSpPr>
          <p:cNvPr id="6" name="">
            <a:extLst xmlns:a="http://schemas.openxmlformats.org/drawingml/2006/main">
              <a:ext uri="{FF2B5EF4-FFF2-40B4-BE49-F238E27FC236}">
                <a16:creationId xmlns:a16="http://schemas.microsoft.com/office/drawing/2014/main" id="{005B66F6-F062-4259-B52F-524221627232}"/>
              </a:ext>
            </a:extLst>
          </p:cNvPr>
          <p:cNvSpPr>
            <a:spLocks xmlns:a="http://schemas.openxmlformats.org/drawingml/2006/main" noGrp="1"/>
          </p:cNvSpPr>
          <p:nvPr/>
        </p:nvSpPr>
        <p:spPr>
          <a:xfrm xmlns:a="http://schemas.openxmlformats.org/drawingml/2006/main" rot="0">
            <a:off x="6858000" y="28384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Errors have equal variance and distinct observations are uncorrelated.</a:t>
            </a:r>
          </a:p>
        </p:txBody>
      </p:sp>
      <p:sp>
        <p:nvSpPr>
          <p:cNvPr id="7" name="">
            <a:extLst xmlns:a="http://schemas.openxmlformats.org/drawingml/2006/main">
              <a:ext uri="{FF2B5EF4-FFF2-40B4-BE49-F238E27FC236}">
                <a16:creationId xmlns:a16="http://schemas.microsoft.com/office/drawing/2014/main" id="{486771D0-A7B0-41D6-A1C5-4FF7FD2F49F3}"/>
              </a:ext>
            </a:extLst>
          </p:cNvPr>
          <p:cNvSpPr>
            <a:spLocks xmlns:a="http://schemas.openxmlformats.org/drawingml/2006/main" noGrp="1"/>
          </p:cNvSpPr>
          <p:nvPr/>
        </p:nvSpPr>
        <p:spPr>
          <a:xfrm xmlns:a="http://schemas.openxmlformats.org/drawingml/2006/main" rot="0">
            <a:off x="3009900" y="4638675"/>
            <a:ext cx="617220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F7B2222-4C58-413C-944C-8EE056A7340B}"/>
              </a:ext>
            </a:extLst>
          </p:cNvPr>
          <p:cNvSpPr>
            <a:spLocks xmlns:a="http://schemas.openxmlformats.org/drawingml/2006/main" noGrp="1"/>
          </p:cNvSpPr>
          <p:nvPr/>
        </p:nvSpPr>
        <p:spPr>
          <a:xfrm xmlns:a="http://schemas.openxmlformats.org/drawingml/2006/main" rot="0">
            <a:off x="1952625" y="5010150"/>
            <a:ext cx="8286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Normality is not required for unbiasedness, the covariance formula, or Gauss–Markov.</a:t>
            </a:r>
          </a:p>
        </p:txBody>
      </p:sp>
    </p:spTree>
    <p:extLst>
      <p:ext uri="{BB962C8B-B14F-4D97-AF65-F5344CB8AC3E}">
        <p14:creationId xmlns:p14="http://schemas.microsoft.com/office/powerpoint/2010/main" val="508508019"/>
      </p:ext>
    </p:extLst>
  </p:cSld>
</p:sld>
</file>

<file path=ppt/slides/slide1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F79BAC9-31C0-4CBF-96AE-18F7C41CC236}"/>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Unbiasedness</a:t>
            </a:r>
          </a:p>
        </p:txBody>
      </p:sp>
      <p:sp>
        <p:nvSpPr>
          <p:cNvPr id="2" name="">
            <a:extLst xmlns:a="http://schemas.openxmlformats.org/drawingml/2006/main">
              <a:ext uri="{FF2B5EF4-FFF2-40B4-BE49-F238E27FC236}">
                <a16:creationId xmlns:a16="http://schemas.microsoft.com/office/drawing/2014/main" id="{EE71D02A-C516-4926-A576-5CA7A99B7E15}"/>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AF2EA0BF-5485-4836-9722-95ED8689314F}"/>
              </a:ext>
            </a:extLst>
          </p:cNvPr>
          <p:cNvSpPr>
            <a:spLocks xmlns:a="http://schemas.openxmlformats.org/drawingml/2006/main" noGrp="1"/>
          </p:cNvSpPr>
          <p:nvPr/>
        </p:nvSpPr>
        <p:spPr>
          <a:xfrm xmlns:a="http://schemas.openxmlformats.org/drawingml/2006/main" rot="0">
            <a:off x="1123950" y="1752600"/>
            <a:ext cx="266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E[β̂ | X]</a:t>
            </a:r>
          </a:p>
        </p:txBody>
      </p:sp>
      <p:sp>
        <p:nvSpPr>
          <p:cNvPr id="4" name="">
            <a:extLst xmlns:a="http://schemas.openxmlformats.org/drawingml/2006/main">
              <a:ext uri="{FF2B5EF4-FFF2-40B4-BE49-F238E27FC236}">
                <a16:creationId xmlns:a16="http://schemas.microsoft.com/office/drawing/2014/main" id="{60DF91CF-FEBF-4116-B892-AD070FE81ABC}"/>
              </a:ext>
            </a:extLst>
          </p:cNvPr>
          <p:cNvSpPr>
            <a:spLocks xmlns:a="http://schemas.openxmlformats.org/drawingml/2006/main" noGrp="1"/>
          </p:cNvSpPr>
          <p:nvPr/>
        </p:nvSpPr>
        <p:spPr>
          <a:xfrm xmlns:a="http://schemas.openxmlformats.org/drawingml/2006/main" rot="0">
            <a:off x="4000500" y="1752600"/>
            <a:ext cx="7067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 β + (XᵀX)⁻¹XᵀE[ε | X]</a:t>
            </a:r>
          </a:p>
        </p:txBody>
      </p:sp>
      <p:sp>
        <p:nvSpPr>
          <p:cNvPr id="5" name="">
            <a:extLst xmlns:a="http://schemas.openxmlformats.org/drawingml/2006/main">
              <a:ext uri="{FF2B5EF4-FFF2-40B4-BE49-F238E27FC236}">
                <a16:creationId xmlns:a16="http://schemas.microsoft.com/office/drawing/2014/main" id="{FE9A9915-8EA0-47E5-AEC6-49A51818F8E8}"/>
              </a:ext>
            </a:extLst>
          </p:cNvPr>
          <p:cNvSpPr>
            <a:spLocks xmlns:a="http://schemas.openxmlformats.org/drawingml/2006/main" noGrp="1"/>
          </p:cNvSpPr>
          <p:nvPr/>
        </p:nvSpPr>
        <p:spPr>
          <a:xfrm xmlns:a="http://schemas.openxmlformats.org/drawingml/2006/main" rot="0">
            <a:off x="4000500" y="2533650"/>
            <a:ext cx="285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3150" b="1" i="0">
                <a:solidFill>
                  <a:srgbClr val="A8710A"/>
                </a:solidFill>
                <a:latin typeface="Cambria Math"/>
                <a:ea typeface="Cambria Math"/>
                <a:cs typeface="Cambria Math"/>
              </a:defRPr>
            </a:pPr>
            <a:r>
              <a:rPr sz="3150" b="1" i="0">
                <a:solidFill>
                  <a:srgbClr val="A8710A"/>
                </a:solidFill>
                <a:latin typeface="Cambria Math"/>
                <a:ea typeface="Cambria Math"/>
                <a:cs typeface="Cambria Math"/>
              </a:rPr>
              <a:t>= β</a:t>
            </a:r>
          </a:p>
        </p:txBody>
      </p:sp>
      <p:sp>
        <p:nvSpPr>
          <p:cNvPr id="6" name="">
            <a:extLst xmlns:a="http://schemas.openxmlformats.org/drawingml/2006/main">
              <a:ext uri="{FF2B5EF4-FFF2-40B4-BE49-F238E27FC236}">
                <a16:creationId xmlns:a16="http://schemas.microsoft.com/office/drawing/2014/main" id="{7A238FCD-E705-4A2C-A9F6-498F4E717320}"/>
              </a:ext>
            </a:extLst>
          </p:cNvPr>
          <p:cNvSpPr>
            <a:spLocks xmlns:a="http://schemas.openxmlformats.org/drawingml/2006/main" noGrp="1"/>
          </p:cNvSpPr>
          <p:nvPr/>
        </p:nvSpPr>
        <p:spPr>
          <a:xfrm xmlns:a="http://schemas.openxmlformats.org/drawingml/2006/main" rot="0">
            <a:off x="1123950" y="3638550"/>
            <a:ext cx="9944100" cy="190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741DDAE-701E-4F8F-BA06-36373C7D1C06}"/>
              </a:ext>
            </a:extLst>
          </p:cNvPr>
          <p:cNvSpPr>
            <a:spLocks xmlns:a="http://schemas.openxmlformats.org/drawingml/2006/main" noGrp="1"/>
          </p:cNvSpPr>
          <p:nvPr/>
        </p:nvSpPr>
        <p:spPr>
          <a:xfrm xmlns:a="http://schemas.openxmlformats.org/drawingml/2006/main" rot="0">
            <a:off x="1123950" y="4019550"/>
            <a:ext cx="2286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250" b="1" i="0">
                <a:solidFill>
                  <a:srgbClr val="252A31"/>
                </a:solidFill>
                <a:latin typeface="Georgia"/>
                <a:ea typeface="Georgia"/>
                <a:cs typeface="Georgia"/>
              </a:defRPr>
            </a:pPr>
            <a:r>
              <a:rPr sz="2250" b="1" i="0">
                <a:solidFill>
                  <a:srgbClr val="252A31"/>
                </a:solidFill>
                <a:latin typeface="Georgia"/>
                <a:ea typeface="Georgia"/>
                <a:cs typeface="Georgia"/>
              </a:rPr>
              <a:t>Interpretation</a:t>
            </a:r>
          </a:p>
        </p:txBody>
      </p:sp>
      <p:sp>
        <p:nvSpPr>
          <p:cNvPr id="8" name="">
            <a:extLst xmlns:a="http://schemas.openxmlformats.org/drawingml/2006/main">
              <a:ext uri="{FF2B5EF4-FFF2-40B4-BE49-F238E27FC236}">
                <a16:creationId xmlns:a16="http://schemas.microsoft.com/office/drawing/2014/main" id="{523737DC-C626-4EEE-9ACF-A2C7617AFE39}"/>
              </a:ext>
            </a:extLst>
          </p:cNvPr>
          <p:cNvSpPr>
            <a:spLocks xmlns:a="http://schemas.openxmlformats.org/drawingml/2006/main" noGrp="1"/>
          </p:cNvSpPr>
          <p:nvPr/>
        </p:nvSpPr>
        <p:spPr>
          <a:xfrm xmlns:a="http://schemas.openxmlformats.org/drawingml/2006/main" rot="0">
            <a:off x="1123950" y="4552950"/>
            <a:ext cx="99441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0" i="0">
                <a:solidFill>
                  <a:srgbClr val="252A31"/>
                </a:solidFill>
                <a:latin typeface="Arial"/>
                <a:ea typeface="Arial"/>
                <a:cs typeface="Arial"/>
              </a:defRPr>
            </a:pPr>
            <a:r>
              <a:rPr sz="2175" b="0" i="0">
                <a:solidFill>
                  <a:srgbClr val="252A31"/>
                </a:solidFill>
                <a:latin typeface="Arial"/>
                <a:ea typeface="Arial"/>
                <a:cs typeface="Arial"/>
              </a:rPr>
              <a:t>Across repeated noise realizations with the same design matrix, the average estimate equals the true coefficient vector.</a:t>
            </a:r>
          </a:p>
        </p:txBody>
      </p:sp>
      <p:sp>
        <p:nvSpPr>
          <p:cNvPr id="9" name="">
            <a:extLst xmlns:a="http://schemas.openxmlformats.org/drawingml/2006/main">
              <a:ext uri="{FF2B5EF4-FFF2-40B4-BE49-F238E27FC236}">
                <a16:creationId xmlns:a16="http://schemas.microsoft.com/office/drawing/2014/main" id="{9BD7C93B-5E2D-4CE0-8ADD-D008487A73F1}"/>
              </a:ext>
            </a:extLst>
          </p:cNvPr>
          <p:cNvSpPr>
            <a:spLocks xmlns:a="http://schemas.openxmlformats.org/drawingml/2006/main" noGrp="1"/>
          </p:cNvSpPr>
          <p:nvPr/>
        </p:nvSpPr>
        <p:spPr>
          <a:xfrm xmlns:a="http://schemas.openxmlformats.org/drawingml/2006/main" rot="0">
            <a:off x="1123950" y="5505450"/>
            <a:ext cx="9944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1" i="0">
                <a:solidFill>
                  <a:srgbClr val="A64B3C"/>
                </a:solidFill>
                <a:latin typeface="Arial"/>
                <a:ea typeface="Arial"/>
                <a:cs typeface="Arial"/>
              </a:defRPr>
            </a:pPr>
            <a:r>
              <a:rPr sz="1800" b="1" i="0">
                <a:solidFill>
                  <a:srgbClr val="A64B3C"/>
                </a:solidFill>
                <a:latin typeface="Arial"/>
                <a:ea typeface="Arial"/>
                <a:cs typeface="Arial"/>
              </a:rPr>
              <a:t>One observed estimate can still be far from β.</a:t>
            </a:r>
          </a:p>
        </p:txBody>
      </p:sp>
    </p:spTree>
    <p:extLst>
      <p:ext uri="{BB962C8B-B14F-4D97-AF65-F5344CB8AC3E}">
        <p14:creationId xmlns:p14="http://schemas.microsoft.com/office/powerpoint/2010/main" val="740531370"/>
      </p:ext>
    </p:extLst>
  </p:cSld>
</p:sld>
</file>

<file path=ppt/slides/slide13.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881E8CC-96F5-4E79-9189-A01B3A6F2A4F}"/>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Covariance of least squares</a:t>
            </a:r>
          </a:p>
        </p:txBody>
      </p:sp>
      <p:sp>
        <p:nvSpPr>
          <p:cNvPr id="2" name="">
            <a:extLst xmlns:a="http://schemas.openxmlformats.org/drawingml/2006/main">
              <a:ext uri="{FF2B5EF4-FFF2-40B4-BE49-F238E27FC236}">
                <a16:creationId xmlns:a16="http://schemas.microsoft.com/office/drawing/2014/main" id="{46290D57-B221-476B-826C-CCF66BA35698}"/>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1053B2E4-CF1E-4C6F-BA92-E4BFB8822C49}"/>
              </a:ext>
            </a:extLst>
          </p:cNvPr>
          <p:cNvSpPr>
            <a:spLocks xmlns:a="http://schemas.openxmlformats.org/drawingml/2006/main" noGrp="1"/>
          </p:cNvSpPr>
          <p:nvPr/>
        </p:nvSpPr>
        <p:spPr>
          <a:xfrm xmlns:a="http://schemas.openxmlformats.org/drawingml/2006/main" rot="0">
            <a:off x="1066800" y="1676400"/>
            <a:ext cx="10058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75" b="0" i="0">
                <a:solidFill>
                  <a:srgbClr val="252A31"/>
                </a:solidFill>
                <a:latin typeface="Arial"/>
                <a:ea typeface="Arial"/>
                <a:cs typeface="Arial"/>
              </a:defRPr>
            </a:pPr>
            <a:r>
              <a:rPr sz="2175" b="0" i="0">
                <a:solidFill>
                  <a:srgbClr val="252A31"/>
                </a:solidFill>
                <a:latin typeface="Arial"/>
                <a:ea typeface="Arial"/>
                <a:cs typeface="Arial"/>
              </a:rPr>
              <a:t>Let A = (XᵀX)⁻¹Xᵀ. Then β̂ − β = Aε.</a:t>
            </a:r>
          </a:p>
        </p:txBody>
      </p:sp>
      <p:sp>
        <p:nvSpPr>
          <p:cNvPr id="4" name="">
            <a:extLst xmlns:a="http://schemas.openxmlformats.org/drawingml/2006/main">
              <a:ext uri="{FF2B5EF4-FFF2-40B4-BE49-F238E27FC236}">
                <a16:creationId xmlns:a16="http://schemas.microsoft.com/office/drawing/2014/main" id="{0D715F39-C207-4732-BA46-38088E61DCC8}"/>
              </a:ext>
            </a:extLst>
          </p:cNvPr>
          <p:cNvSpPr>
            <a:spLocks xmlns:a="http://schemas.openxmlformats.org/drawingml/2006/main" noGrp="1"/>
          </p:cNvSpPr>
          <p:nvPr/>
        </p:nvSpPr>
        <p:spPr>
          <a:xfrm xmlns:a="http://schemas.openxmlformats.org/drawingml/2006/main" rot="0">
            <a:off x="1428750" y="2514600"/>
            <a:ext cx="933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Cov(β̂ | X) = A(σ²I)Aᵀ</a:t>
            </a:r>
          </a:p>
        </p:txBody>
      </p:sp>
      <p:sp>
        <p:nvSpPr>
          <p:cNvPr id="5" name="">
            <a:extLst xmlns:a="http://schemas.openxmlformats.org/drawingml/2006/main">
              <a:ext uri="{FF2B5EF4-FFF2-40B4-BE49-F238E27FC236}">
                <a16:creationId xmlns:a16="http://schemas.microsoft.com/office/drawing/2014/main" id="{2BB456BB-BED7-41B5-9ED3-D721AFECF55E}"/>
              </a:ext>
            </a:extLst>
          </p:cNvPr>
          <p:cNvSpPr>
            <a:spLocks xmlns:a="http://schemas.openxmlformats.org/drawingml/2006/main" noGrp="1"/>
          </p:cNvSpPr>
          <p:nvPr/>
        </p:nvSpPr>
        <p:spPr>
          <a:xfrm xmlns:a="http://schemas.openxmlformats.org/drawingml/2006/main" rot="0">
            <a:off x="1428750" y="3209925"/>
            <a:ext cx="9334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550" b="0" i="0">
                <a:solidFill>
                  <a:srgbClr val="252A31"/>
                </a:solidFill>
                <a:latin typeface="Cambria Math"/>
                <a:ea typeface="Cambria Math"/>
                <a:cs typeface="Cambria Math"/>
              </a:defRPr>
            </a:pPr>
            <a:r>
              <a:rPr sz="2550" b="0" i="0">
                <a:solidFill>
                  <a:srgbClr val="252A31"/>
                </a:solidFill>
                <a:latin typeface="Cambria Math"/>
                <a:ea typeface="Cambria Math"/>
                <a:cs typeface="Cambria Math"/>
              </a:rPr>
              <a:t>= σ²(XᵀX)⁻¹XᵀX(XᵀX)⁻¹</a:t>
            </a:r>
          </a:p>
        </p:txBody>
      </p:sp>
      <p:sp>
        <p:nvSpPr>
          <p:cNvPr id="6" name="">
            <a:extLst xmlns:a="http://schemas.openxmlformats.org/drawingml/2006/main">
              <a:ext uri="{FF2B5EF4-FFF2-40B4-BE49-F238E27FC236}">
                <a16:creationId xmlns:a16="http://schemas.microsoft.com/office/drawing/2014/main" id="{3329F212-0A35-4A3A-A671-8E9F95B1F270}"/>
              </a:ext>
            </a:extLst>
          </p:cNvPr>
          <p:cNvSpPr>
            <a:spLocks xmlns:a="http://schemas.openxmlformats.org/drawingml/2006/main" noGrp="1"/>
          </p:cNvSpPr>
          <p:nvPr/>
        </p:nvSpPr>
        <p:spPr>
          <a:xfrm xmlns:a="http://schemas.openxmlformats.org/drawingml/2006/main" rot="0">
            <a:off x="2019300" y="4267200"/>
            <a:ext cx="8153400" cy="876300"/>
          </a:xfrm>
          <a:prstGeom xmlns:a="http://schemas.openxmlformats.org/drawingml/2006/main" prst="roundRect">
            <a:avLst>
              <a:gd name="adj" fmla="val 13043"/>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300" b="1" i="0">
                <a:solidFill>
                  <a:srgbClr val="A8710A"/>
                </a:solidFill>
                <a:latin typeface="Cambria Math"/>
                <a:ea typeface="Cambria Math"/>
                <a:cs typeface="Cambria Math"/>
              </a:defRPr>
            </a:pPr>
            <a:r>
              <a:rPr sz="3300" b="1" i="0">
                <a:solidFill>
                  <a:srgbClr val="A8710A"/>
                </a:solidFill>
                <a:latin typeface="Cambria Math"/>
                <a:ea typeface="Cambria Math"/>
                <a:cs typeface="Cambria Math"/>
              </a:rPr>
              <a:t>Cov(β̂ | X) = σ²(XᵀX)⁻¹</a:t>
            </a:r>
          </a:p>
        </p:txBody>
      </p:sp>
      <p:sp>
        <p:nvSpPr>
          <p:cNvPr id="7" name="">
            <a:extLst xmlns:a="http://schemas.openxmlformats.org/drawingml/2006/main">
              <a:ext uri="{FF2B5EF4-FFF2-40B4-BE49-F238E27FC236}">
                <a16:creationId xmlns:a16="http://schemas.microsoft.com/office/drawing/2014/main" id="{F3B4AFEB-B93B-488B-935A-0B95221B33A0}"/>
              </a:ext>
            </a:extLst>
          </p:cNvPr>
          <p:cNvSpPr>
            <a:spLocks xmlns:a="http://schemas.openxmlformats.org/drawingml/2006/main" noGrp="1"/>
          </p:cNvSpPr>
          <p:nvPr/>
        </p:nvSpPr>
        <p:spPr>
          <a:xfrm xmlns:a="http://schemas.openxmlformats.org/drawingml/2006/main" rot="0">
            <a:off x="2019300" y="5429250"/>
            <a:ext cx="815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The geometry of X controls coefficient uncertainty.</a:t>
            </a:r>
          </a:p>
        </p:txBody>
      </p:sp>
    </p:spTree>
    <p:extLst>
      <p:ext uri="{BB962C8B-B14F-4D97-AF65-F5344CB8AC3E}">
        <p14:creationId xmlns:p14="http://schemas.microsoft.com/office/powerpoint/2010/main" val="1290206972"/>
      </p:ext>
    </p:extLst>
  </p:cSld>
</p:sld>
</file>

<file path=ppt/slides/slide14.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F96251D-9C2F-4089-B42C-8F93FA5571C3}"/>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Correlation as an angle</a:t>
            </a:r>
          </a:p>
        </p:txBody>
      </p:sp>
      <p:sp>
        <p:nvSpPr>
          <p:cNvPr id="2" name="">
            <a:extLst xmlns:a="http://schemas.openxmlformats.org/drawingml/2006/main">
              <a:ext uri="{FF2B5EF4-FFF2-40B4-BE49-F238E27FC236}">
                <a16:creationId xmlns:a16="http://schemas.microsoft.com/office/drawing/2014/main" id="{73F15B26-484A-4F9B-AF9B-539D99D8145C}"/>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14</a:t>
            </a:r>
          </a:p>
        </p:txBody>
      </p:sp>
      <p:sp>
        <p:nvSpPr>
          <p:cNvPr id="3" name="">
            <a:extLst xmlns:a="http://schemas.openxmlformats.org/drawingml/2006/main">
              <a:ext uri="{FF2B5EF4-FFF2-40B4-BE49-F238E27FC236}">
                <a16:creationId xmlns:a16="http://schemas.microsoft.com/office/drawing/2014/main" id="{6A94A927-4ED9-487D-9FC1-D507D6B2EC5B}"/>
              </a:ext>
            </a:extLst>
          </p:cNvPr>
          <p:cNvSpPr>
            <a:spLocks xmlns:a="http://schemas.openxmlformats.org/drawingml/2006/main" noGrp="1"/>
          </p:cNvSpPr>
          <p:nvPr/>
        </p:nvSpPr>
        <p:spPr>
          <a:xfrm xmlns:a="http://schemas.openxmlformats.org/drawingml/2006/main" flipV="1">
            <a:off x="3086100" y="2762250"/>
            <a:ext cx="2762250" cy="2095500"/>
          </a:xfrm>
          <a:prstGeom xmlns:a="http://schemas.openxmlformats.org/drawingml/2006/main" prst="line">
            <a:avLst/>
          </a:prstGeom>
          <a:noFill xmlns:a="http://schemas.openxmlformats.org/drawingml/2006/main"/>
          <a:ln xmlns:a="http://schemas.openxmlformats.org/drawingml/2006/main" w="47625">
            <a:solidFill>
              <a:srgbClr val="A8710A"/>
            </a:solidFill>
            <a:prstDash val="solid"/>
          </a:ln>
        </p:spPr>
      </p:sp>
      <p:sp>
        <p:nvSpPr>
          <p:cNvPr id="4" name="">
            <a:extLst xmlns:a="http://schemas.openxmlformats.org/drawingml/2006/main">
              <a:ext uri="{FF2B5EF4-FFF2-40B4-BE49-F238E27FC236}">
                <a16:creationId xmlns:a16="http://schemas.microsoft.com/office/drawing/2014/main" id="{A9D904E6-65CA-4180-9A46-1279B9E7044C}"/>
              </a:ext>
            </a:extLst>
          </p:cNvPr>
          <p:cNvSpPr>
            <a:spLocks xmlns:a="http://schemas.openxmlformats.org/drawingml/2006/main" noGrp="1"/>
          </p:cNvSpPr>
          <p:nvPr/>
        </p:nvSpPr>
        <p:spPr>
          <a:xfrm xmlns:a="http://schemas.openxmlformats.org/drawingml/2006/main" flipV="1">
            <a:off x="3086100" y="3857625"/>
            <a:ext cx="3476625" cy="1000125"/>
          </a:xfrm>
          <a:prstGeom xmlns:a="http://schemas.openxmlformats.org/drawingml/2006/main" prst="line">
            <a:avLst/>
          </a:prstGeom>
          <a:noFill xmlns:a="http://schemas.openxmlformats.org/drawingml/2006/main"/>
          <a:ln xmlns:a="http://schemas.openxmlformats.org/drawingml/2006/main" w="47625">
            <a:solidFill>
              <a:srgbClr val="2C6A6C"/>
            </a:solidFill>
            <a:prstDash val="solid"/>
          </a:ln>
        </p:spPr>
      </p:sp>
      <p:sp>
        <p:nvSpPr>
          <p:cNvPr id="5" name="">
            <a:extLst xmlns:a="http://schemas.openxmlformats.org/drawingml/2006/main">
              <a:ext uri="{FF2B5EF4-FFF2-40B4-BE49-F238E27FC236}">
                <a16:creationId xmlns:a16="http://schemas.microsoft.com/office/drawing/2014/main" id="{514D219B-A584-4190-943F-A3F1DD9F11EC}"/>
              </a:ext>
            </a:extLst>
          </p:cNvPr>
          <p:cNvSpPr>
            <a:spLocks xmlns:a="http://schemas.openxmlformats.org/drawingml/2006/main" noGrp="1"/>
          </p:cNvSpPr>
          <p:nvPr/>
        </p:nvSpPr>
        <p:spPr>
          <a:xfrm xmlns:a="http://schemas.openxmlformats.org/drawingml/2006/main" rot="0">
            <a:off x="3019425" y="4791075"/>
            <a:ext cx="133350" cy="133350"/>
          </a:xfrm>
          <a:prstGeom xmlns:a="http://schemas.openxmlformats.org/drawingml/2006/main" prst="ellipse">
            <a:avLst/>
          </a:prstGeom>
          <a:solidFill xmlns:a="http://schemas.openxmlformats.org/drawingml/2006/main">
            <a:srgbClr val="252A31"/>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BB708CF-2C24-4F27-872E-782F31633739}"/>
              </a:ext>
            </a:extLst>
          </p:cNvPr>
          <p:cNvSpPr>
            <a:spLocks xmlns:a="http://schemas.openxmlformats.org/drawingml/2006/main" noGrp="1"/>
          </p:cNvSpPr>
          <p:nvPr/>
        </p:nvSpPr>
        <p:spPr>
          <a:xfrm xmlns:a="http://schemas.openxmlformats.org/drawingml/2006/main" rot="0">
            <a:off x="5391150" y="2476500"/>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A8710A"/>
                </a:solidFill>
                <a:latin typeface="Cambria Math"/>
                <a:ea typeface="Cambria Math"/>
                <a:cs typeface="Cambria Math"/>
              </a:defRPr>
            </a:pPr>
            <a:r>
              <a:rPr sz="2100" b="1" i="0">
                <a:solidFill>
                  <a:srgbClr val="A8710A"/>
                </a:solidFill>
                <a:latin typeface="Cambria Math"/>
                <a:ea typeface="Cambria Math"/>
                <a:cs typeface="Cambria Math"/>
              </a:rPr>
              <a:t>x₁</a:t>
            </a:r>
          </a:p>
        </p:txBody>
      </p:sp>
      <p:sp>
        <p:nvSpPr>
          <p:cNvPr id="7" name="">
            <a:extLst xmlns:a="http://schemas.openxmlformats.org/drawingml/2006/main">
              <a:ext uri="{FF2B5EF4-FFF2-40B4-BE49-F238E27FC236}">
                <a16:creationId xmlns:a16="http://schemas.microsoft.com/office/drawing/2014/main" id="{4FC2F67F-F872-42B0-8C09-560737BC6143}"/>
              </a:ext>
            </a:extLst>
          </p:cNvPr>
          <p:cNvSpPr>
            <a:spLocks xmlns:a="http://schemas.openxmlformats.org/drawingml/2006/main" noGrp="1"/>
          </p:cNvSpPr>
          <p:nvPr/>
        </p:nvSpPr>
        <p:spPr>
          <a:xfrm xmlns:a="http://schemas.openxmlformats.org/drawingml/2006/main" rot="0">
            <a:off x="6438900" y="3619500"/>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C6A6C"/>
                </a:solidFill>
                <a:latin typeface="Cambria Math"/>
                <a:ea typeface="Cambria Math"/>
                <a:cs typeface="Cambria Math"/>
              </a:defRPr>
            </a:pPr>
            <a:r>
              <a:rPr sz="2100" b="1" i="0">
                <a:solidFill>
                  <a:srgbClr val="2C6A6C"/>
                </a:solidFill>
                <a:latin typeface="Cambria Math"/>
                <a:ea typeface="Cambria Math"/>
                <a:cs typeface="Cambria Math"/>
              </a:rPr>
              <a:t>x₂</a:t>
            </a:r>
          </a:p>
        </p:txBody>
      </p:sp>
      <p:sp>
        <p:nvSpPr>
          <p:cNvPr id="8" name="">
            <a:extLst xmlns:a="http://schemas.openxmlformats.org/drawingml/2006/main">
              <a:ext uri="{FF2B5EF4-FFF2-40B4-BE49-F238E27FC236}">
                <a16:creationId xmlns:a16="http://schemas.microsoft.com/office/drawing/2014/main" id="{68EA204D-CEC0-454F-BB18-EF69E5AC1C69}"/>
              </a:ext>
            </a:extLst>
          </p:cNvPr>
          <p:cNvSpPr>
            <a:spLocks xmlns:a="http://schemas.openxmlformats.org/drawingml/2006/main" noGrp="1"/>
          </p:cNvSpPr>
          <p:nvPr/>
        </p:nvSpPr>
        <p:spPr>
          <a:xfrm xmlns:a="http://schemas.openxmlformats.org/drawingml/2006/main" rot="0">
            <a:off x="4267200" y="3857625"/>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θ</a:t>
            </a:r>
          </a:p>
        </p:txBody>
      </p:sp>
      <p:sp>
        <p:nvSpPr>
          <p:cNvPr id="9" name="">
            <a:extLst xmlns:a="http://schemas.openxmlformats.org/drawingml/2006/main">
              <a:ext uri="{FF2B5EF4-FFF2-40B4-BE49-F238E27FC236}">
                <a16:creationId xmlns:a16="http://schemas.microsoft.com/office/drawing/2014/main" id="{8F1636A3-4FE9-4D66-A261-67D00FCC1BC6}"/>
              </a:ext>
            </a:extLst>
          </p:cNvPr>
          <p:cNvSpPr>
            <a:spLocks xmlns:a="http://schemas.openxmlformats.org/drawingml/2006/main" noGrp="1"/>
          </p:cNvSpPr>
          <p:nvPr/>
        </p:nvSpPr>
        <p:spPr>
          <a:xfrm xmlns:a="http://schemas.openxmlformats.org/drawingml/2006/main" rot="0">
            <a:off x="7524750" y="18859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625" b="0" i="0">
                <a:solidFill>
                  <a:srgbClr val="252A31"/>
                </a:solidFill>
                <a:latin typeface="Cambria Math"/>
                <a:ea typeface="Cambria Math"/>
                <a:cs typeface="Cambria Math"/>
              </a:defRPr>
            </a:pPr>
            <a:r>
              <a:rPr sz="2625" b="0" i="0">
                <a:solidFill>
                  <a:srgbClr val="252A31"/>
                </a:solidFill>
                <a:latin typeface="Cambria Math"/>
                <a:ea typeface="Cambria Math"/>
                <a:cs typeface="Cambria Math"/>
              </a:rPr>
              <a:t>‖x₁‖ = ‖x₂‖ = 1</a:t>
            </a:r>
          </a:p>
        </p:txBody>
      </p:sp>
      <p:sp>
        <p:nvSpPr>
          <p:cNvPr id="10" name="">
            <a:extLst xmlns:a="http://schemas.openxmlformats.org/drawingml/2006/main">
              <a:ext uri="{FF2B5EF4-FFF2-40B4-BE49-F238E27FC236}">
                <a16:creationId xmlns:a16="http://schemas.microsoft.com/office/drawing/2014/main" id="{62DF4E32-EF6D-4F5B-9C58-42F8E62C662E}"/>
              </a:ext>
            </a:extLst>
          </p:cNvPr>
          <p:cNvSpPr>
            <a:spLocks xmlns:a="http://schemas.openxmlformats.org/drawingml/2006/main" noGrp="1"/>
          </p:cNvSpPr>
          <p:nvPr/>
        </p:nvSpPr>
        <p:spPr>
          <a:xfrm xmlns:a="http://schemas.openxmlformats.org/drawingml/2006/main" rot="0">
            <a:off x="7524750" y="2876550"/>
            <a:ext cx="3714750" cy="590550"/>
          </a:xfrm>
          <a:prstGeom xmlns:a="http://schemas.openxmlformats.org/drawingml/2006/main" prst="roundRect">
            <a:avLst>
              <a:gd name="adj" fmla="val 16129"/>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r = x₁ᵀx₂</a:t>
            </a:r>
          </a:p>
        </p:txBody>
      </p:sp>
      <p:sp>
        <p:nvSpPr>
          <p:cNvPr id="11" name="">
            <a:extLst xmlns:a="http://schemas.openxmlformats.org/drawingml/2006/main">
              <a:ext uri="{FF2B5EF4-FFF2-40B4-BE49-F238E27FC236}">
                <a16:creationId xmlns:a16="http://schemas.microsoft.com/office/drawing/2014/main" id="{5B43F2D6-A908-4522-9E95-49D63B579536}"/>
              </a:ext>
            </a:extLst>
          </p:cNvPr>
          <p:cNvSpPr>
            <a:spLocks xmlns:a="http://schemas.openxmlformats.org/drawingml/2006/main" noGrp="1"/>
          </p:cNvSpPr>
          <p:nvPr/>
        </p:nvSpPr>
        <p:spPr>
          <a:xfrm xmlns:a="http://schemas.openxmlformats.org/drawingml/2006/main" rot="0">
            <a:off x="7524750" y="3733800"/>
            <a:ext cx="3714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375" b="1" i="0">
                <a:solidFill>
                  <a:srgbClr val="A8710A"/>
                </a:solidFill>
                <a:latin typeface="Cambria Math"/>
                <a:ea typeface="Cambria Math"/>
                <a:cs typeface="Cambria Math"/>
              </a:defRPr>
            </a:pPr>
            <a:r>
              <a:rPr sz="3375" b="1" i="0">
                <a:solidFill>
                  <a:srgbClr val="A8710A"/>
                </a:solidFill>
                <a:latin typeface="Cambria Math"/>
                <a:ea typeface="Cambria Math"/>
                <a:cs typeface="Cambria Math"/>
              </a:rPr>
              <a:t>r = cos θ</a:t>
            </a:r>
          </a:p>
        </p:txBody>
      </p:sp>
      <p:sp>
        <p:nvSpPr>
          <p:cNvPr id="12" name="">
            <a:extLst xmlns:a="http://schemas.openxmlformats.org/drawingml/2006/main">
              <a:ext uri="{FF2B5EF4-FFF2-40B4-BE49-F238E27FC236}">
                <a16:creationId xmlns:a16="http://schemas.microsoft.com/office/drawing/2014/main" id="{FB27831E-A95F-4DE7-A11C-4F037E7EEF51}"/>
              </a:ext>
            </a:extLst>
          </p:cNvPr>
          <p:cNvSpPr>
            <a:spLocks xmlns:a="http://schemas.openxmlformats.org/drawingml/2006/main" noGrp="1"/>
          </p:cNvSpPr>
          <p:nvPr/>
        </p:nvSpPr>
        <p:spPr>
          <a:xfrm xmlns:a="http://schemas.openxmlformats.org/drawingml/2006/main" rot="0">
            <a:off x="7524750" y="4800600"/>
            <a:ext cx="3714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252A31"/>
                </a:solidFill>
                <a:latin typeface="Arial"/>
                <a:ea typeface="Arial"/>
                <a:cs typeface="Arial"/>
              </a:defRPr>
            </a:pPr>
            <a:r>
              <a:rPr sz="2025" b="0" i="0">
                <a:solidFill>
                  <a:srgbClr val="252A31"/>
                </a:solidFill>
                <a:latin typeface="Arial"/>
                <a:ea typeface="Arial"/>
                <a:cs typeface="Arial"/>
              </a:rPr>
              <a:t>Cauchy–Schwarz gives |r| ≤ 1.</a:t>
            </a:r>
          </a:p>
        </p:txBody>
      </p:sp>
      <p:sp>
        <p:nvSpPr>
          <p:cNvPr id="13" name="">
            <a:extLst xmlns:a="http://schemas.openxmlformats.org/drawingml/2006/main">
              <a:ext uri="{FF2B5EF4-FFF2-40B4-BE49-F238E27FC236}">
                <a16:creationId xmlns:a16="http://schemas.microsoft.com/office/drawing/2014/main" id="{0B56016F-6A4F-432E-8958-FAB175CEDD25}"/>
              </a:ext>
            </a:extLst>
          </p:cNvPr>
          <p:cNvSpPr>
            <a:spLocks xmlns:a="http://schemas.openxmlformats.org/drawingml/2006/main" noGrp="1"/>
          </p:cNvSpPr>
          <p:nvPr/>
        </p:nvSpPr>
        <p:spPr>
          <a:xfrm xmlns:a="http://schemas.openxmlformats.org/drawingml/2006/main" rot="0">
            <a:off x="1333500" y="5638800"/>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650" b="0" i="0">
                <a:solidFill>
                  <a:srgbClr val="68717D"/>
                </a:solidFill>
                <a:latin typeface="Arial"/>
                <a:ea typeface="Arial"/>
                <a:cs typeface="Arial"/>
              </a:defRPr>
            </a:pPr>
            <a:r>
              <a:rPr sz="1650" b="0" i="0">
                <a:solidFill>
                  <a:srgbClr val="68717D"/>
                </a:solidFill>
                <a:latin typeface="Arial"/>
                <a:ea typeface="Arial"/>
                <a:cs typeface="Arial"/>
              </a:rPr>
              <a:t>Center the columns before applying this interpretation.</a:t>
            </a:r>
          </a:p>
        </p:txBody>
      </p:sp>
    </p:spTree>
    <p:extLst>
      <p:ext uri="{BB962C8B-B14F-4D97-AF65-F5344CB8AC3E}">
        <p14:creationId xmlns:p14="http://schemas.microsoft.com/office/powerpoint/2010/main" val="804891550"/>
      </p:ext>
    </p:extLst>
  </p:cSld>
</p:sld>
</file>

<file path=ppt/slides/slide15.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617D44-7CA7-4297-9249-116750F63093}"/>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Gram matrix XᵀX</a:t>
            </a:r>
          </a:p>
        </p:txBody>
      </p:sp>
      <p:sp>
        <p:nvSpPr>
          <p:cNvPr id="2" name="">
            <a:extLst xmlns:a="http://schemas.openxmlformats.org/drawingml/2006/main">
              <a:ext uri="{FF2B5EF4-FFF2-40B4-BE49-F238E27FC236}">
                <a16:creationId xmlns:a16="http://schemas.microsoft.com/office/drawing/2014/main" id="{72DA8137-8D70-4281-A126-E1045CBC6A5B}"/>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15</a:t>
            </a:r>
          </a:p>
        </p:txBody>
      </p:sp>
      <p:sp>
        <p:nvSpPr>
          <p:cNvPr id="3" name="">
            <a:extLst xmlns:a="http://schemas.openxmlformats.org/drawingml/2006/main">
              <a:ext uri="{FF2B5EF4-FFF2-40B4-BE49-F238E27FC236}">
                <a16:creationId xmlns:a16="http://schemas.microsoft.com/office/drawing/2014/main" id="{4C8C8B23-FF07-4C12-85F5-1F394E554E4D}"/>
              </a:ext>
            </a:extLst>
          </p:cNvPr>
          <p:cNvSpPr>
            <a:spLocks xmlns:a="http://schemas.openxmlformats.org/drawingml/2006/main" noGrp="1"/>
          </p:cNvSpPr>
          <p:nvPr/>
        </p:nvSpPr>
        <p:spPr>
          <a:xfrm xmlns:a="http://schemas.openxmlformats.org/drawingml/2006/main" rot="0">
            <a:off x="876300" y="1695450"/>
            <a:ext cx="6191250" cy="1581150"/>
          </a:xfrm>
          <a:prstGeom xmlns:a="http://schemas.openxmlformats.org/drawingml/2006/main" prst="roundRect">
            <a:avLst>
              <a:gd name="adj" fmla="val 6024"/>
            </a:avLst>
          </a:prstGeom>
          <a:solidFill xmlns:a="http://schemas.openxmlformats.org/drawingml/2006/main">
            <a:srgbClr val="FFFDF8"/>
          </a:solidFill>
          <a:ln xmlns:a="http://schemas.openxmlformats.org/drawingml/2006/main" w="9525">
            <a:solidFill>
              <a:srgbClr val="D9D9D3"/>
            </a:solidFill>
            <a:prstDash val="solid"/>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XᵀX =  [  1      r₁₂     ⋯</a:t>
            </a:r>
          </a:p>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              r₂₁      1      ⋯</a:t>
            </a:r>
          </a:p>
          <a:p xmlns:a="http://schemas.openxmlformats.org/drawingml/2006/main">
            <a:pPr algn="ctr">
              <a:lnSpc>
                <a:spcPct val="105000"/>
              </a:lnSpc>
              <a:buNone/>
              <a:defRPr sz="2475" b="0" i="0">
                <a:solidFill>
                  <a:srgbClr val="252A31"/>
                </a:solidFill>
                <a:latin typeface="Cambria Math"/>
                <a:ea typeface="Cambria Math"/>
                <a:cs typeface="Cambria Math"/>
              </a:defRPr>
            </a:pPr>
            <a:r>
              <a:rPr sz="2475" b="0" i="0">
                <a:solidFill>
                  <a:srgbClr val="252A31"/>
                </a:solidFill>
                <a:latin typeface="Cambria Math"/>
                <a:ea typeface="Cambria Math"/>
                <a:cs typeface="Cambria Math"/>
              </a:rPr>
              <a:t>               ⋮       ⋮      ⋱  ]</a:t>
            </a:r>
          </a:p>
        </p:txBody>
      </p:sp>
      <p:sp>
        <p:nvSpPr>
          <p:cNvPr id="4" name="">
            <a:extLst xmlns:a="http://schemas.openxmlformats.org/drawingml/2006/main">
              <a:ext uri="{FF2B5EF4-FFF2-40B4-BE49-F238E27FC236}">
                <a16:creationId xmlns:a16="http://schemas.microsoft.com/office/drawing/2014/main" id="{05A4880E-4598-4033-A713-C2000BB14894}"/>
              </a:ext>
            </a:extLst>
          </p:cNvPr>
          <p:cNvSpPr>
            <a:spLocks xmlns:a="http://schemas.openxmlformats.org/drawingml/2006/main" noGrp="1"/>
          </p:cNvSpPr>
          <p:nvPr/>
        </p:nvSpPr>
        <p:spPr>
          <a:xfrm xmlns:a="http://schemas.openxmlformats.org/drawingml/2006/main" rot="0">
            <a:off x="7524750" y="1695450"/>
            <a:ext cx="19050" cy="34290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816FE79-9D6A-4880-B8BE-E344281F2646}"/>
              </a:ext>
            </a:extLst>
          </p:cNvPr>
          <p:cNvSpPr>
            <a:spLocks xmlns:a="http://schemas.openxmlformats.org/drawingml/2006/main" noGrp="1"/>
          </p:cNvSpPr>
          <p:nvPr/>
        </p:nvSpPr>
        <p:spPr>
          <a:xfrm xmlns:a="http://schemas.openxmlformats.org/drawingml/2006/main" rot="0">
            <a:off x="8020050" y="180975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DIAGONAL</a:t>
            </a:r>
          </a:p>
        </p:txBody>
      </p:sp>
      <p:sp>
        <p:nvSpPr>
          <p:cNvPr id="6" name="">
            <a:extLst xmlns:a="http://schemas.openxmlformats.org/drawingml/2006/main">
              <a:ext uri="{FF2B5EF4-FFF2-40B4-BE49-F238E27FC236}">
                <a16:creationId xmlns:a16="http://schemas.microsoft.com/office/drawing/2014/main" id="{F10D6702-C824-4B06-92B0-61D936C53271}"/>
              </a:ext>
            </a:extLst>
          </p:cNvPr>
          <p:cNvSpPr>
            <a:spLocks xmlns:a="http://schemas.openxmlformats.org/drawingml/2006/main" noGrp="1"/>
          </p:cNvSpPr>
          <p:nvPr/>
        </p:nvSpPr>
        <p:spPr>
          <a:xfrm xmlns:a="http://schemas.openxmlformats.org/drawingml/2006/main" rot="0">
            <a:off x="8020050" y="2171700"/>
            <a:ext cx="3143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Squared lengths of predictor columns</a:t>
            </a:r>
          </a:p>
        </p:txBody>
      </p:sp>
      <p:sp>
        <p:nvSpPr>
          <p:cNvPr id="7" name="">
            <a:extLst xmlns:a="http://schemas.openxmlformats.org/drawingml/2006/main">
              <a:ext uri="{FF2B5EF4-FFF2-40B4-BE49-F238E27FC236}">
                <a16:creationId xmlns:a16="http://schemas.microsoft.com/office/drawing/2014/main" id="{CCED0B9C-FE3F-4117-A799-4832E7D04250}"/>
              </a:ext>
            </a:extLst>
          </p:cNvPr>
          <p:cNvSpPr>
            <a:spLocks xmlns:a="http://schemas.openxmlformats.org/drawingml/2006/main" noGrp="1"/>
          </p:cNvSpPr>
          <p:nvPr/>
        </p:nvSpPr>
        <p:spPr>
          <a:xfrm xmlns:a="http://schemas.openxmlformats.org/drawingml/2006/main" rot="0">
            <a:off x="8020050" y="3286125"/>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OFF DIAGONAL</a:t>
            </a:r>
          </a:p>
        </p:txBody>
      </p:sp>
      <p:sp>
        <p:nvSpPr>
          <p:cNvPr id="8" name="">
            <a:extLst xmlns:a="http://schemas.openxmlformats.org/drawingml/2006/main">
              <a:ext uri="{FF2B5EF4-FFF2-40B4-BE49-F238E27FC236}">
                <a16:creationId xmlns:a16="http://schemas.microsoft.com/office/drawing/2014/main" id="{36131326-3556-40B0-B241-1021DC689F1C}"/>
              </a:ext>
            </a:extLst>
          </p:cNvPr>
          <p:cNvSpPr>
            <a:spLocks xmlns:a="http://schemas.openxmlformats.org/drawingml/2006/main" noGrp="1"/>
          </p:cNvSpPr>
          <p:nvPr/>
        </p:nvSpPr>
        <p:spPr>
          <a:xfrm xmlns:a="http://schemas.openxmlformats.org/drawingml/2006/main" rot="0">
            <a:off x="8020050" y="3648075"/>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i="0">
                <a:solidFill>
                  <a:srgbClr val="252A31"/>
                </a:solidFill>
                <a:latin typeface="Arial"/>
                <a:ea typeface="Arial"/>
                <a:cs typeface="Arial"/>
              </a:defRPr>
            </a:pPr>
            <a:r>
              <a:rPr sz="2025" b="1" i="0">
                <a:solidFill>
                  <a:srgbClr val="252A31"/>
                </a:solidFill>
                <a:latin typeface="Arial"/>
                <a:ea typeface="Arial"/>
                <a:cs typeface="Arial"/>
              </a:rPr>
              <a:t>Pairwise inner products, which become correlations after scaling</a:t>
            </a:r>
          </a:p>
        </p:txBody>
      </p:sp>
      <p:sp>
        <p:nvSpPr>
          <p:cNvPr id="9" name="">
            <a:extLst xmlns:a="http://schemas.openxmlformats.org/drawingml/2006/main">
              <a:ext uri="{FF2B5EF4-FFF2-40B4-BE49-F238E27FC236}">
                <a16:creationId xmlns:a16="http://schemas.microsoft.com/office/drawing/2014/main" id="{CB9F6454-795F-49B8-976C-19B487CF2524}"/>
              </a:ext>
            </a:extLst>
          </p:cNvPr>
          <p:cNvSpPr>
            <a:spLocks xmlns:a="http://schemas.openxmlformats.org/drawingml/2006/main" noGrp="1"/>
          </p:cNvSpPr>
          <p:nvPr/>
        </p:nvSpPr>
        <p:spPr>
          <a:xfrm xmlns:a="http://schemas.openxmlformats.org/drawingml/2006/main" rot="0">
            <a:off x="990600" y="3886200"/>
            <a:ext cx="5905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00" b="0" i="0">
                <a:solidFill>
                  <a:srgbClr val="252A31"/>
                </a:solidFill>
                <a:latin typeface="Arial"/>
                <a:ea typeface="Arial"/>
                <a:cs typeface="Arial"/>
              </a:defRPr>
            </a:pPr>
            <a:r>
              <a:rPr sz="2100" b="0" i="0">
                <a:solidFill>
                  <a:srgbClr val="252A31"/>
                </a:solidFill>
                <a:latin typeface="Arial"/>
                <a:ea typeface="Arial"/>
                <a:cs typeface="Arial"/>
              </a:rPr>
              <a:t>Unit length scaling gives tr(XᵀX) = p.</a:t>
            </a:r>
          </a:p>
        </p:txBody>
      </p:sp>
      <p:sp>
        <p:nvSpPr>
          <p:cNvPr id="10" name="">
            <a:extLst xmlns:a="http://schemas.openxmlformats.org/drawingml/2006/main">
              <a:ext uri="{FF2B5EF4-FFF2-40B4-BE49-F238E27FC236}">
                <a16:creationId xmlns:a16="http://schemas.microsoft.com/office/drawing/2014/main" id="{FAC2F24A-BA60-4D70-BE5B-7714415FC426}"/>
              </a:ext>
            </a:extLst>
          </p:cNvPr>
          <p:cNvSpPr>
            <a:spLocks xmlns:a="http://schemas.openxmlformats.org/drawingml/2006/main" noGrp="1"/>
          </p:cNvSpPr>
          <p:nvPr/>
        </p:nvSpPr>
        <p:spPr>
          <a:xfrm xmlns:a="http://schemas.openxmlformats.org/drawingml/2006/main" rot="0">
            <a:off x="1476375" y="4762500"/>
            <a:ext cx="4953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75" b="1" i="0">
                <a:solidFill>
                  <a:srgbClr val="A8710A"/>
                </a:solidFill>
                <a:latin typeface="Cambria Math"/>
                <a:ea typeface="Cambria Math"/>
                <a:cs typeface="Cambria Math"/>
              </a:defRPr>
            </a:pPr>
            <a:r>
              <a:rPr sz="3075" b="1" i="0">
                <a:solidFill>
                  <a:srgbClr val="A8710A"/>
                </a:solidFill>
                <a:latin typeface="Cambria Math"/>
                <a:ea typeface="Cambria Math"/>
                <a:cs typeface="Cambria Math"/>
              </a:rPr>
              <a:t>λ₁ + ··· + λₚ = p</a:t>
            </a:r>
          </a:p>
        </p:txBody>
      </p:sp>
    </p:spTree>
    <p:extLst>
      <p:ext uri="{BB962C8B-B14F-4D97-AF65-F5344CB8AC3E}">
        <p14:creationId xmlns:p14="http://schemas.microsoft.com/office/powerpoint/2010/main" val="497810941"/>
      </p:ext>
    </p:extLst>
  </p:cSld>
</p:sld>
</file>

<file path=ppt/slides/slide16.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5733A0-3BBA-421B-9A82-83019414EECA}"/>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Small eigenvalues amplify noise</a:t>
            </a:r>
          </a:p>
        </p:txBody>
      </p:sp>
      <p:sp>
        <p:nvSpPr>
          <p:cNvPr id="2" name="">
            <a:extLst xmlns:a="http://schemas.openxmlformats.org/drawingml/2006/main">
              <a:ext uri="{FF2B5EF4-FFF2-40B4-BE49-F238E27FC236}">
                <a16:creationId xmlns:a16="http://schemas.microsoft.com/office/drawing/2014/main" id="{1CF4215F-CBA8-4CCD-85D5-AE573E7EF7D8}"/>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16</a:t>
            </a:r>
          </a:p>
        </p:txBody>
      </p:sp>
      <p:sp>
        <p:nvSpPr>
          <p:cNvPr id="3" name="">
            <a:extLst xmlns:a="http://schemas.openxmlformats.org/drawingml/2006/main">
              <a:ext uri="{FF2B5EF4-FFF2-40B4-BE49-F238E27FC236}">
                <a16:creationId xmlns:a16="http://schemas.microsoft.com/office/drawing/2014/main" id="{50781FC8-16C9-4EDD-AB2A-2D8181810B1E}"/>
              </a:ext>
            </a:extLst>
          </p:cNvPr>
          <p:cNvSpPr>
            <a:spLocks xmlns:a="http://schemas.openxmlformats.org/drawingml/2006/main" noGrp="1"/>
          </p:cNvSpPr>
          <p:nvPr/>
        </p:nvSpPr>
        <p:spPr>
          <a:xfrm xmlns:a="http://schemas.openxmlformats.org/drawingml/2006/main" rot="0">
            <a:off x="876300" y="1695450"/>
            <a:ext cx="4000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XᵀX = PΛPᵀ</a:t>
            </a:r>
          </a:p>
        </p:txBody>
      </p:sp>
      <p:sp>
        <p:nvSpPr>
          <p:cNvPr id="4" name="">
            <a:extLst xmlns:a="http://schemas.openxmlformats.org/drawingml/2006/main">
              <a:ext uri="{FF2B5EF4-FFF2-40B4-BE49-F238E27FC236}">
                <a16:creationId xmlns:a16="http://schemas.microsoft.com/office/drawing/2014/main" id="{8EB8EF09-AE50-4E41-BD73-830F8F77A21F}"/>
              </a:ext>
            </a:extLst>
          </p:cNvPr>
          <p:cNvSpPr>
            <a:spLocks xmlns:a="http://schemas.openxmlformats.org/drawingml/2006/main" noGrp="1"/>
          </p:cNvSpPr>
          <p:nvPr/>
        </p:nvSpPr>
        <p:spPr>
          <a:xfrm xmlns:a="http://schemas.openxmlformats.org/drawingml/2006/main" rot="0">
            <a:off x="876300" y="2400300"/>
            <a:ext cx="6191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850" b="0" i="0">
                <a:solidFill>
                  <a:srgbClr val="252A31"/>
                </a:solidFill>
                <a:latin typeface="Cambria Math"/>
                <a:ea typeface="Cambria Math"/>
                <a:cs typeface="Cambria Math"/>
              </a:defRPr>
            </a:pPr>
            <a:r>
              <a:rPr sz="2850" b="0" i="0">
                <a:solidFill>
                  <a:srgbClr val="252A31"/>
                </a:solidFill>
                <a:latin typeface="Cambria Math"/>
                <a:ea typeface="Cambria Math"/>
                <a:cs typeface="Cambria Math"/>
              </a:rPr>
              <a:t>Cov(β̂ | X) = σ²PΛ⁻¹Pᵀ</a:t>
            </a:r>
          </a:p>
        </p:txBody>
      </p:sp>
      <p:sp>
        <p:nvSpPr>
          <p:cNvPr id="5" name="">
            <a:extLst xmlns:a="http://schemas.openxmlformats.org/drawingml/2006/main">
              <a:ext uri="{FF2B5EF4-FFF2-40B4-BE49-F238E27FC236}">
                <a16:creationId xmlns:a16="http://schemas.microsoft.com/office/drawing/2014/main" id="{962E628B-DC06-45A4-9366-BF2905F0AFB4}"/>
              </a:ext>
            </a:extLst>
          </p:cNvPr>
          <p:cNvSpPr>
            <a:spLocks xmlns:a="http://schemas.openxmlformats.org/drawingml/2006/main" noGrp="1"/>
          </p:cNvSpPr>
          <p:nvPr/>
        </p:nvSpPr>
        <p:spPr>
          <a:xfrm xmlns:a="http://schemas.openxmlformats.org/drawingml/2006/main" rot="0">
            <a:off x="876300" y="3514725"/>
            <a:ext cx="10287000" cy="76200"/>
          </a:xfrm>
          <a:prstGeom xmlns:a="http://schemas.openxmlformats.org/drawingml/2006/main" prst="roundRect">
            <a:avLst>
              <a:gd name="adj" fmla="val 50000"/>
            </a:avLst>
          </a:prstGeom>
          <a:solidFill xmlns:a="http://schemas.openxmlformats.org/drawingml/2006/main">
            <a:srgbClr val="D9D9D3"/>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E7B9483-5FC7-4C2C-A1B8-7A10005FD472}"/>
              </a:ext>
            </a:extLst>
          </p:cNvPr>
          <p:cNvSpPr>
            <a:spLocks xmlns:a="http://schemas.openxmlformats.org/drawingml/2006/main" noGrp="1"/>
          </p:cNvSpPr>
          <p:nvPr/>
        </p:nvSpPr>
        <p:spPr>
          <a:xfrm xmlns:a="http://schemas.openxmlformats.org/drawingml/2006/main" rot="0">
            <a:off x="1333500" y="3371850"/>
            <a:ext cx="361950" cy="361950"/>
          </a:xfrm>
          <a:prstGeom xmlns:a="http://schemas.openxmlformats.org/drawingml/2006/main" prst="ellipse">
            <a:avLst/>
          </a:prstGeom>
          <a:solidFill xmlns:a="http://schemas.openxmlformats.org/drawingml/2006/main">
            <a:srgbClr val="A64B3C"/>
          </a:solidFill>
          <a:ln xmlns:a="http://schemas.openxmlformats.org/drawingml/2006/main" w="28575">
            <a:solidFill>
              <a:srgbClr val="FFFFFF"/>
            </a:solidFill>
          </a:ln>
        </p:spPr>
      </p:sp>
      <p:sp>
        <p:nvSpPr>
          <p:cNvPr id="7" name="">
            <a:extLst xmlns:a="http://schemas.openxmlformats.org/drawingml/2006/main">
              <a:ext uri="{FF2B5EF4-FFF2-40B4-BE49-F238E27FC236}">
                <a16:creationId xmlns:a16="http://schemas.microsoft.com/office/drawing/2014/main" id="{24CAFBB3-9983-4F93-9998-BBA62D219909}"/>
              </a:ext>
            </a:extLst>
          </p:cNvPr>
          <p:cNvSpPr>
            <a:spLocks xmlns:a="http://schemas.openxmlformats.org/drawingml/2006/main" noGrp="1"/>
          </p:cNvSpPr>
          <p:nvPr/>
        </p:nvSpPr>
        <p:spPr>
          <a:xfrm xmlns:a="http://schemas.openxmlformats.org/drawingml/2006/main" rot="0">
            <a:off x="9715500" y="3371850"/>
            <a:ext cx="361950" cy="361950"/>
          </a:xfrm>
          <a:prstGeom xmlns:a="http://schemas.openxmlformats.org/drawingml/2006/main" prst="ellipse">
            <a:avLst/>
          </a:prstGeom>
          <a:solidFill xmlns:a="http://schemas.openxmlformats.org/drawingml/2006/main">
            <a:srgbClr val="2C6A6C"/>
          </a:solidFill>
          <a:ln xmlns:a="http://schemas.openxmlformats.org/drawingml/2006/main" w="28575">
            <a:solidFill>
              <a:srgbClr val="FFFFFF"/>
            </a:solidFill>
          </a:ln>
        </p:spPr>
      </p:sp>
      <p:sp>
        <p:nvSpPr>
          <p:cNvPr id="8" name="">
            <a:extLst xmlns:a="http://schemas.openxmlformats.org/drawingml/2006/main">
              <a:ext uri="{FF2B5EF4-FFF2-40B4-BE49-F238E27FC236}">
                <a16:creationId xmlns:a16="http://schemas.microsoft.com/office/drawing/2014/main" id="{C83D141F-81FF-48D3-8EC5-92C67999E5B8}"/>
              </a:ext>
            </a:extLst>
          </p:cNvPr>
          <p:cNvSpPr>
            <a:spLocks xmlns:a="http://schemas.openxmlformats.org/drawingml/2006/main" noGrp="1"/>
          </p:cNvSpPr>
          <p:nvPr/>
        </p:nvSpPr>
        <p:spPr>
          <a:xfrm xmlns:a="http://schemas.openxmlformats.org/drawingml/2006/main" rot="0">
            <a:off x="876300" y="3905250"/>
            <a:ext cx="219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64B3C"/>
                </a:solidFill>
                <a:latin typeface="Arial"/>
                <a:ea typeface="Arial"/>
                <a:cs typeface="Arial"/>
              </a:defRPr>
            </a:pPr>
            <a:r>
              <a:rPr sz="1125" b="1" i="0">
                <a:solidFill>
                  <a:srgbClr val="A64B3C"/>
                </a:solidFill>
                <a:latin typeface="Arial"/>
                <a:ea typeface="Arial"/>
                <a:cs typeface="Arial"/>
              </a:rPr>
              <a:t>SMALL Λⱼ</a:t>
            </a:r>
          </a:p>
        </p:txBody>
      </p:sp>
      <p:sp>
        <p:nvSpPr>
          <p:cNvPr id="9" name="">
            <a:extLst xmlns:a="http://schemas.openxmlformats.org/drawingml/2006/main">
              <a:ext uri="{FF2B5EF4-FFF2-40B4-BE49-F238E27FC236}">
                <a16:creationId xmlns:a16="http://schemas.microsoft.com/office/drawing/2014/main" id="{5CD6C42F-4C7D-4EDC-9A30-BDDF0A8E0206}"/>
              </a:ext>
            </a:extLst>
          </p:cNvPr>
          <p:cNvSpPr>
            <a:spLocks xmlns:a="http://schemas.openxmlformats.org/drawingml/2006/main" noGrp="1"/>
          </p:cNvSpPr>
          <p:nvPr/>
        </p:nvSpPr>
        <p:spPr>
          <a:xfrm xmlns:a="http://schemas.openxmlformats.org/drawingml/2006/main" rot="0">
            <a:off x="876300" y="4295775"/>
            <a:ext cx="3619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Little data variation</a:t>
            </a:r>
          </a:p>
          <a:p xmlns:a="http://schemas.openxmlformats.org/drawingml/2006/main">
            <a:pPr algn="l">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Variance σ²/λⱼ is large</a:t>
            </a:r>
          </a:p>
        </p:txBody>
      </p:sp>
      <p:sp>
        <p:nvSpPr>
          <p:cNvPr id="10" name="">
            <a:extLst xmlns:a="http://schemas.openxmlformats.org/drawingml/2006/main">
              <a:ext uri="{FF2B5EF4-FFF2-40B4-BE49-F238E27FC236}">
                <a16:creationId xmlns:a16="http://schemas.microsoft.com/office/drawing/2014/main" id="{EF1EB717-FB68-4D01-B9E0-46479DBCFB66}"/>
              </a:ext>
            </a:extLst>
          </p:cNvPr>
          <p:cNvSpPr>
            <a:spLocks xmlns:a="http://schemas.openxmlformats.org/drawingml/2006/main" noGrp="1"/>
          </p:cNvSpPr>
          <p:nvPr/>
        </p:nvSpPr>
        <p:spPr>
          <a:xfrm xmlns:a="http://schemas.openxmlformats.org/drawingml/2006/main" rot="0">
            <a:off x="8667750" y="390525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125" b="1" i="0">
                <a:solidFill>
                  <a:srgbClr val="2C6A6C"/>
                </a:solidFill>
                <a:latin typeface="Arial"/>
                <a:ea typeface="Arial"/>
                <a:cs typeface="Arial"/>
              </a:defRPr>
            </a:pPr>
            <a:r>
              <a:rPr sz="1125" b="1" i="0">
                <a:solidFill>
                  <a:srgbClr val="2C6A6C"/>
                </a:solidFill>
                <a:latin typeface="Arial"/>
                <a:ea typeface="Arial"/>
                <a:cs typeface="Arial"/>
              </a:rPr>
              <a:t>LARGE Λⱼ</a:t>
            </a:r>
          </a:p>
        </p:txBody>
      </p:sp>
      <p:sp>
        <p:nvSpPr>
          <p:cNvPr id="11" name="">
            <a:extLst xmlns:a="http://schemas.openxmlformats.org/drawingml/2006/main">
              <a:ext uri="{FF2B5EF4-FFF2-40B4-BE49-F238E27FC236}">
                <a16:creationId xmlns:a16="http://schemas.microsoft.com/office/drawing/2014/main" id="{D5700F16-B0B2-41DC-ACC0-22E34655F8C4}"/>
              </a:ext>
            </a:extLst>
          </p:cNvPr>
          <p:cNvSpPr>
            <a:spLocks xmlns:a="http://schemas.openxmlformats.org/drawingml/2006/main" noGrp="1"/>
          </p:cNvSpPr>
          <p:nvPr/>
        </p:nvSpPr>
        <p:spPr>
          <a:xfrm xmlns:a="http://schemas.openxmlformats.org/drawingml/2006/main" rot="0">
            <a:off x="7620000" y="4295775"/>
            <a:ext cx="35242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Strong data variation</a:t>
            </a:r>
          </a:p>
          <a:p xmlns:a="http://schemas.openxmlformats.org/drawingml/2006/main">
            <a:pPr algn="r">
              <a:lnSpc>
                <a:spcPct val="105000"/>
              </a:lnSpc>
              <a:buNone/>
              <a:defRPr sz="2100" b="1" i="0">
                <a:solidFill>
                  <a:srgbClr val="252A31"/>
                </a:solidFill>
                <a:latin typeface="Arial"/>
                <a:ea typeface="Arial"/>
                <a:cs typeface="Arial"/>
              </a:defRPr>
            </a:pPr>
            <a:r>
              <a:rPr sz="2100" b="1" i="0">
                <a:solidFill>
                  <a:srgbClr val="252A31"/>
                </a:solidFill>
                <a:latin typeface="Arial"/>
                <a:ea typeface="Arial"/>
                <a:cs typeface="Arial"/>
              </a:rPr>
              <a:t>Variance σ²/λⱼ is small</a:t>
            </a:r>
          </a:p>
        </p:txBody>
      </p:sp>
      <p:sp>
        <p:nvSpPr>
          <p:cNvPr id="12" name="">
            <a:extLst xmlns:a="http://schemas.openxmlformats.org/drawingml/2006/main">
              <a:ext uri="{FF2B5EF4-FFF2-40B4-BE49-F238E27FC236}">
                <a16:creationId xmlns:a16="http://schemas.microsoft.com/office/drawing/2014/main" id="{9826ABAB-F4FE-4C95-8766-0EFF7FA27A1B}"/>
              </a:ext>
            </a:extLst>
          </p:cNvPr>
          <p:cNvSpPr>
            <a:spLocks xmlns:a="http://schemas.openxmlformats.org/drawingml/2006/main" noGrp="1"/>
          </p:cNvSpPr>
          <p:nvPr/>
        </p:nvSpPr>
        <p:spPr>
          <a:xfrm xmlns:a="http://schemas.openxmlformats.org/drawingml/2006/main" rot="0">
            <a:off x="1619250" y="5619750"/>
            <a:ext cx="895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0" i="0">
                <a:solidFill>
                  <a:srgbClr val="68717D"/>
                </a:solidFill>
                <a:latin typeface="Arial"/>
                <a:ea typeface="Arial"/>
                <a:cs typeface="Arial"/>
              </a:defRPr>
            </a:pPr>
            <a:r>
              <a:rPr sz="1875" b="0" i="0">
                <a:solidFill>
                  <a:srgbClr val="68717D"/>
                </a:solidFill>
                <a:latin typeface="Arial"/>
                <a:ea typeface="Arial"/>
                <a:cs typeface="Arial"/>
              </a:rPr>
              <a:t>Collinearity leaves some parameter directions weakly identified.</a:t>
            </a:r>
          </a:p>
        </p:txBody>
      </p:sp>
    </p:spTree>
    <p:extLst>
      <p:ext uri="{BB962C8B-B14F-4D97-AF65-F5344CB8AC3E}">
        <p14:creationId xmlns:p14="http://schemas.microsoft.com/office/powerpoint/2010/main" val="739812780"/>
      </p:ext>
    </p:extLst>
  </p:cSld>
</p:sld>
</file>

<file path=ppt/slides/slide17.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0156A52-C0DE-449C-8F1F-DB1402BBB31C}"/>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Vector bias and mean squared error</a:t>
            </a:r>
          </a:p>
        </p:txBody>
      </p:sp>
      <p:sp>
        <p:nvSpPr>
          <p:cNvPr id="2" name="">
            <a:extLst xmlns:a="http://schemas.openxmlformats.org/drawingml/2006/main">
              <a:ext uri="{FF2B5EF4-FFF2-40B4-BE49-F238E27FC236}">
                <a16:creationId xmlns:a16="http://schemas.microsoft.com/office/drawing/2014/main" id="{6D4035FC-B2DB-4B40-86B4-F6D89841B1C6}"/>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17</a:t>
            </a:r>
          </a:p>
        </p:txBody>
      </p:sp>
      <p:sp>
        <p:nvSpPr>
          <p:cNvPr id="3" name="">
            <a:extLst xmlns:a="http://schemas.openxmlformats.org/drawingml/2006/main">
              <a:ext uri="{FF2B5EF4-FFF2-40B4-BE49-F238E27FC236}">
                <a16:creationId xmlns:a16="http://schemas.microsoft.com/office/drawing/2014/main" id="{7E095B83-B9E7-4224-8D88-2748E88385A9}"/>
              </a:ext>
            </a:extLst>
          </p:cNvPr>
          <p:cNvSpPr>
            <a:spLocks xmlns:a="http://schemas.openxmlformats.org/drawingml/2006/main" noGrp="1"/>
          </p:cNvSpPr>
          <p:nvPr/>
        </p:nvSpPr>
        <p:spPr>
          <a:xfrm xmlns:a="http://schemas.openxmlformats.org/drawingml/2006/main" rot="0">
            <a:off x="914400" y="1676400"/>
            <a:ext cx="5334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Bias(β̃) = E[β̃] − β</a:t>
            </a:r>
          </a:p>
        </p:txBody>
      </p:sp>
      <p:sp>
        <p:nvSpPr>
          <p:cNvPr id="4" name="">
            <a:extLst xmlns:a="http://schemas.openxmlformats.org/drawingml/2006/main">
              <a:ext uri="{FF2B5EF4-FFF2-40B4-BE49-F238E27FC236}">
                <a16:creationId xmlns:a16="http://schemas.microsoft.com/office/drawing/2014/main" id="{F6D209D4-A886-451F-A6D2-BC446A726B20}"/>
              </a:ext>
            </a:extLst>
          </p:cNvPr>
          <p:cNvSpPr>
            <a:spLocks xmlns:a="http://schemas.openxmlformats.org/drawingml/2006/main" noGrp="1"/>
          </p:cNvSpPr>
          <p:nvPr/>
        </p:nvSpPr>
        <p:spPr>
          <a:xfrm xmlns:a="http://schemas.openxmlformats.org/drawingml/2006/main" rot="0">
            <a:off x="914400" y="2457450"/>
            <a:ext cx="5334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l">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MSE(β̃) = E‖β̃ − β‖²</a:t>
            </a:r>
          </a:p>
        </p:txBody>
      </p:sp>
      <p:sp>
        <p:nvSpPr>
          <p:cNvPr id="5" name="">
            <a:extLst xmlns:a="http://schemas.openxmlformats.org/drawingml/2006/main">
              <a:ext uri="{FF2B5EF4-FFF2-40B4-BE49-F238E27FC236}">
                <a16:creationId xmlns:a16="http://schemas.microsoft.com/office/drawing/2014/main" id="{F9483DA7-B777-4E03-BD27-F3CA01999DE5}"/>
              </a:ext>
            </a:extLst>
          </p:cNvPr>
          <p:cNvSpPr>
            <a:spLocks xmlns:a="http://schemas.openxmlformats.org/drawingml/2006/main" noGrp="1"/>
          </p:cNvSpPr>
          <p:nvPr/>
        </p:nvSpPr>
        <p:spPr>
          <a:xfrm xmlns:a="http://schemas.openxmlformats.org/drawingml/2006/main" rot="0">
            <a:off x="6667500" y="1657350"/>
            <a:ext cx="19050" cy="179070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DB9DB9B-C7E9-44F6-9604-46A481E7C457}"/>
              </a:ext>
            </a:extLst>
          </p:cNvPr>
          <p:cNvSpPr>
            <a:spLocks xmlns:a="http://schemas.openxmlformats.org/drawingml/2006/main" noGrp="1"/>
          </p:cNvSpPr>
          <p:nvPr/>
        </p:nvSpPr>
        <p:spPr>
          <a:xfrm xmlns:a="http://schemas.openxmlformats.org/drawingml/2006/main" rot="0">
            <a:off x="7143750" y="1809750"/>
            <a:ext cx="3905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A vector estimator has a covariance matrix. A scalar MSE needs the total variance across coefficient directions.</a:t>
            </a:r>
          </a:p>
        </p:txBody>
      </p:sp>
      <p:sp>
        <p:nvSpPr>
          <p:cNvPr id="7" name="">
            <a:extLst xmlns:a="http://schemas.openxmlformats.org/drawingml/2006/main">
              <a:ext uri="{FF2B5EF4-FFF2-40B4-BE49-F238E27FC236}">
                <a16:creationId xmlns:a16="http://schemas.microsoft.com/office/drawing/2014/main" id="{88D3127A-21BB-44E2-9D13-75D9E955FB5F}"/>
              </a:ext>
            </a:extLst>
          </p:cNvPr>
          <p:cNvSpPr>
            <a:spLocks xmlns:a="http://schemas.openxmlformats.org/drawingml/2006/main" noGrp="1"/>
          </p:cNvSpPr>
          <p:nvPr/>
        </p:nvSpPr>
        <p:spPr>
          <a:xfrm xmlns:a="http://schemas.openxmlformats.org/drawingml/2006/main" rot="0">
            <a:off x="1190625" y="3981450"/>
            <a:ext cx="981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00" b="0" i="0">
                <a:solidFill>
                  <a:srgbClr val="252A31"/>
                </a:solidFill>
                <a:latin typeface="Cambria Math"/>
                <a:ea typeface="Cambria Math"/>
                <a:cs typeface="Cambria Math"/>
              </a:defRPr>
            </a:pPr>
            <a:r>
              <a:rPr sz="2700" b="0" i="0">
                <a:solidFill>
                  <a:srgbClr val="252A31"/>
                </a:solidFill>
                <a:latin typeface="Cambria Math"/>
                <a:ea typeface="Cambria Math"/>
                <a:cs typeface="Cambria Math"/>
              </a:rPr>
              <a:t>E‖β̃ − β‖²</a:t>
            </a:r>
          </a:p>
        </p:txBody>
      </p:sp>
      <p:sp>
        <p:nvSpPr>
          <p:cNvPr id="8" name="">
            <a:extLst xmlns:a="http://schemas.openxmlformats.org/drawingml/2006/main">
              <a:ext uri="{FF2B5EF4-FFF2-40B4-BE49-F238E27FC236}">
                <a16:creationId xmlns:a16="http://schemas.microsoft.com/office/drawing/2014/main" id="{18846336-8DA6-435B-92C2-0707ACC7413E}"/>
              </a:ext>
            </a:extLst>
          </p:cNvPr>
          <p:cNvSpPr>
            <a:spLocks xmlns:a="http://schemas.openxmlformats.org/drawingml/2006/main" noGrp="1"/>
          </p:cNvSpPr>
          <p:nvPr/>
        </p:nvSpPr>
        <p:spPr>
          <a:xfrm xmlns:a="http://schemas.openxmlformats.org/drawingml/2006/main" rot="0">
            <a:off x="1190625" y="4572000"/>
            <a:ext cx="981075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150" b="1" i="0">
                <a:solidFill>
                  <a:srgbClr val="A8710A"/>
                </a:solidFill>
                <a:latin typeface="Cambria Math"/>
                <a:ea typeface="Cambria Math"/>
                <a:cs typeface="Cambria Math"/>
              </a:defRPr>
            </a:pPr>
            <a:r>
              <a:rPr sz="3150" b="1" i="0">
                <a:solidFill>
                  <a:srgbClr val="A8710A"/>
                </a:solidFill>
                <a:latin typeface="Cambria Math"/>
                <a:ea typeface="Cambria Math"/>
                <a:cs typeface="Cambria Math"/>
              </a:rPr>
              <a:t>= tr(Cov(β̃)) + ‖Bias(β̃)‖²</a:t>
            </a:r>
          </a:p>
        </p:txBody>
      </p:sp>
      <p:sp>
        <p:nvSpPr>
          <p:cNvPr id="9" name="">
            <a:extLst xmlns:a="http://schemas.openxmlformats.org/drawingml/2006/main">
              <a:ext uri="{FF2B5EF4-FFF2-40B4-BE49-F238E27FC236}">
                <a16:creationId xmlns:a16="http://schemas.microsoft.com/office/drawing/2014/main" id="{F37040FD-C694-4B10-B8D9-C8D2ED9234AC}"/>
              </a:ext>
            </a:extLst>
          </p:cNvPr>
          <p:cNvSpPr>
            <a:spLocks xmlns:a="http://schemas.openxmlformats.org/drawingml/2006/main" noGrp="1"/>
          </p:cNvSpPr>
          <p:nvPr/>
        </p:nvSpPr>
        <p:spPr>
          <a:xfrm xmlns:a="http://schemas.openxmlformats.org/drawingml/2006/main" rot="0">
            <a:off x="1190625" y="5619750"/>
            <a:ext cx="981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0" i="0">
                <a:solidFill>
                  <a:srgbClr val="68717D"/>
                </a:solidFill>
                <a:latin typeface="Arial"/>
                <a:ea typeface="Arial"/>
                <a:cs typeface="Arial"/>
              </a:defRPr>
            </a:pPr>
            <a:r>
              <a:rPr sz="1800" b="0" i="0">
                <a:solidFill>
                  <a:srgbClr val="68717D"/>
                </a:solidFill>
                <a:latin typeface="Arial"/>
                <a:ea typeface="Arial"/>
                <a:cs typeface="Arial"/>
              </a:rPr>
              <a:t>The trace turns the covariance matrix into total coefficient variance.</a:t>
            </a:r>
          </a:p>
        </p:txBody>
      </p:sp>
    </p:spTree>
    <p:extLst>
      <p:ext uri="{BB962C8B-B14F-4D97-AF65-F5344CB8AC3E}">
        <p14:creationId xmlns:p14="http://schemas.microsoft.com/office/powerpoint/2010/main" val="171997612"/>
      </p:ext>
    </p:extLst>
  </p:cSld>
</p:sld>
</file>

<file path=ppt/slides/slide18.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A30738-DFB9-4D19-AEC1-40143791648B}"/>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scope of Gauss–Markov</a:t>
            </a:r>
          </a:p>
        </p:txBody>
      </p:sp>
      <p:sp>
        <p:nvSpPr>
          <p:cNvPr id="2" name="">
            <a:extLst xmlns:a="http://schemas.openxmlformats.org/drawingml/2006/main">
              <a:ext uri="{FF2B5EF4-FFF2-40B4-BE49-F238E27FC236}">
                <a16:creationId xmlns:a16="http://schemas.microsoft.com/office/drawing/2014/main" id="{CDEBEE83-AA57-499D-8121-7E6229CBD9BC}"/>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18</a:t>
            </a:r>
          </a:p>
        </p:txBody>
      </p:sp>
      <p:sp>
        <p:nvSpPr>
          <p:cNvPr id="3" name="">
            <a:extLst xmlns:a="http://schemas.openxmlformats.org/drawingml/2006/main">
              <a:ext uri="{FF2B5EF4-FFF2-40B4-BE49-F238E27FC236}">
                <a16:creationId xmlns:a16="http://schemas.microsoft.com/office/drawing/2014/main" id="{94548E16-C0C0-47F7-9EA5-79BF86FD420A}"/>
              </a:ext>
            </a:extLst>
          </p:cNvPr>
          <p:cNvSpPr>
            <a:spLocks xmlns:a="http://schemas.openxmlformats.org/drawingml/2006/main" noGrp="1"/>
          </p:cNvSpPr>
          <p:nvPr/>
        </p:nvSpPr>
        <p:spPr>
          <a:xfrm xmlns:a="http://schemas.openxmlformats.org/drawingml/2006/main" rot="0">
            <a:off x="1200150" y="1657350"/>
            <a:ext cx="97917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175" b="1" i="0">
                <a:solidFill>
                  <a:srgbClr val="252A31"/>
                </a:solidFill>
                <a:latin typeface="Arial"/>
                <a:ea typeface="Arial"/>
                <a:cs typeface="Arial"/>
              </a:defRPr>
            </a:pPr>
            <a:r>
              <a:rPr sz="2175" b="1" i="0">
                <a:solidFill>
                  <a:srgbClr val="252A31"/>
                </a:solidFill>
                <a:latin typeface="Arial"/>
                <a:ea typeface="Arial"/>
                <a:cs typeface="Arial"/>
              </a:rPr>
              <a:t>Ordinary least squares has the smallest covariance among estimators that satisfy both conditions</a:t>
            </a:r>
          </a:p>
        </p:txBody>
      </p:sp>
      <p:sp>
        <p:nvSpPr>
          <p:cNvPr id="4" name="">
            <a:extLst xmlns:a="http://schemas.openxmlformats.org/drawingml/2006/main">
              <a:ext uri="{FF2B5EF4-FFF2-40B4-BE49-F238E27FC236}">
                <a16:creationId xmlns:a16="http://schemas.microsoft.com/office/drawing/2014/main" id="{78FBD84E-25BD-49AE-B3FD-C3016A9A728A}"/>
              </a:ext>
            </a:extLst>
          </p:cNvPr>
          <p:cNvSpPr>
            <a:spLocks xmlns:a="http://schemas.openxmlformats.org/drawingml/2006/main" noGrp="1"/>
          </p:cNvSpPr>
          <p:nvPr/>
        </p:nvSpPr>
        <p:spPr>
          <a:xfrm xmlns:a="http://schemas.openxmlformats.org/drawingml/2006/main" rot="0">
            <a:off x="1924050" y="2838450"/>
            <a:ext cx="571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3750" b="1" i="0">
                <a:solidFill>
                  <a:srgbClr val="A8710A"/>
                </a:solidFill>
                <a:latin typeface="Georgia"/>
                <a:ea typeface="Georgia"/>
                <a:cs typeface="Georgia"/>
              </a:defRPr>
            </a:pPr>
            <a:r>
              <a:rPr sz="3750" b="1" i="0">
                <a:solidFill>
                  <a:srgbClr val="A8710A"/>
                </a:solidFill>
                <a:latin typeface="Georgia"/>
                <a:ea typeface="Georgia"/>
                <a:cs typeface="Georgia"/>
              </a:rPr>
              <a:t>1</a:t>
            </a:r>
          </a:p>
        </p:txBody>
      </p:sp>
      <p:sp>
        <p:nvSpPr>
          <p:cNvPr id="5" name="">
            <a:extLst xmlns:a="http://schemas.openxmlformats.org/drawingml/2006/main">
              <a:ext uri="{FF2B5EF4-FFF2-40B4-BE49-F238E27FC236}">
                <a16:creationId xmlns:a16="http://schemas.microsoft.com/office/drawing/2014/main" id="{A4E423B3-E9D2-4298-A11B-ACCEB690C911}"/>
              </a:ext>
            </a:extLst>
          </p:cNvPr>
          <p:cNvSpPr>
            <a:spLocks xmlns:a="http://schemas.openxmlformats.org/drawingml/2006/main" noGrp="1"/>
          </p:cNvSpPr>
          <p:nvPr/>
        </p:nvSpPr>
        <p:spPr>
          <a:xfrm xmlns:a="http://schemas.openxmlformats.org/drawingml/2006/main" rot="0">
            <a:off x="2647950" y="295275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400" b="1" i="0">
                <a:solidFill>
                  <a:srgbClr val="252A31"/>
                </a:solidFill>
                <a:latin typeface="Arial"/>
                <a:ea typeface="Arial"/>
                <a:cs typeface="Arial"/>
              </a:defRPr>
            </a:pPr>
            <a:r>
              <a:rPr sz="2400" b="1" i="0">
                <a:solidFill>
                  <a:srgbClr val="252A31"/>
                </a:solidFill>
                <a:latin typeface="Arial"/>
                <a:ea typeface="Arial"/>
                <a:cs typeface="Arial"/>
              </a:rPr>
              <a:t>Linear in Y</a:t>
            </a:r>
          </a:p>
        </p:txBody>
      </p:sp>
      <p:sp>
        <p:nvSpPr>
          <p:cNvPr id="6" name="">
            <a:extLst xmlns:a="http://schemas.openxmlformats.org/drawingml/2006/main">
              <a:ext uri="{FF2B5EF4-FFF2-40B4-BE49-F238E27FC236}">
                <a16:creationId xmlns:a16="http://schemas.microsoft.com/office/drawing/2014/main" id="{00716AAF-BF62-4620-AC0E-EBDFBE1E609C}"/>
              </a:ext>
            </a:extLst>
          </p:cNvPr>
          <p:cNvSpPr>
            <a:spLocks xmlns:a="http://schemas.openxmlformats.org/drawingml/2006/main" noGrp="1"/>
          </p:cNvSpPr>
          <p:nvPr/>
        </p:nvSpPr>
        <p:spPr>
          <a:xfrm xmlns:a="http://schemas.openxmlformats.org/drawingml/2006/main" rot="0">
            <a:off x="6877050" y="2838450"/>
            <a:ext cx="571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3750" b="1" i="0">
                <a:solidFill>
                  <a:srgbClr val="2C6A6C"/>
                </a:solidFill>
                <a:latin typeface="Georgia"/>
                <a:ea typeface="Georgia"/>
                <a:cs typeface="Georgia"/>
              </a:defRPr>
            </a:pPr>
            <a:r>
              <a:rPr sz="3750" b="1" i="0">
                <a:solidFill>
                  <a:srgbClr val="2C6A6C"/>
                </a:solidFill>
                <a:latin typeface="Georgia"/>
                <a:ea typeface="Georgia"/>
                <a:cs typeface="Georgia"/>
              </a:rPr>
              <a:t>2</a:t>
            </a:r>
          </a:p>
        </p:txBody>
      </p:sp>
      <p:sp>
        <p:nvSpPr>
          <p:cNvPr id="7" name="">
            <a:extLst xmlns:a="http://schemas.openxmlformats.org/drawingml/2006/main">
              <a:ext uri="{FF2B5EF4-FFF2-40B4-BE49-F238E27FC236}">
                <a16:creationId xmlns:a16="http://schemas.microsoft.com/office/drawing/2014/main" id="{F71C8F33-DD72-4848-ACEC-86F9714F756D}"/>
              </a:ext>
            </a:extLst>
          </p:cNvPr>
          <p:cNvSpPr>
            <a:spLocks xmlns:a="http://schemas.openxmlformats.org/drawingml/2006/main" noGrp="1"/>
          </p:cNvSpPr>
          <p:nvPr/>
        </p:nvSpPr>
        <p:spPr>
          <a:xfrm xmlns:a="http://schemas.openxmlformats.org/drawingml/2006/main" rot="0">
            <a:off x="7600950" y="29527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400" b="1" i="0">
                <a:solidFill>
                  <a:srgbClr val="252A31"/>
                </a:solidFill>
                <a:latin typeface="Arial"/>
                <a:ea typeface="Arial"/>
                <a:cs typeface="Arial"/>
              </a:defRPr>
            </a:pPr>
            <a:r>
              <a:rPr sz="2400" b="1" i="0">
                <a:solidFill>
                  <a:srgbClr val="252A31"/>
                </a:solidFill>
                <a:latin typeface="Arial"/>
                <a:ea typeface="Arial"/>
                <a:cs typeface="Arial"/>
              </a:rPr>
              <a:t>Unbiased for every β</a:t>
            </a:r>
          </a:p>
        </p:txBody>
      </p:sp>
      <p:sp>
        <p:nvSpPr>
          <p:cNvPr id="8" name="">
            <a:extLst xmlns:a="http://schemas.openxmlformats.org/drawingml/2006/main">
              <a:ext uri="{FF2B5EF4-FFF2-40B4-BE49-F238E27FC236}">
                <a16:creationId xmlns:a16="http://schemas.microsoft.com/office/drawing/2014/main" id="{1AE3DBC2-F26A-4E4E-8F5A-1EDBA3322D6D}"/>
              </a:ext>
            </a:extLst>
          </p:cNvPr>
          <p:cNvSpPr>
            <a:spLocks xmlns:a="http://schemas.openxmlformats.org/drawingml/2006/main" noGrp="1"/>
          </p:cNvSpPr>
          <p:nvPr/>
        </p:nvSpPr>
        <p:spPr>
          <a:xfrm xmlns:a="http://schemas.openxmlformats.org/drawingml/2006/main" rot="0">
            <a:off x="2286000" y="4000500"/>
            <a:ext cx="7620000" cy="742950"/>
          </a:xfrm>
          <a:prstGeom xmlns:a="http://schemas.openxmlformats.org/drawingml/2006/main" prst="roundRect">
            <a:avLst>
              <a:gd name="adj" fmla="val 12821"/>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000" b="0" i="0">
                <a:solidFill>
                  <a:srgbClr val="252A31"/>
                </a:solidFill>
                <a:latin typeface="Cambria Math"/>
                <a:ea typeface="Cambria Math"/>
                <a:cs typeface="Cambria Math"/>
              </a:defRPr>
            </a:pPr>
            <a:r>
              <a:rPr sz="3000" b="0" i="0">
                <a:solidFill>
                  <a:srgbClr val="252A31"/>
                </a:solidFill>
                <a:latin typeface="Cambria Math"/>
                <a:ea typeface="Cambria Math"/>
                <a:cs typeface="Cambria Math"/>
              </a:rPr>
              <a:t>Cov(β̃ | X) − Cov(β̂ | X) ⪰ 0</a:t>
            </a:r>
          </a:p>
        </p:txBody>
      </p:sp>
      <p:sp>
        <p:nvSpPr>
          <p:cNvPr id="9" name="">
            <a:extLst xmlns:a="http://schemas.openxmlformats.org/drawingml/2006/main">
              <a:ext uri="{FF2B5EF4-FFF2-40B4-BE49-F238E27FC236}">
                <a16:creationId xmlns:a16="http://schemas.microsoft.com/office/drawing/2014/main" id="{DFA83DAF-063C-498F-80BD-B9C94BEC4708}"/>
              </a:ext>
            </a:extLst>
          </p:cNvPr>
          <p:cNvSpPr>
            <a:spLocks xmlns:a="http://schemas.openxmlformats.org/drawingml/2006/main" noGrp="1"/>
          </p:cNvSpPr>
          <p:nvPr/>
        </p:nvSpPr>
        <p:spPr>
          <a:xfrm xmlns:a="http://schemas.openxmlformats.org/drawingml/2006/main" rot="0">
            <a:off x="2419350" y="5257800"/>
            <a:ext cx="7353300" cy="19050"/>
          </a:xfrm>
          <a:prstGeom xmlns:a="http://schemas.openxmlformats.org/drawingml/2006/main" prst="rect">
            <a:avLst/>
          </a:prstGeom>
          <a:solidFill xmlns:a="http://schemas.openxmlformats.org/drawingml/2006/main">
            <a:srgbClr val="A64B3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C92AE42-C618-4E63-8625-BE3BCC4A20C9}"/>
              </a:ext>
            </a:extLst>
          </p:cNvPr>
          <p:cNvSpPr>
            <a:spLocks xmlns:a="http://schemas.openxmlformats.org/drawingml/2006/main" noGrp="1"/>
          </p:cNvSpPr>
          <p:nvPr/>
        </p:nvSpPr>
        <p:spPr>
          <a:xfrm xmlns:a="http://schemas.openxmlformats.org/drawingml/2006/main" rot="0">
            <a:off x="2038350" y="5476875"/>
            <a:ext cx="811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1" i="0">
                <a:solidFill>
                  <a:srgbClr val="A64B3C"/>
                </a:solidFill>
                <a:latin typeface="Arial"/>
                <a:ea typeface="Arial"/>
                <a:cs typeface="Arial"/>
              </a:defRPr>
            </a:pPr>
            <a:r>
              <a:rPr sz="2025" b="1" i="0">
                <a:solidFill>
                  <a:srgbClr val="A64B3C"/>
                </a:solidFill>
                <a:latin typeface="Arial"/>
                <a:ea typeface="Arial"/>
                <a:cs typeface="Arial"/>
              </a:rPr>
              <a:t>The theorem does not compare ordinary least squares with biased estimators.</a:t>
            </a:r>
          </a:p>
        </p:txBody>
      </p:sp>
    </p:spTree>
    <p:extLst>
      <p:ext uri="{BB962C8B-B14F-4D97-AF65-F5344CB8AC3E}">
        <p14:creationId xmlns:p14="http://schemas.microsoft.com/office/powerpoint/2010/main" val="1320522193"/>
      </p:ext>
    </p:extLst>
  </p:cSld>
</p:sld>
</file>

<file path=ppt/slides/slide19.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DAC663B-E01A-49F5-916F-BAF03E411D36}"/>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The ridge idea</a:t>
            </a:r>
          </a:p>
        </p:txBody>
      </p:sp>
      <p:sp>
        <p:nvSpPr>
          <p:cNvPr id="2" name="">
            <a:extLst xmlns:a="http://schemas.openxmlformats.org/drawingml/2006/main">
              <a:ext uri="{FF2B5EF4-FFF2-40B4-BE49-F238E27FC236}">
                <a16:creationId xmlns:a16="http://schemas.microsoft.com/office/drawing/2014/main" id="{6B925A1A-1D9A-4899-BCF8-67DD328E6225}"/>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19</a:t>
            </a:r>
          </a:p>
        </p:txBody>
      </p:sp>
      <p:sp>
        <p:nvSpPr>
          <p:cNvPr id="3" name="">
            <a:extLst xmlns:a="http://schemas.openxmlformats.org/drawingml/2006/main">
              <a:ext uri="{FF2B5EF4-FFF2-40B4-BE49-F238E27FC236}">
                <a16:creationId xmlns:a16="http://schemas.microsoft.com/office/drawing/2014/main" id="{5B0ED21B-63D6-4CFD-9157-6C42AAAFB1B8}"/>
              </a:ext>
            </a:extLst>
          </p:cNvPr>
          <p:cNvSpPr>
            <a:spLocks xmlns:a="http://schemas.openxmlformats.org/drawingml/2006/main" noGrp="1"/>
          </p:cNvSpPr>
          <p:nvPr/>
        </p:nvSpPr>
        <p:spPr>
          <a:xfrm xmlns:a="http://schemas.openxmlformats.org/drawingml/2006/main" rot="0">
            <a:off x="971550" y="1714500"/>
            <a:ext cx="409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1" i="0">
                <a:solidFill>
                  <a:srgbClr val="68717D"/>
                </a:solidFill>
                <a:latin typeface="Arial"/>
                <a:ea typeface="Arial"/>
                <a:cs typeface="Arial"/>
              </a:defRPr>
            </a:pPr>
            <a:r>
              <a:rPr sz="1800" b="1" i="0">
                <a:solidFill>
                  <a:srgbClr val="68717D"/>
                </a:solidFill>
                <a:latin typeface="Arial"/>
                <a:ea typeface="Arial"/>
                <a:cs typeface="Arial"/>
              </a:rPr>
              <a:t>Ordinary least squares</a:t>
            </a:r>
          </a:p>
        </p:txBody>
      </p:sp>
      <p:sp>
        <p:nvSpPr>
          <p:cNvPr id="4" name="">
            <a:extLst xmlns:a="http://schemas.openxmlformats.org/drawingml/2006/main">
              <a:ext uri="{FF2B5EF4-FFF2-40B4-BE49-F238E27FC236}">
                <a16:creationId xmlns:a16="http://schemas.microsoft.com/office/drawing/2014/main" id="{3CEFD9E9-796F-4CBF-A0D4-F59E26EE98F2}"/>
              </a:ext>
            </a:extLst>
          </p:cNvPr>
          <p:cNvSpPr>
            <a:spLocks xmlns:a="http://schemas.openxmlformats.org/drawingml/2006/main" noGrp="1"/>
          </p:cNvSpPr>
          <p:nvPr/>
        </p:nvSpPr>
        <p:spPr>
          <a:xfrm xmlns:a="http://schemas.openxmlformats.org/drawingml/2006/main" rot="0">
            <a:off x="762000" y="2247900"/>
            <a:ext cx="4476750" cy="819150"/>
          </a:xfrm>
          <a:prstGeom xmlns:a="http://schemas.openxmlformats.org/drawingml/2006/main" prst="roundRect">
            <a:avLst>
              <a:gd name="adj" fmla="val 11628"/>
            </a:avLst>
          </a:prstGeom>
          <a:solidFill xmlns:a="http://schemas.openxmlformats.org/drawingml/2006/main">
            <a:srgbClr val="FFFDF8"/>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925" b="0" i="0">
                <a:solidFill>
                  <a:srgbClr val="252A31"/>
                </a:solidFill>
                <a:latin typeface="Cambria Math"/>
                <a:ea typeface="Cambria Math"/>
                <a:cs typeface="Cambria Math"/>
              </a:defRPr>
            </a:pPr>
            <a:r>
              <a:rPr sz="2925" b="0" i="0">
                <a:solidFill>
                  <a:srgbClr val="252A31"/>
                </a:solidFill>
                <a:latin typeface="Cambria Math"/>
                <a:ea typeface="Cambria Math"/>
                <a:cs typeface="Cambria Math"/>
              </a:rPr>
              <a:t>β̂ = (XᵀX)⁻¹XᵀY</a:t>
            </a:r>
          </a:p>
        </p:txBody>
      </p:sp>
      <p:sp>
        <p:nvSpPr>
          <p:cNvPr id="5" name="">
            <a:extLst xmlns:a="http://schemas.openxmlformats.org/drawingml/2006/main">
              <a:ext uri="{FF2B5EF4-FFF2-40B4-BE49-F238E27FC236}">
                <a16:creationId xmlns:a16="http://schemas.microsoft.com/office/drawing/2014/main" id="{02635BB8-94B2-4E37-814D-9D927B816758}"/>
              </a:ext>
            </a:extLst>
          </p:cNvPr>
          <p:cNvSpPr>
            <a:spLocks xmlns:a="http://schemas.openxmlformats.org/drawingml/2006/main" noGrp="1"/>
          </p:cNvSpPr>
          <p:nvPr/>
        </p:nvSpPr>
        <p:spPr>
          <a:xfrm xmlns:a="http://schemas.openxmlformats.org/drawingml/2006/main" rot="0">
            <a:off x="7124700" y="1714500"/>
            <a:ext cx="409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00" b="1" i="0">
                <a:solidFill>
                  <a:srgbClr val="A8710A"/>
                </a:solidFill>
                <a:latin typeface="Arial"/>
                <a:ea typeface="Arial"/>
                <a:cs typeface="Arial"/>
              </a:defRPr>
            </a:pPr>
            <a:r>
              <a:rPr sz="1800" b="1" i="0">
                <a:solidFill>
                  <a:srgbClr val="A8710A"/>
                </a:solidFill>
                <a:latin typeface="Arial"/>
                <a:ea typeface="Arial"/>
                <a:cs typeface="Arial"/>
              </a:rPr>
              <a:t>Ridge regression</a:t>
            </a:r>
          </a:p>
        </p:txBody>
      </p:sp>
      <p:sp>
        <p:nvSpPr>
          <p:cNvPr id="6" name="">
            <a:extLst xmlns:a="http://schemas.openxmlformats.org/drawingml/2006/main">
              <a:ext uri="{FF2B5EF4-FFF2-40B4-BE49-F238E27FC236}">
                <a16:creationId xmlns:a16="http://schemas.microsoft.com/office/drawing/2014/main" id="{6BCF5712-AE47-4C82-9CD6-44932858E906}"/>
              </a:ext>
            </a:extLst>
          </p:cNvPr>
          <p:cNvSpPr>
            <a:spLocks xmlns:a="http://schemas.openxmlformats.org/drawingml/2006/main" noGrp="1"/>
          </p:cNvSpPr>
          <p:nvPr/>
        </p:nvSpPr>
        <p:spPr>
          <a:xfrm xmlns:a="http://schemas.openxmlformats.org/drawingml/2006/main" rot="0">
            <a:off x="6477000" y="2247900"/>
            <a:ext cx="4953000" cy="819150"/>
          </a:xfrm>
          <a:prstGeom xmlns:a="http://schemas.openxmlformats.org/drawingml/2006/main" prst="roundRect">
            <a:avLst>
              <a:gd name="adj" fmla="val 11628"/>
            </a:avLst>
          </a:prstGeom>
          <a:solidFill xmlns:a="http://schemas.openxmlformats.org/drawingml/2006/main">
            <a:srgbClr val="EFE4C9"/>
          </a:solidFill>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2775" b="0" i="0">
                <a:solidFill>
                  <a:srgbClr val="252A31"/>
                </a:solidFill>
                <a:latin typeface="Cambria Math"/>
                <a:ea typeface="Cambria Math"/>
                <a:cs typeface="Cambria Math"/>
              </a:defRPr>
            </a:pPr>
            <a:r>
              <a:rPr sz="2775" b="0" i="0">
                <a:solidFill>
                  <a:srgbClr val="252A31"/>
                </a:solidFill>
                <a:latin typeface="Cambria Math"/>
                <a:ea typeface="Cambria Math"/>
                <a:cs typeface="Cambria Math"/>
              </a:rPr>
              <a:t>β̂ₖ = (XᵀX + kI)⁻¹XᵀY</a:t>
            </a:r>
          </a:p>
        </p:txBody>
      </p:sp>
      <p:sp>
        <p:nvSpPr>
          <p:cNvPr id="7" name="">
            <a:extLst xmlns:a="http://schemas.openxmlformats.org/drawingml/2006/main">
              <a:ext uri="{FF2B5EF4-FFF2-40B4-BE49-F238E27FC236}">
                <a16:creationId xmlns:a16="http://schemas.microsoft.com/office/drawing/2014/main" id="{DE36CB9C-EB75-46A8-8DC5-01B39E085958}"/>
              </a:ext>
            </a:extLst>
          </p:cNvPr>
          <p:cNvSpPr>
            <a:spLocks xmlns:a="http://schemas.openxmlformats.org/drawingml/2006/main" noGrp="1"/>
          </p:cNvSpPr>
          <p:nvPr/>
        </p:nvSpPr>
        <p:spPr>
          <a:xfrm xmlns:a="http://schemas.openxmlformats.org/drawingml/2006/main" rot="0">
            <a:off x="6096000" y="1657350"/>
            <a:ext cx="19050" cy="19621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B47886A-53D2-4AA6-85E7-A27B44C38A75}"/>
              </a:ext>
            </a:extLst>
          </p:cNvPr>
          <p:cNvSpPr>
            <a:spLocks xmlns:a="http://schemas.openxmlformats.org/drawingml/2006/main" noGrp="1"/>
          </p:cNvSpPr>
          <p:nvPr/>
        </p:nvSpPr>
        <p:spPr>
          <a:xfrm xmlns:a="http://schemas.openxmlformats.org/drawingml/2006/main" rot="0">
            <a:off x="857250" y="40005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250" b="1" i="0">
                <a:solidFill>
                  <a:srgbClr val="252A31"/>
                </a:solidFill>
                <a:latin typeface="Georgia"/>
                <a:ea typeface="Georgia"/>
                <a:cs typeface="Georgia"/>
              </a:defRPr>
            </a:pPr>
            <a:r>
              <a:rPr sz="2250" b="1" i="0">
                <a:solidFill>
                  <a:srgbClr val="252A31"/>
                </a:solidFill>
                <a:latin typeface="Georgia"/>
                <a:ea typeface="Georgia"/>
                <a:cs typeface="Georgia"/>
              </a:rPr>
              <a:t>In the eigenvector basis</a:t>
            </a:r>
          </a:p>
        </p:txBody>
      </p:sp>
      <p:sp>
        <p:nvSpPr>
          <p:cNvPr id="9" name="">
            <a:extLst xmlns:a="http://schemas.openxmlformats.org/drawingml/2006/main">
              <a:ext uri="{FF2B5EF4-FFF2-40B4-BE49-F238E27FC236}">
                <a16:creationId xmlns:a16="http://schemas.microsoft.com/office/drawing/2014/main" id="{F91BE6DE-359A-4B5D-A855-DA7ABEDEFF63}"/>
              </a:ext>
            </a:extLst>
          </p:cNvPr>
          <p:cNvSpPr>
            <a:spLocks xmlns:a="http://schemas.openxmlformats.org/drawingml/2006/main" noGrp="1"/>
          </p:cNvSpPr>
          <p:nvPr/>
        </p:nvSpPr>
        <p:spPr>
          <a:xfrm xmlns:a="http://schemas.openxmlformats.org/drawingml/2006/main" rot="0">
            <a:off x="2952750" y="4572000"/>
            <a:ext cx="6286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114300" tIns="76200" rIns="114300" bIns="76200" anchor="ctr">
            <a:noAutofit/>
          </a:bodyPr>
          <a:lstStyle xmlns:a="http://schemas.openxmlformats.org/drawingml/2006/main"/>
          <a:p xmlns:a="http://schemas.openxmlformats.org/drawingml/2006/main">
            <a:pPr algn="ctr">
              <a:lnSpc>
                <a:spcPct val="105000"/>
              </a:lnSpc>
              <a:buNone/>
              <a:defRPr sz="3225" b="1" i="0">
                <a:solidFill>
                  <a:srgbClr val="A8710A"/>
                </a:solidFill>
                <a:latin typeface="Cambria Math"/>
                <a:ea typeface="Cambria Math"/>
                <a:cs typeface="Cambria Math"/>
              </a:defRPr>
            </a:pPr>
            <a:r>
              <a:rPr sz="3225" b="1" i="0">
                <a:solidFill>
                  <a:srgbClr val="A8710A"/>
                </a:solidFill>
                <a:latin typeface="Cambria Math"/>
                <a:ea typeface="Cambria Math"/>
                <a:cs typeface="Cambria Math"/>
              </a:rPr>
              <a:t>λⱼ becomes λⱼ + k</a:t>
            </a:r>
          </a:p>
        </p:txBody>
      </p:sp>
      <p:sp>
        <p:nvSpPr>
          <p:cNvPr id="10" name="">
            <a:extLst xmlns:a="http://schemas.openxmlformats.org/drawingml/2006/main">
              <a:ext uri="{FF2B5EF4-FFF2-40B4-BE49-F238E27FC236}">
                <a16:creationId xmlns:a16="http://schemas.microsoft.com/office/drawing/2014/main" id="{1C706020-ACBA-43C8-8D41-ADFDAF314DC3}"/>
              </a:ext>
            </a:extLst>
          </p:cNvPr>
          <p:cNvSpPr>
            <a:spLocks xmlns:a="http://schemas.openxmlformats.org/drawingml/2006/main" noGrp="1"/>
          </p:cNvSpPr>
          <p:nvPr/>
        </p:nvSpPr>
        <p:spPr>
          <a:xfrm xmlns:a="http://schemas.openxmlformats.org/drawingml/2006/main" rot="0">
            <a:off x="1714500" y="5467350"/>
            <a:ext cx="876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025" b="0" i="0">
                <a:solidFill>
                  <a:srgbClr val="68717D"/>
                </a:solidFill>
                <a:latin typeface="Arial"/>
                <a:ea typeface="Arial"/>
                <a:cs typeface="Arial"/>
              </a:defRPr>
            </a:pPr>
            <a:r>
              <a:rPr sz="2025" b="0" i="0">
                <a:solidFill>
                  <a:srgbClr val="68717D"/>
                </a:solidFill>
                <a:latin typeface="Arial"/>
                <a:ea typeface="Arial"/>
                <a:cs typeface="Arial"/>
              </a:rPr>
              <a:t>Adding k protects the inverse from small eigenvalues. The price is bias.</a:t>
            </a:r>
          </a:p>
        </p:txBody>
      </p:sp>
    </p:spTree>
    <p:extLst>
      <p:ext uri="{BB962C8B-B14F-4D97-AF65-F5344CB8AC3E}">
        <p14:creationId xmlns:p14="http://schemas.microsoft.com/office/powerpoint/2010/main" val="113350276"/>
      </p:ext>
    </p:extLst>
  </p:cSld>
</p:sld>
</file>

<file path=ppt/slides/slide20.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0A531EE-A7E1-45F7-9219-0570F7B7F5D2}"/>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Proof workshop I</a:t>
            </a:r>
          </a:p>
        </p:txBody>
      </p:sp>
      <p:sp>
        <p:nvSpPr>
          <p:cNvPr id="2" name="">
            <a:extLst xmlns:a="http://schemas.openxmlformats.org/drawingml/2006/main">
              <a:ext uri="{FF2B5EF4-FFF2-40B4-BE49-F238E27FC236}">
                <a16:creationId xmlns:a16="http://schemas.microsoft.com/office/drawing/2014/main" id="{E11FA788-80A8-45A2-815C-D6ABC4B112DF}"/>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20</a:t>
            </a:r>
          </a:p>
        </p:txBody>
      </p:sp>
      <p:sp>
        <p:nvSpPr>
          <p:cNvPr id="3" name="">
            <a:extLst xmlns:a="http://schemas.openxmlformats.org/drawingml/2006/main">
              <a:ext uri="{FF2B5EF4-FFF2-40B4-BE49-F238E27FC236}">
                <a16:creationId xmlns:a16="http://schemas.microsoft.com/office/drawing/2014/main" id="{A2B534FB-09D7-4ECB-A053-1275F6DB5970}"/>
              </a:ext>
            </a:extLst>
          </p:cNvPr>
          <p:cNvSpPr>
            <a:spLocks xmlns:a="http://schemas.openxmlformats.org/drawingml/2006/main" noGrp="1"/>
          </p:cNvSpPr>
          <p:nvPr/>
        </p:nvSpPr>
        <p:spPr>
          <a:xfrm xmlns:a="http://schemas.openxmlformats.org/drawingml/2006/main" rot="0">
            <a:off x="1009650" y="1676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1</a:t>
            </a:r>
          </a:p>
        </p:txBody>
      </p:sp>
      <p:sp>
        <p:nvSpPr>
          <p:cNvPr id="4" name="">
            <a:extLst xmlns:a="http://schemas.openxmlformats.org/drawingml/2006/main">
              <a:ext uri="{FF2B5EF4-FFF2-40B4-BE49-F238E27FC236}">
                <a16:creationId xmlns:a16="http://schemas.microsoft.com/office/drawing/2014/main" id="{B147FD16-FE29-412E-BBB7-B488BFD9E4B7}"/>
              </a:ext>
            </a:extLst>
          </p:cNvPr>
          <p:cNvSpPr>
            <a:spLocks xmlns:a="http://schemas.openxmlformats.org/drawingml/2006/main" noGrp="1"/>
          </p:cNvSpPr>
          <p:nvPr/>
        </p:nvSpPr>
        <p:spPr>
          <a:xfrm xmlns:a="http://schemas.openxmlformats.org/drawingml/2006/main" rot="0">
            <a:off x="1752600" y="16954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XᵀX is positive semidefinite.</a:t>
            </a:r>
          </a:p>
        </p:txBody>
      </p:sp>
      <p:sp>
        <p:nvSpPr>
          <p:cNvPr id="5" name="">
            <a:extLst xmlns:a="http://schemas.openxmlformats.org/drawingml/2006/main">
              <a:ext uri="{FF2B5EF4-FFF2-40B4-BE49-F238E27FC236}">
                <a16:creationId xmlns:a16="http://schemas.microsoft.com/office/drawing/2014/main" id="{3BF39345-15AC-4846-9F8B-F83498481736}"/>
              </a:ext>
            </a:extLst>
          </p:cNvPr>
          <p:cNvSpPr>
            <a:spLocks xmlns:a="http://schemas.openxmlformats.org/drawingml/2006/main" noGrp="1"/>
          </p:cNvSpPr>
          <p:nvPr/>
        </p:nvSpPr>
        <p:spPr>
          <a:xfrm xmlns:a="http://schemas.openxmlformats.org/drawingml/2006/main" rot="0">
            <a:off x="1009650" y="2514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2</a:t>
            </a:r>
          </a:p>
        </p:txBody>
      </p:sp>
      <p:sp>
        <p:nvSpPr>
          <p:cNvPr id="6" name="">
            <a:extLst xmlns:a="http://schemas.openxmlformats.org/drawingml/2006/main">
              <a:ext uri="{FF2B5EF4-FFF2-40B4-BE49-F238E27FC236}">
                <a16:creationId xmlns:a16="http://schemas.microsoft.com/office/drawing/2014/main" id="{30D6D43D-5C5F-4DAC-BF0F-F2F508D3B898}"/>
              </a:ext>
            </a:extLst>
          </p:cNvPr>
          <p:cNvSpPr>
            <a:spLocks xmlns:a="http://schemas.openxmlformats.org/drawingml/2006/main" noGrp="1"/>
          </p:cNvSpPr>
          <p:nvPr/>
        </p:nvSpPr>
        <p:spPr>
          <a:xfrm xmlns:a="http://schemas.openxmlformats.org/drawingml/2006/main" rot="0">
            <a:off x="1752600" y="25336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XᵀX is invertible exactly when the columns of X are linearly independent.</a:t>
            </a:r>
          </a:p>
        </p:txBody>
      </p:sp>
      <p:sp>
        <p:nvSpPr>
          <p:cNvPr id="7" name="">
            <a:extLst xmlns:a="http://schemas.openxmlformats.org/drawingml/2006/main">
              <a:ext uri="{FF2B5EF4-FFF2-40B4-BE49-F238E27FC236}">
                <a16:creationId xmlns:a16="http://schemas.microsoft.com/office/drawing/2014/main" id="{E124CADB-7C72-4D0E-BA5E-708B34BA01F1}"/>
              </a:ext>
            </a:extLst>
          </p:cNvPr>
          <p:cNvSpPr>
            <a:spLocks xmlns:a="http://schemas.openxmlformats.org/drawingml/2006/main" noGrp="1"/>
          </p:cNvSpPr>
          <p:nvPr/>
        </p:nvSpPr>
        <p:spPr>
          <a:xfrm xmlns:a="http://schemas.openxmlformats.org/drawingml/2006/main" rot="0">
            <a:off x="1009650" y="3352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3</a:t>
            </a:r>
          </a:p>
        </p:txBody>
      </p:sp>
      <p:sp>
        <p:nvSpPr>
          <p:cNvPr id="8" name="">
            <a:extLst xmlns:a="http://schemas.openxmlformats.org/drawingml/2006/main">
              <a:ext uri="{FF2B5EF4-FFF2-40B4-BE49-F238E27FC236}">
                <a16:creationId xmlns:a16="http://schemas.microsoft.com/office/drawing/2014/main" id="{A4FEA3F2-A8DD-49CA-A680-9D3B4C064928}"/>
              </a:ext>
            </a:extLst>
          </p:cNvPr>
          <p:cNvSpPr>
            <a:spLocks xmlns:a="http://schemas.openxmlformats.org/drawingml/2006/main" noGrp="1"/>
          </p:cNvSpPr>
          <p:nvPr/>
        </p:nvSpPr>
        <p:spPr>
          <a:xfrm xmlns:a="http://schemas.openxmlformats.org/drawingml/2006/main" rot="0">
            <a:off x="1752600" y="33718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For centered unit length columns, prove that correlation equals the cosine of their angle and lies in [−1, 1].</a:t>
            </a:r>
          </a:p>
        </p:txBody>
      </p:sp>
      <p:sp>
        <p:nvSpPr>
          <p:cNvPr id="9" name="">
            <a:extLst xmlns:a="http://schemas.openxmlformats.org/drawingml/2006/main">
              <a:ext uri="{FF2B5EF4-FFF2-40B4-BE49-F238E27FC236}">
                <a16:creationId xmlns:a16="http://schemas.microsoft.com/office/drawing/2014/main" id="{31D2039B-11DD-4D1C-A738-C0CF50210597}"/>
              </a:ext>
            </a:extLst>
          </p:cNvPr>
          <p:cNvSpPr>
            <a:spLocks xmlns:a="http://schemas.openxmlformats.org/drawingml/2006/main" noGrp="1"/>
          </p:cNvSpPr>
          <p:nvPr/>
        </p:nvSpPr>
        <p:spPr>
          <a:xfrm xmlns:a="http://schemas.openxmlformats.org/drawingml/2006/main" rot="0">
            <a:off x="1009650" y="41910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A8710A"/>
                </a:solidFill>
                <a:latin typeface="Georgia"/>
                <a:ea typeface="Georgia"/>
                <a:cs typeface="Georgia"/>
              </a:defRPr>
            </a:pPr>
            <a:r>
              <a:rPr sz="2700" b="1" i="0">
                <a:solidFill>
                  <a:srgbClr val="A8710A"/>
                </a:solidFill>
                <a:latin typeface="Georgia"/>
                <a:ea typeface="Georgia"/>
                <a:cs typeface="Georgia"/>
              </a:rPr>
              <a:t>4</a:t>
            </a:r>
          </a:p>
        </p:txBody>
      </p:sp>
      <p:sp>
        <p:nvSpPr>
          <p:cNvPr id="10" name="">
            <a:extLst xmlns:a="http://schemas.openxmlformats.org/drawingml/2006/main">
              <a:ext uri="{FF2B5EF4-FFF2-40B4-BE49-F238E27FC236}">
                <a16:creationId xmlns:a16="http://schemas.microsoft.com/office/drawing/2014/main" id="{4C3B9CD6-427A-4700-9875-C9EEEE50C7E6}"/>
              </a:ext>
            </a:extLst>
          </p:cNvPr>
          <p:cNvSpPr>
            <a:spLocks xmlns:a="http://schemas.openxmlformats.org/drawingml/2006/main" noGrp="1"/>
          </p:cNvSpPr>
          <p:nvPr/>
        </p:nvSpPr>
        <p:spPr>
          <a:xfrm xmlns:a="http://schemas.openxmlformats.org/drawingml/2006/main" rot="0">
            <a:off x="1752600" y="42100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that the eigenvalues of XᵀX sum to p under unit length scaling.</a:t>
            </a:r>
          </a:p>
        </p:txBody>
      </p:sp>
      <p:sp>
        <p:nvSpPr>
          <p:cNvPr id="11" name="">
            <a:extLst xmlns:a="http://schemas.openxmlformats.org/drawingml/2006/main">
              <a:ext uri="{FF2B5EF4-FFF2-40B4-BE49-F238E27FC236}">
                <a16:creationId xmlns:a16="http://schemas.microsoft.com/office/drawing/2014/main" id="{F465AEA5-FB88-48A2-80FE-FED27C30907A}"/>
              </a:ext>
            </a:extLst>
          </p:cNvPr>
          <p:cNvSpPr>
            <a:spLocks xmlns:a="http://schemas.openxmlformats.org/drawingml/2006/main" noGrp="1"/>
          </p:cNvSpPr>
          <p:nvPr/>
        </p:nvSpPr>
        <p:spPr>
          <a:xfrm xmlns:a="http://schemas.openxmlformats.org/drawingml/2006/main" rot="0">
            <a:off x="1009650" y="5238750"/>
            <a:ext cx="10172700" cy="19050"/>
          </a:xfrm>
          <a:prstGeom xmlns:a="http://schemas.openxmlformats.org/drawingml/2006/main" prst="rect">
            <a:avLst/>
          </a:prstGeom>
          <a:solidFill xmlns:a="http://schemas.openxmlformats.org/drawingml/2006/main">
            <a:srgbClr val="A8710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3059768-03EF-455E-BBF7-3491E0FCDF12}"/>
              </a:ext>
            </a:extLst>
          </p:cNvPr>
          <p:cNvSpPr>
            <a:spLocks xmlns:a="http://schemas.openxmlformats.org/drawingml/2006/main" noGrp="1"/>
          </p:cNvSpPr>
          <p:nvPr/>
        </p:nvSpPr>
        <p:spPr>
          <a:xfrm xmlns:a="http://schemas.openxmlformats.org/drawingml/2006/main" rot="0">
            <a:off x="1009650" y="5476875"/>
            <a:ext cx="10172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1" i="0">
                <a:solidFill>
                  <a:srgbClr val="A8710A"/>
                </a:solidFill>
                <a:latin typeface="Arial"/>
                <a:ea typeface="Arial"/>
                <a:cs typeface="Arial"/>
              </a:defRPr>
            </a:pPr>
            <a:r>
              <a:rPr sz="1875" b="1" i="0">
                <a:solidFill>
                  <a:srgbClr val="A8710A"/>
                </a:solidFill>
                <a:latin typeface="Arial"/>
                <a:ea typeface="Arial"/>
                <a:cs typeface="Arial"/>
              </a:rPr>
              <a:t>Work in pairs for 12 minutes. Write each implication explicitly.</a:t>
            </a:r>
          </a:p>
        </p:txBody>
      </p:sp>
    </p:spTree>
    <p:extLst>
      <p:ext uri="{BB962C8B-B14F-4D97-AF65-F5344CB8AC3E}">
        <p14:creationId xmlns:p14="http://schemas.microsoft.com/office/powerpoint/2010/main" val="1656866900"/>
      </p:ext>
    </p:extLst>
  </p:cSld>
</p:sld>
</file>

<file path=ppt/slides/slide21.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CF3E02-EF7F-4F82-9BBC-5425B2A1BD31}"/>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Proof workshop II</a:t>
            </a:r>
          </a:p>
        </p:txBody>
      </p:sp>
      <p:sp>
        <p:nvSpPr>
          <p:cNvPr id="2" name="">
            <a:extLst xmlns:a="http://schemas.openxmlformats.org/drawingml/2006/main">
              <a:ext uri="{FF2B5EF4-FFF2-40B4-BE49-F238E27FC236}">
                <a16:creationId xmlns:a16="http://schemas.microsoft.com/office/drawing/2014/main" id="{31BC35B2-824D-47D5-9E92-A7965187FEF9}"/>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21</a:t>
            </a:r>
          </a:p>
        </p:txBody>
      </p:sp>
      <p:sp>
        <p:nvSpPr>
          <p:cNvPr id="3" name="">
            <a:extLst xmlns:a="http://schemas.openxmlformats.org/drawingml/2006/main">
              <a:ext uri="{FF2B5EF4-FFF2-40B4-BE49-F238E27FC236}">
                <a16:creationId xmlns:a16="http://schemas.microsoft.com/office/drawing/2014/main" id="{0B2C49F7-CCCF-466A-A577-2F86CC79FDFC}"/>
              </a:ext>
            </a:extLst>
          </p:cNvPr>
          <p:cNvSpPr>
            <a:spLocks xmlns:a="http://schemas.openxmlformats.org/drawingml/2006/main" noGrp="1"/>
          </p:cNvSpPr>
          <p:nvPr/>
        </p:nvSpPr>
        <p:spPr>
          <a:xfrm xmlns:a="http://schemas.openxmlformats.org/drawingml/2006/main" rot="0">
            <a:off x="1009650" y="16764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5</a:t>
            </a:r>
          </a:p>
        </p:txBody>
      </p:sp>
      <p:sp>
        <p:nvSpPr>
          <p:cNvPr id="4" name="">
            <a:extLst xmlns:a="http://schemas.openxmlformats.org/drawingml/2006/main">
              <a:ext uri="{FF2B5EF4-FFF2-40B4-BE49-F238E27FC236}">
                <a16:creationId xmlns:a16="http://schemas.microsoft.com/office/drawing/2014/main" id="{A8B37069-9F99-455D-9514-598B21F84999}"/>
              </a:ext>
            </a:extLst>
          </p:cNvPr>
          <p:cNvSpPr>
            <a:spLocks xmlns:a="http://schemas.openxmlformats.org/drawingml/2006/main" noGrp="1"/>
          </p:cNvSpPr>
          <p:nvPr/>
        </p:nvSpPr>
        <p:spPr>
          <a:xfrm xmlns:a="http://schemas.openxmlformats.org/drawingml/2006/main" rot="0">
            <a:off x="1752600" y="16954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Derive the normal equations and the unique least squares estimator under full column rank.</a:t>
            </a:r>
          </a:p>
        </p:txBody>
      </p:sp>
      <p:sp>
        <p:nvSpPr>
          <p:cNvPr id="5" name="">
            <a:extLst xmlns:a="http://schemas.openxmlformats.org/drawingml/2006/main">
              <a:ext uri="{FF2B5EF4-FFF2-40B4-BE49-F238E27FC236}">
                <a16:creationId xmlns:a16="http://schemas.microsoft.com/office/drawing/2014/main" id="{985C3AE0-E94E-447D-93B2-62AB6BEEC3D5}"/>
              </a:ext>
            </a:extLst>
          </p:cNvPr>
          <p:cNvSpPr>
            <a:spLocks xmlns:a="http://schemas.openxmlformats.org/drawingml/2006/main" noGrp="1"/>
          </p:cNvSpPr>
          <p:nvPr/>
        </p:nvSpPr>
        <p:spPr>
          <a:xfrm xmlns:a="http://schemas.openxmlformats.org/drawingml/2006/main" rot="0">
            <a:off x="1009650" y="25146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6</a:t>
            </a:r>
          </a:p>
        </p:txBody>
      </p:sp>
      <p:sp>
        <p:nvSpPr>
          <p:cNvPr id="6" name="">
            <a:extLst xmlns:a="http://schemas.openxmlformats.org/drawingml/2006/main">
              <a:ext uri="{FF2B5EF4-FFF2-40B4-BE49-F238E27FC236}">
                <a16:creationId xmlns:a16="http://schemas.microsoft.com/office/drawing/2014/main" id="{745A1BE6-3EC6-422E-8556-22175F2C32FE}"/>
              </a:ext>
            </a:extLst>
          </p:cNvPr>
          <p:cNvSpPr>
            <a:spLocks xmlns:a="http://schemas.openxmlformats.org/drawingml/2006/main" noGrp="1"/>
          </p:cNvSpPr>
          <p:nvPr/>
        </p:nvSpPr>
        <p:spPr>
          <a:xfrm xmlns:a="http://schemas.openxmlformats.org/drawingml/2006/main" rot="0">
            <a:off x="1752600" y="25336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the conditional unbiasedness and covariance of ordinary least squares.</a:t>
            </a:r>
          </a:p>
        </p:txBody>
      </p:sp>
      <p:sp>
        <p:nvSpPr>
          <p:cNvPr id="7" name="">
            <a:extLst xmlns:a="http://schemas.openxmlformats.org/drawingml/2006/main">
              <a:ext uri="{FF2B5EF4-FFF2-40B4-BE49-F238E27FC236}">
                <a16:creationId xmlns:a16="http://schemas.microsoft.com/office/drawing/2014/main" id="{34CE0F18-2DFB-4CF6-8AB9-BD6EF8A8AB35}"/>
              </a:ext>
            </a:extLst>
          </p:cNvPr>
          <p:cNvSpPr>
            <a:spLocks xmlns:a="http://schemas.openxmlformats.org/drawingml/2006/main" noGrp="1"/>
          </p:cNvSpPr>
          <p:nvPr/>
        </p:nvSpPr>
        <p:spPr>
          <a:xfrm xmlns:a="http://schemas.openxmlformats.org/drawingml/2006/main" rot="0">
            <a:off x="1009650" y="33528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7</a:t>
            </a:r>
          </a:p>
        </p:txBody>
      </p:sp>
      <p:sp>
        <p:nvSpPr>
          <p:cNvPr id="8" name="">
            <a:extLst xmlns:a="http://schemas.openxmlformats.org/drawingml/2006/main">
              <a:ext uri="{FF2B5EF4-FFF2-40B4-BE49-F238E27FC236}">
                <a16:creationId xmlns:a16="http://schemas.microsoft.com/office/drawing/2014/main" id="{525047F6-D170-4D8D-A91F-D7A1B1E9A252}"/>
              </a:ext>
            </a:extLst>
          </p:cNvPr>
          <p:cNvSpPr>
            <a:spLocks xmlns:a="http://schemas.openxmlformats.org/drawingml/2006/main" noGrp="1"/>
          </p:cNvSpPr>
          <p:nvPr/>
        </p:nvSpPr>
        <p:spPr>
          <a:xfrm xmlns:a="http://schemas.openxmlformats.org/drawingml/2006/main" rot="0">
            <a:off x="1752600" y="33718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Prove the vector bias–variance decomposition, including the trace term.</a:t>
            </a:r>
          </a:p>
        </p:txBody>
      </p:sp>
      <p:sp>
        <p:nvSpPr>
          <p:cNvPr id="9" name="">
            <a:extLst xmlns:a="http://schemas.openxmlformats.org/drawingml/2006/main">
              <a:ext uri="{FF2B5EF4-FFF2-40B4-BE49-F238E27FC236}">
                <a16:creationId xmlns:a16="http://schemas.microsoft.com/office/drawing/2014/main" id="{B04597B1-3D8B-4965-B5E7-219A7691CFE2}"/>
              </a:ext>
            </a:extLst>
          </p:cNvPr>
          <p:cNvSpPr>
            <a:spLocks xmlns:a="http://schemas.openxmlformats.org/drawingml/2006/main" noGrp="1"/>
          </p:cNvSpPr>
          <p:nvPr/>
        </p:nvSpPr>
        <p:spPr>
          <a:xfrm xmlns:a="http://schemas.openxmlformats.org/drawingml/2006/main" rot="0">
            <a:off x="1009650" y="4191000"/>
            <a:ext cx="552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2700" b="1" i="0">
                <a:solidFill>
                  <a:srgbClr val="2C6A6C"/>
                </a:solidFill>
                <a:latin typeface="Georgia"/>
                <a:ea typeface="Georgia"/>
                <a:cs typeface="Georgia"/>
              </a:defRPr>
            </a:pPr>
            <a:r>
              <a:rPr sz="2700" b="1" i="0">
                <a:solidFill>
                  <a:srgbClr val="2C6A6C"/>
                </a:solidFill>
                <a:latin typeface="Georgia"/>
                <a:ea typeface="Georgia"/>
                <a:cs typeface="Georgia"/>
              </a:rPr>
              <a:t>8</a:t>
            </a:r>
          </a:p>
        </p:txBody>
      </p:sp>
      <p:sp>
        <p:nvSpPr>
          <p:cNvPr id="10" name="">
            <a:extLst xmlns:a="http://schemas.openxmlformats.org/drawingml/2006/main">
              <a:ext uri="{FF2B5EF4-FFF2-40B4-BE49-F238E27FC236}">
                <a16:creationId xmlns:a16="http://schemas.microsoft.com/office/drawing/2014/main" id="{1AB9CF30-1569-4DC6-92E8-D576DC22BDF7}"/>
              </a:ext>
            </a:extLst>
          </p:cNvPr>
          <p:cNvSpPr>
            <a:spLocks xmlns:a="http://schemas.openxmlformats.org/drawingml/2006/main" noGrp="1"/>
          </p:cNvSpPr>
          <p:nvPr/>
        </p:nvSpPr>
        <p:spPr>
          <a:xfrm xmlns:a="http://schemas.openxmlformats.org/drawingml/2006/main" rot="0">
            <a:off x="1752600" y="4210050"/>
            <a:ext cx="9429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800" b="0" i="0">
                <a:solidFill>
                  <a:srgbClr val="252A31"/>
                </a:solidFill>
                <a:latin typeface="Arial"/>
                <a:ea typeface="Arial"/>
                <a:cs typeface="Arial"/>
              </a:defRPr>
            </a:pPr>
            <a:r>
              <a:rPr sz="1800" b="0" i="0">
                <a:solidFill>
                  <a:srgbClr val="252A31"/>
                </a:solidFill>
                <a:latin typeface="Arial"/>
                <a:ea typeface="Arial"/>
                <a:cs typeface="Arial"/>
              </a:rPr>
              <a:t>For β̃ = cβ̂, derive its MSE and prove which c in [0, 1] minimizes it.</a:t>
            </a:r>
          </a:p>
        </p:txBody>
      </p:sp>
      <p:sp>
        <p:nvSpPr>
          <p:cNvPr id="11" name="">
            <a:extLst xmlns:a="http://schemas.openxmlformats.org/drawingml/2006/main">
              <a:ext uri="{FF2B5EF4-FFF2-40B4-BE49-F238E27FC236}">
                <a16:creationId xmlns:a16="http://schemas.microsoft.com/office/drawing/2014/main" id="{B8AD5257-E4AF-43E4-96EC-52F105E4D143}"/>
              </a:ext>
            </a:extLst>
          </p:cNvPr>
          <p:cNvSpPr>
            <a:spLocks xmlns:a="http://schemas.openxmlformats.org/drawingml/2006/main" noGrp="1"/>
          </p:cNvSpPr>
          <p:nvPr/>
        </p:nvSpPr>
        <p:spPr>
          <a:xfrm xmlns:a="http://schemas.openxmlformats.org/drawingml/2006/main" rot="0">
            <a:off x="1009650" y="5238750"/>
            <a:ext cx="10172700" cy="19050"/>
          </a:xfrm>
          <a:prstGeom xmlns:a="http://schemas.openxmlformats.org/drawingml/2006/main" prst="rect">
            <a:avLst/>
          </a:prstGeom>
          <a:solidFill xmlns:a="http://schemas.openxmlformats.org/drawingml/2006/main">
            <a:srgbClr val="2C6A6C"/>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5A7A3A4-A132-4A46-8950-74DAA25C2317}"/>
              </a:ext>
            </a:extLst>
          </p:cNvPr>
          <p:cNvSpPr>
            <a:spLocks xmlns:a="http://schemas.openxmlformats.org/drawingml/2006/main" noGrp="1"/>
          </p:cNvSpPr>
          <p:nvPr/>
        </p:nvSpPr>
        <p:spPr>
          <a:xfrm xmlns:a="http://schemas.openxmlformats.org/drawingml/2006/main" rot="0">
            <a:off x="1009650" y="5476875"/>
            <a:ext cx="10172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5000"/>
              </a:lnSpc>
              <a:buNone/>
              <a:defRPr sz="1875" b="1" i="0">
                <a:solidFill>
                  <a:srgbClr val="2C6A6C"/>
                </a:solidFill>
                <a:latin typeface="Arial"/>
                <a:ea typeface="Arial"/>
                <a:cs typeface="Arial"/>
              </a:defRPr>
            </a:pPr>
            <a:r>
              <a:rPr sz="1875" b="1" i="0">
                <a:solidFill>
                  <a:srgbClr val="2C6A6C"/>
                </a:solidFill>
                <a:latin typeface="Arial"/>
                <a:ea typeface="Arial"/>
                <a:cs typeface="Arial"/>
              </a:rPr>
              <a:t>Focus on assumptions. Mark the line where each assumption enters.</a:t>
            </a:r>
          </a:p>
        </p:txBody>
      </p:sp>
    </p:spTree>
    <p:extLst>
      <p:ext uri="{BB962C8B-B14F-4D97-AF65-F5344CB8AC3E}">
        <p14:creationId xmlns:p14="http://schemas.microsoft.com/office/powerpoint/2010/main" val="1625796617"/>
      </p:ext>
    </p:extLst>
  </p:cSld>
</p:sld>
</file>

<file path=ppt/slides/slide22.xml><?xml version="1.0" encoding="utf-8"?>
<p:sld xmlns:p="http://schemas.openxmlformats.org/presentationml/2006/main">
  <p:cSld>
    <p:bg>
      <p:bgPr>
        <a:solidFill xmlns:a="http://schemas.openxmlformats.org/drawingml/2006/main">
          <a:srgbClr val="F7F7F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E8886DF1-6EA7-4150-915B-9C8A6048DDB3}"/>
              </a:ext>
            </a:extLst>
          </p:cNvPr>
          <p:cNvSpPr>
            <a:spLocks xmlns:a="http://schemas.openxmlformats.org/drawingml/2006/main" noGrp="1"/>
          </p:cNvSpPr>
          <p:nvPr/>
        </p:nvSpPr>
        <p:spPr>
          <a:xfrm xmlns:a="http://schemas.openxmlformats.org/drawingml/2006/main" rot="0">
            <a:off x="685800" y="6858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266700" tIns="0" rIns="0" bIns="0" anchor="ctr">
            <a:noAutofit/>
          </a:bodyPr>
          <a:lstStyle xmlns:a="http://schemas.openxmlformats.org/drawingml/2006/main"/>
          <a:p xmlns:a="http://schemas.openxmlformats.org/drawingml/2006/main">
            <a:pPr algn="l">
              <a:lnSpc>
                <a:spcPct val="105000"/>
              </a:lnSpc>
              <a:buNone/>
              <a:defRPr sz="3450" b="1" i="0">
                <a:solidFill>
                  <a:srgbClr val="252A31"/>
                </a:solidFill>
                <a:latin typeface="Georgia"/>
                <a:ea typeface="Georgia"/>
                <a:cs typeface="Georgia"/>
              </a:defRPr>
            </a:pPr>
            <a:r>
              <a:rPr sz="3450" b="1" i="0">
                <a:solidFill>
                  <a:srgbClr val="252A31"/>
                </a:solidFill>
                <a:latin typeface="Georgia"/>
                <a:ea typeface="Georgia"/>
                <a:cs typeface="Georgia"/>
              </a:rPr>
              <a:t>Before Session 1</a:t>
            </a:r>
          </a:p>
        </p:txBody>
      </p:sp>
      <p:sp>
        <p:nvSpPr>
          <p:cNvPr id="2" name="">
            <a:extLst xmlns:a="http://schemas.openxmlformats.org/drawingml/2006/main">
              <a:ext uri="{FF2B5EF4-FFF2-40B4-BE49-F238E27FC236}">
                <a16:creationId xmlns:a16="http://schemas.microsoft.com/office/drawing/2014/main" id="{D14DD685-B714-4501-A76A-1E0018A4E041}"/>
              </a:ext>
            </a:extLst>
          </p:cNvPr>
          <p:cNvSpPr>
            <a:spLocks xmlns:a="http://schemas.openxmlformats.org/drawingml/2006/main" noGrp="1"/>
          </p:cNvSpPr>
          <p:nvPr/>
        </p:nvSpPr>
        <p:spPr>
          <a:xfrm xmlns:a="http://schemas.openxmlformats.org/drawingml/2006/main" rot="0">
            <a:off x="10953750" y="6524625"/>
            <a:ext cx="552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5000"/>
              </a:lnSpc>
              <a:buNone/>
              <a:defRPr sz="1050" b="0" i="0">
                <a:solidFill>
                  <a:srgbClr val="68717D"/>
                </a:solidFill>
                <a:latin typeface="Arial"/>
                <a:ea typeface="Arial"/>
                <a:cs typeface="Arial"/>
              </a:defRPr>
            </a:pPr>
            <a:r>
              <a:rPr sz="1050" b="0" i="0">
                <a:solidFill>
                  <a:srgbClr val="68717D"/>
                </a:solidFill>
                <a:latin typeface="Arial"/>
                <a:ea typeface="Arial"/>
                <a:cs typeface="Arial"/>
              </a:rPr>
              <a:t>22</a:t>
            </a:r>
          </a:p>
        </p:txBody>
      </p:sp>
      <p:sp>
        <p:nvSpPr>
          <p:cNvPr id="3" name="">
            <a:extLst xmlns:a="http://schemas.openxmlformats.org/drawingml/2006/main">
              <a:ext uri="{FF2B5EF4-FFF2-40B4-BE49-F238E27FC236}">
                <a16:creationId xmlns:a16="http://schemas.microsoft.com/office/drawing/2014/main" id="{DBC5A1D2-0F88-45E6-A11E-8F15243A6A0B}"/>
              </a:ext>
            </a:extLst>
          </p:cNvPr>
          <p:cNvSpPr>
            <a:spLocks xmlns:a="http://schemas.openxmlformats.org/drawingml/2006/main" noGrp="1"/>
          </p:cNvSpPr>
          <p:nvPr/>
        </p:nvSpPr>
        <p:spPr>
          <a:xfrm xmlns:a="http://schemas.openxmlformats.org/drawingml/2006/main" rot="0">
            <a:off x="876300" y="1619250"/>
            <a:ext cx="590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325" b="1" i="0">
                <a:solidFill>
                  <a:srgbClr val="252A31"/>
                </a:solidFill>
                <a:latin typeface="Georgia"/>
                <a:ea typeface="Georgia"/>
                <a:cs typeface="Georgia"/>
              </a:defRPr>
            </a:pPr>
            <a:r>
              <a:rPr sz="2325" b="1" i="0">
                <a:solidFill>
                  <a:srgbClr val="252A31"/>
                </a:solidFill>
                <a:latin typeface="Georgia"/>
                <a:ea typeface="Georgia"/>
                <a:cs typeface="Georgia"/>
              </a:rPr>
              <a:t>You should now be able to explain</a:t>
            </a:r>
          </a:p>
        </p:txBody>
      </p:sp>
      <p:sp>
        <p:nvSpPr>
          <p:cNvPr id="4" name="">
            <a:extLst xmlns:a="http://schemas.openxmlformats.org/drawingml/2006/main">
              <a:ext uri="{FF2B5EF4-FFF2-40B4-BE49-F238E27FC236}">
                <a16:creationId xmlns:a16="http://schemas.microsoft.com/office/drawing/2014/main" id="{BA1C2039-AE85-4848-B0F6-080E238CC5D1}"/>
              </a:ext>
            </a:extLst>
          </p:cNvPr>
          <p:cNvSpPr>
            <a:spLocks xmlns:a="http://schemas.openxmlformats.org/drawingml/2006/main" noGrp="1"/>
          </p:cNvSpPr>
          <p:nvPr/>
        </p:nvSpPr>
        <p:spPr>
          <a:xfrm xmlns:a="http://schemas.openxmlformats.org/drawingml/2006/main" rot="0">
            <a:off x="971550" y="2238375"/>
            <a:ext cx="47625" cy="266700"/>
          </a:xfrm>
          <a:prstGeom xmlns:a="http://schemas.openxmlformats.org/drawingml/2006/main" prst="roundRect">
            <a:avLst>
              <a:gd name="adj" fmla="val 40000"/>
            </a:avLst>
          </a:prstGeom>
          <a:solidFill xmlns:a="http://schemas.openxmlformats.org/drawingml/2006/main">
            <a:srgbClr val="A871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3A6ABC-5A5B-4ABC-8CBB-F8D06BAA8D4D}"/>
              </a:ext>
            </a:extLst>
          </p:cNvPr>
          <p:cNvSpPr>
            <a:spLocks xmlns:a="http://schemas.openxmlformats.org/drawingml/2006/main" noGrp="1"/>
          </p:cNvSpPr>
          <p:nvPr/>
        </p:nvSpPr>
        <p:spPr>
          <a:xfrm xmlns:a="http://schemas.openxmlformats.org/drawingml/2006/main" rot="0">
            <a:off x="1219200" y="2171700"/>
            <a:ext cx="561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5000"/>
              </a:lnSpc>
              <a:buNone/>
              <a:defRPr sz="1725" b="0" i="0">
                <a:solidFill>
                  <a:srgbClr val="252A31"/>
                </a:solidFill>
                <a:latin typeface="Arial"/>
                <a:ea typeface="Arial"/>
                <a:cs typeface="Arial"/>
              </a:defRPr>
            </a:pPr>
            <a:r>
              <a:rPr sz="1725" b="0" i="0">
                <a:solidFill>
                  <a:srgbClr val="252A31"/>
                </a:solidFill>
                <a:latin typeface="Arial"/>
                <a:ea typeface="Arial"/>
                <a:cs typeface="Arial"/>
              </a:rPr>
              <a:t>when the least squares estimator exists uniquely</a:t>
            </a:r>
          </a:p>
        </p:txBody>
      </p:sp>
      <p:sp>
        <p:nvSpPr>
          <p:cNvPr id="6" name="">
            <a:extLst xmlns:a="http://schemas.openxmlformats.org/drawingml/2006/main">
              <a:ext uri="{FF2B5EF4-FFF2-40B4-BE49-F238E27FC236}">
                <a16:creationId xmlns:a16="http://schemas.microsoft.com/office/drawing/2014/main" id="{8395A2FC-7EE9-4914-9B93-9F6D0042A8C9}"/>
              </a:ext>
            </a:extLst>
          </p:cNvPr>
          <p:cNvSpPr>
            <a:spLocks xmlns:a="http://schemas.openxmlformats.org/drawingml/2006/main" noGrp="1"/>
          </p:cNvSpPr>
          <p:nvPr/>
        </p:nvSpPr>
        <p:spPr>
          <a:xfrm xmlns:a="http://schemas.openxmlformats.org/drawingml/2006/main" rot="0">
            <a:off x="971550" y="2790825"/>
            <a:ext cx="47625" cy="266700"/>
          </a:xfrm>
          <a:prstGeom xmlns:a="http://schemas.openxmlformats.org/drawingml/2006/main" prst="roundRect">
            <a:avLst>
              <a:gd name="adj" fmla="val 40000"/>
            </a:avLst>
          </a:prstGeom>
          <a:solidFill xmlns:a="http://schemas.openxmlformats.org/drawingml/2006/main">
            <a:srgbClr val="A8710A"/>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9DA494B-E5CE-45D8-9A5E-12DD5F689614}"/>
              </a:ext>
            </a:extLst>
          </p:cNvPr>
          <p:cNvSpPr>
            <a:spLocks xmlns:a="http://schemas.openxmlformats.org/drawingml/2006/main" noGrp="1"/>
          </p:cNvSpPr>
          <p:nvPr/>
        </p:nvSpPr>
        <p:spPr>
          <a:xfrm xmlns:a="http://schemas.openxmlformats.org/drawingml/2006/main" rot="0">
            <a:off x="1219200" y="2724150"/>
            <a:ext cx="561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5000"/>
              </a:lnSpc>
              <a:buNone/>
              <a:defRPr sz="1725" b="0" i="0">
                <a:solidFill>
                  <a:srgbClr val="252A31"/>
                </a:solidFill>
                <a:latin typeface="Arial"/>
                <a:ea typeface="Arial"/>
                <a:cs typeface="Arial"/>
              </a:defRPr>
            </a:pPr>
            <a:r>
              <a:rPr sz="1725" b="0" i="0">
                <a:solidFill>
                  <a:srgbClr val="252A31"/>
                </a:solidFill>
                <a:latin typeface="Arial"/>
                <a:ea typeface="Arial"/>
                <a:cs typeface="Arial"/>
              </a:rPr>
              <a:t>why correlated predictors create small eigenvalues</a:t>
            </a:r>
          </a:p>
        </p:txBody>
      </p:sp>
      <p:sp>
        <p:nvSpPr>
          <p:cNvPr id="8" name="">
            <a:extLst xmlns:a="http://schemas.openxmlformats.org/drawingml/2006/main">
              <a:ext uri="{FF2B5EF4-FFF2-40B4-BE49-F238E27FC236}">
                <a16:creationId xmlns:a16="http://schemas.microsoft.com/office/drawing/2014/main" id="{B313C733-62B5-4103-947D-5EE5534800ED}"/>
              </a:ext>
            </a:extLst>
          </p:cNvPr>
          <p:cNvSpPr>
            <a:spLocks xmlns:a="http://schemas.openxmlformats.org/drawingml/2006/main" noGrp="1"/>
          </p:cNvSpPr>
          <p:nvPr/>
        </p:nvSpPr>
        <p:spPr>
          <a:xfrm xmlns:a="http://schemas.openxmlformats.org/drawingml/2006/main" rot="0">
            <a:off x="971550" y="3343275"/>
            <a:ext cx="47625" cy="266700"/>
          </a:xfrm>
          <a:prstGeom xmlns:a="http://schemas.openxmlformats.org/drawingml/2006/main" prst="roundRect">
            <a:avLst>
              <a:gd name="adj" fmla="val 40000"/>
            </a:avLst>
          </a:prstGeom>
          <a:solidFill xmlns:a="http://schemas.openxmlformats.org/drawingml/2006/main">
            <a:srgbClr val="2C6A6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BB0BD2D-F6CB-4818-A1A6-7458998AA952}"/>
              </a:ext>
            </a:extLst>
          </p:cNvPr>
          <p:cNvSpPr>
            <a:spLocks xmlns:a="http://schemas.openxmlformats.org/drawingml/2006/main" noGrp="1"/>
          </p:cNvSpPr>
          <p:nvPr/>
        </p:nvSpPr>
        <p:spPr>
          <a:xfrm xmlns:a="http://schemas.openxmlformats.org/drawingml/2006/main" rot="0">
            <a:off x="1219200" y="3276600"/>
            <a:ext cx="561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5000"/>
              </a:lnSpc>
              <a:buNone/>
              <a:defRPr sz="1725" b="0" i="0">
                <a:solidFill>
                  <a:srgbClr val="252A31"/>
                </a:solidFill>
                <a:latin typeface="Arial"/>
                <a:ea typeface="Arial"/>
                <a:cs typeface="Arial"/>
              </a:defRPr>
            </a:pPr>
            <a:r>
              <a:rPr sz="1725" b="0" i="0">
                <a:solidFill>
                  <a:srgbClr val="252A31"/>
                </a:solidFill>
                <a:latin typeface="Arial"/>
                <a:ea typeface="Arial"/>
                <a:cs typeface="Arial"/>
              </a:rPr>
              <a:t>why small eigenvalues inflate coefficient variance</a:t>
            </a:r>
          </a:p>
        </p:txBody>
      </p:sp>
      <p:sp>
        <p:nvSpPr>
          <p:cNvPr id="10" name="">
            <a:extLst xmlns:a="http://schemas.openxmlformats.org/drawingml/2006/main">
              <a:ext uri="{FF2B5EF4-FFF2-40B4-BE49-F238E27FC236}">
                <a16:creationId xmlns:a16="http://schemas.microsoft.com/office/drawing/2014/main" id="{9B736734-D854-4317-8190-8DB0C433AA02}"/>
              </a:ext>
            </a:extLst>
          </p:cNvPr>
          <p:cNvSpPr>
            <a:spLocks xmlns:a="http://schemas.openxmlformats.org/drawingml/2006/main" noGrp="1"/>
          </p:cNvSpPr>
          <p:nvPr/>
        </p:nvSpPr>
        <p:spPr>
          <a:xfrm xmlns:a="http://schemas.openxmlformats.org/drawingml/2006/main" rot="0">
            <a:off x="971550" y="3895725"/>
            <a:ext cx="47625" cy="266700"/>
          </a:xfrm>
          <a:prstGeom xmlns:a="http://schemas.openxmlformats.org/drawingml/2006/main" prst="roundRect">
            <a:avLst>
              <a:gd name="adj" fmla="val 40000"/>
            </a:avLst>
          </a:prstGeom>
          <a:solidFill xmlns:a="http://schemas.openxmlformats.org/drawingml/2006/main">
            <a:srgbClr val="2C6A6C"/>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E4A8D6C-5C73-40F9-BD66-DFC6447E8035}"/>
              </a:ext>
            </a:extLst>
          </p:cNvPr>
          <p:cNvSpPr>
            <a:spLocks xmlns:a="http://schemas.openxmlformats.org/drawingml/2006/main" noGrp="1"/>
          </p:cNvSpPr>
          <p:nvPr/>
        </p:nvSpPr>
        <p:spPr>
          <a:xfrm xmlns:a="http://schemas.openxmlformats.org/drawingml/2006/main" rot="0">
            <a:off x="1219200" y="3829050"/>
            <a:ext cx="561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5000"/>
              </a:lnSpc>
              <a:buNone/>
              <a:defRPr sz="1725" b="0" i="0">
                <a:solidFill>
                  <a:srgbClr val="252A31"/>
                </a:solidFill>
                <a:latin typeface="Arial"/>
                <a:ea typeface="Arial"/>
                <a:cs typeface="Arial"/>
              </a:defRPr>
            </a:pPr>
            <a:r>
              <a:rPr sz="1725" b="0" i="0">
                <a:solidFill>
                  <a:srgbClr val="252A31"/>
                </a:solidFill>
                <a:latin typeface="Arial"/>
                <a:ea typeface="Arial"/>
                <a:cs typeface="Arial"/>
              </a:rPr>
              <a:t>what Gauss–Markov does and does not guarantee</a:t>
            </a:r>
          </a:p>
        </p:txBody>
      </p:sp>
      <p:sp>
        <p:nvSpPr>
          <p:cNvPr id="12" name="">
            <a:extLst xmlns:a="http://schemas.openxmlformats.org/drawingml/2006/main">
              <a:ext uri="{FF2B5EF4-FFF2-40B4-BE49-F238E27FC236}">
                <a16:creationId xmlns:a16="http://schemas.microsoft.com/office/drawing/2014/main" id="{437C409D-E2A9-4673-A774-151B02635926}"/>
              </a:ext>
            </a:extLst>
          </p:cNvPr>
          <p:cNvSpPr>
            <a:spLocks xmlns:a="http://schemas.openxmlformats.org/drawingml/2006/main" noGrp="1"/>
          </p:cNvSpPr>
          <p:nvPr/>
        </p:nvSpPr>
        <p:spPr>
          <a:xfrm xmlns:a="http://schemas.openxmlformats.org/drawingml/2006/main" rot="0">
            <a:off x="971550" y="4448175"/>
            <a:ext cx="47625" cy="266700"/>
          </a:xfrm>
          <a:prstGeom xmlns:a="http://schemas.openxmlformats.org/drawingml/2006/main" prst="roundRect">
            <a:avLst>
              <a:gd name="adj" fmla="val 40000"/>
            </a:avLst>
          </a:prstGeom>
          <a:solidFill xmlns:a="http://schemas.openxmlformats.org/drawingml/2006/main">
            <a:srgbClr val="2C6A6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A908028-FEC6-46F8-BDE3-235479F6FFFF}"/>
              </a:ext>
            </a:extLst>
          </p:cNvPr>
          <p:cNvSpPr>
            <a:spLocks xmlns:a="http://schemas.openxmlformats.org/drawingml/2006/main" noGrp="1"/>
          </p:cNvSpPr>
          <p:nvPr/>
        </p:nvSpPr>
        <p:spPr>
          <a:xfrm xmlns:a="http://schemas.openxmlformats.org/drawingml/2006/main" rot="0">
            <a:off x="1219200" y="4381500"/>
            <a:ext cx="561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5000"/>
              </a:lnSpc>
              <a:buNone/>
              <a:defRPr sz="1725" b="0" i="0">
                <a:solidFill>
                  <a:srgbClr val="252A31"/>
                </a:solidFill>
                <a:latin typeface="Arial"/>
                <a:ea typeface="Arial"/>
                <a:cs typeface="Arial"/>
              </a:defRPr>
            </a:pPr>
            <a:r>
              <a:rPr sz="1725" b="0" i="0">
                <a:solidFill>
                  <a:srgbClr val="252A31"/>
                </a:solidFill>
                <a:latin typeface="Arial"/>
                <a:ea typeface="Arial"/>
                <a:cs typeface="Arial"/>
              </a:rPr>
              <a:t>how bias can reduce total MSE</a:t>
            </a:r>
          </a:p>
        </p:txBody>
      </p:sp>
      <p:sp>
        <p:nvSpPr>
          <p:cNvPr id="14" name="">
            <a:extLst xmlns:a="http://schemas.openxmlformats.org/drawingml/2006/main">
              <a:ext uri="{FF2B5EF4-FFF2-40B4-BE49-F238E27FC236}">
                <a16:creationId xmlns:a16="http://schemas.microsoft.com/office/drawing/2014/main" id="{F5412A7A-CC62-4680-83C3-629EB9BFE79B}"/>
              </a:ext>
            </a:extLst>
          </p:cNvPr>
          <p:cNvSpPr>
            <a:spLocks xmlns:a="http://schemas.openxmlformats.org/drawingml/2006/main" noGrp="1"/>
          </p:cNvSpPr>
          <p:nvPr/>
        </p:nvSpPr>
        <p:spPr>
          <a:xfrm xmlns:a="http://schemas.openxmlformats.org/drawingml/2006/main" rot="0">
            <a:off x="7524750" y="1619250"/>
            <a:ext cx="19050" cy="3714750"/>
          </a:xfrm>
          <a:prstGeom xmlns:a="http://schemas.openxmlformats.org/drawingml/2006/main" prst="rect">
            <a:avLst/>
          </a:prstGeom>
          <a:solidFill xmlns:a="http://schemas.openxmlformats.org/drawingml/2006/main">
            <a:srgbClr val="D9D9D3"/>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025E2F6-A852-486D-9D76-3497CB6D05C0}"/>
              </a:ext>
            </a:extLst>
          </p:cNvPr>
          <p:cNvSpPr>
            <a:spLocks xmlns:a="http://schemas.openxmlformats.org/drawingml/2006/main" noGrp="1"/>
          </p:cNvSpPr>
          <p:nvPr/>
        </p:nvSpPr>
        <p:spPr>
          <a:xfrm xmlns:a="http://schemas.openxmlformats.org/drawingml/2006/main" rot="0">
            <a:off x="8020050" y="16764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125" b="1" i="0">
                <a:solidFill>
                  <a:srgbClr val="A8710A"/>
                </a:solidFill>
                <a:latin typeface="Arial"/>
                <a:ea typeface="Arial"/>
                <a:cs typeface="Arial"/>
              </a:defRPr>
            </a:pPr>
            <a:r>
              <a:rPr sz="1125" b="1" i="0">
                <a:solidFill>
                  <a:srgbClr val="A8710A"/>
                </a:solidFill>
                <a:latin typeface="Arial"/>
                <a:ea typeface="Arial"/>
                <a:cs typeface="Arial"/>
              </a:rPr>
              <a:t>NEXT READING</a:t>
            </a:r>
          </a:p>
        </p:txBody>
      </p:sp>
      <p:sp>
        <p:nvSpPr>
          <p:cNvPr id="16" name="">
            <a:extLst xmlns:a="http://schemas.openxmlformats.org/drawingml/2006/main">
              <a:ext uri="{FF2B5EF4-FFF2-40B4-BE49-F238E27FC236}">
                <a16:creationId xmlns:a16="http://schemas.microsoft.com/office/drawing/2014/main" id="{62530B62-8F28-4F0D-971D-E20537652E4C}"/>
              </a:ext>
            </a:extLst>
          </p:cNvPr>
          <p:cNvSpPr>
            <a:spLocks xmlns:a="http://schemas.openxmlformats.org/drawingml/2006/main" noGrp="1"/>
          </p:cNvSpPr>
          <p:nvPr/>
        </p:nvSpPr>
        <p:spPr>
          <a:xfrm xmlns:a="http://schemas.openxmlformats.org/drawingml/2006/main" rot="0">
            <a:off x="8020050" y="2095500"/>
            <a:ext cx="3333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75" b="1" i="0">
                <a:solidFill>
                  <a:srgbClr val="252A31"/>
                </a:solidFill>
                <a:latin typeface="Georgia"/>
                <a:ea typeface="Georgia"/>
                <a:cs typeface="Georgia"/>
              </a:defRPr>
            </a:pPr>
            <a:r>
              <a:rPr sz="2175" b="1" i="0">
                <a:solidFill>
                  <a:srgbClr val="252A31"/>
                </a:solidFill>
                <a:latin typeface="Georgia"/>
                <a:ea typeface="Georgia"/>
                <a:cs typeface="Georgia"/>
              </a:rPr>
              <a:t>Ridge Regression: Biased Estimation for Nonorthogonal Problems</a:t>
            </a:r>
          </a:p>
        </p:txBody>
      </p:sp>
      <p:sp>
        <p:nvSpPr>
          <p:cNvPr id="17" name="">
            <a:extLst xmlns:a="http://schemas.openxmlformats.org/drawingml/2006/main">
              <a:ext uri="{FF2B5EF4-FFF2-40B4-BE49-F238E27FC236}">
                <a16:creationId xmlns:a16="http://schemas.microsoft.com/office/drawing/2014/main" id="{B6264AEC-BE48-428D-9508-48DC7B5F5DC7}"/>
              </a:ext>
            </a:extLst>
          </p:cNvPr>
          <p:cNvSpPr>
            <a:spLocks xmlns:a="http://schemas.openxmlformats.org/drawingml/2006/main" noGrp="1"/>
          </p:cNvSpPr>
          <p:nvPr/>
        </p:nvSpPr>
        <p:spPr>
          <a:xfrm xmlns:a="http://schemas.openxmlformats.org/drawingml/2006/main" rot="0">
            <a:off x="8020050" y="3571875"/>
            <a:ext cx="333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725" b="0" i="0">
                <a:solidFill>
                  <a:srgbClr val="68717D"/>
                </a:solidFill>
                <a:latin typeface="Arial"/>
                <a:ea typeface="Arial"/>
                <a:cs typeface="Arial"/>
              </a:defRPr>
            </a:pPr>
            <a:r>
              <a:rPr sz="1725" b="0" i="0">
                <a:solidFill>
                  <a:srgbClr val="68717D"/>
                </a:solidFill>
                <a:latin typeface="Arial"/>
                <a:ea typeface="Arial"/>
                <a:cs typeface="Arial"/>
              </a:rPr>
              <a:t>Arthur E. Hoerl and Robert W. Kennard</a:t>
            </a:r>
          </a:p>
          <a:p xmlns:a="http://schemas.openxmlformats.org/drawingml/2006/main">
            <a:pPr algn="l">
              <a:lnSpc>
                <a:spcPct val="105000"/>
              </a:lnSpc>
              <a:buNone/>
              <a:defRPr sz="1725" b="0" i="0">
                <a:solidFill>
                  <a:srgbClr val="68717D"/>
                </a:solidFill>
                <a:latin typeface="Arial"/>
                <a:ea typeface="Arial"/>
                <a:cs typeface="Arial"/>
              </a:defRPr>
            </a:pPr>
            <a:r>
              <a:rPr sz="1725" b="0" i="0">
                <a:solidFill>
                  <a:srgbClr val="68717D"/>
                </a:solidFill>
                <a:latin typeface="Arial"/>
                <a:ea typeface="Arial"/>
                <a:cs typeface="Arial"/>
              </a:rPr>
              <a:t>Technometrics 12(1), 1970</a:t>
            </a:r>
          </a:p>
        </p:txBody>
      </p:sp>
      <p:sp>
        <p:nvSpPr>
          <p:cNvPr id="18" name="">
            <a:extLst xmlns:a="http://schemas.openxmlformats.org/drawingml/2006/main">
              <a:ext uri="{FF2B5EF4-FFF2-40B4-BE49-F238E27FC236}">
                <a16:creationId xmlns:a16="http://schemas.microsoft.com/office/drawing/2014/main" id="{1E668964-7948-4D5C-959F-12697D2EBDA1}"/>
              </a:ext>
            </a:extLst>
          </p:cNvPr>
          <p:cNvSpPr>
            <a:spLocks xmlns:a="http://schemas.openxmlformats.org/drawingml/2006/main" noGrp="1"/>
          </p:cNvSpPr>
          <p:nvPr/>
        </p:nvSpPr>
        <p:spPr>
          <a:xfrm xmlns:a="http://schemas.openxmlformats.org/drawingml/2006/main" rot="0">
            <a:off x="7810500" y="4667250"/>
            <a:ext cx="3695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1350" b="0" i="0">
                <a:solidFill>
                  <a:srgbClr val="A8710A"/>
                </a:solidFill>
                <a:latin typeface="Arial"/>
                <a:ea typeface="Arial"/>
                <a:cs typeface="Arial"/>
              </a:defRPr>
            </a:pPr>
            <a:r>
              <a:rPr sz="1350" b="0" i="0">
                <a:solidFill>
                  <a:srgbClr val="A8710A"/>
                </a:solidFill>
                <a:latin typeface="Arial"/>
                <a:ea typeface="Arial"/>
                <a:cs typeface="Arial"/>
                <a:hlinkClick xmlns:r="http://schemas.openxmlformats.org/officeDocument/2006/relationships" r:id="Rcc99c93cc7204b83"/>
              </a:rPr>
              <a:t>DOI 10.1080/00401706.1970.10488634</a:t>
            </a:r>
          </a:p>
        </p:txBody>
      </p:sp>
      <p:sp>
        <p:nvSpPr>
          <p:cNvPr id="19" name="">
            <a:extLst xmlns:a="http://schemas.openxmlformats.org/drawingml/2006/main">
              <a:ext uri="{FF2B5EF4-FFF2-40B4-BE49-F238E27FC236}">
                <a16:creationId xmlns:a16="http://schemas.microsoft.com/office/drawing/2014/main" id="{3BB62E01-74B3-44FA-846B-5B2A041AFE73}"/>
              </a:ext>
            </a:extLst>
          </p:cNvPr>
          <p:cNvSpPr>
            <a:spLocks xmlns:a="http://schemas.openxmlformats.org/drawingml/2006/main" noGrp="1"/>
          </p:cNvSpPr>
          <p:nvPr/>
        </p:nvSpPr>
        <p:spPr>
          <a:xfrm xmlns:a="http://schemas.openxmlformats.org/drawingml/2006/main" rot="0">
            <a:off x="876300" y="5543550"/>
            <a:ext cx="619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i="0">
                <a:solidFill>
                  <a:srgbClr val="A8710A"/>
                </a:solidFill>
                <a:latin typeface="Arial"/>
                <a:ea typeface="Arial"/>
                <a:cs typeface="Arial"/>
              </a:defRPr>
            </a:pPr>
            <a:r>
              <a:rPr sz="2025" b="1" i="0">
                <a:solidFill>
                  <a:srgbClr val="A8710A"/>
                </a:solidFill>
                <a:latin typeface="Arial"/>
                <a:ea typeface="Arial"/>
                <a:cs typeface="Arial"/>
              </a:rPr>
              <a:t>Next: Ridge Regression from Scratch</a:t>
            </a:r>
          </a:p>
        </p:txBody>
      </p:sp>
    </p:spTree>
    <p:extLst>
      <p:ext uri="{BB962C8B-B14F-4D97-AF65-F5344CB8AC3E}">
        <p14:creationId xmlns:p14="http://schemas.microsoft.com/office/powerpoint/2010/main" val="5509235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2026-09-04T08:05:00.6230000Z</dcterms:created>
  <dcterms:modified xsi:type="dcterms:W3CDTF">2026-09-04T08:05:00.6230000Z</dcterms:modified>
</coreProperties>
</file>