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3cded30169a4a62" /><Relationship Type="http://schemas.openxmlformats.org/officeDocument/2006/relationships/extended-properties" Target="/docProps/app.xml" Id="R2fa38cc65cf44977" /><Relationship Type="http://schemas.openxmlformats.org/officeDocument/2006/relationships/officeDocument" Target="/ppt/presentation.xml" Id="Rff507fcb685c4124" /></Relationships>
</file>

<file path=ppt/presentation.xml><?xml version="1.0" encoding="utf-8"?>
<p:presentation xmlns:p="http://schemas.openxmlformats.org/presentationml/2006/main">
  <p:sldMasterIdLst>
    <p:sldMasterId xmlns:r="http://schemas.openxmlformats.org/officeDocument/2006/relationships" id="2147483648" r:id="R55dceba600104eb2"/>
  </p:sldMasterIdLst>
  <p:notesMasterIdLst>
    <p:notesMasterId xmlns:r="http://schemas.openxmlformats.org/officeDocument/2006/relationships" r:id="R7531a0ee5cbf4fa5"/>
  </p:notesMasterIdLst>
  <p:sldIdLst>
    <p:sldId xmlns:r="http://schemas.openxmlformats.org/officeDocument/2006/relationships" id="256" r:id="Rb307c9fb81964b38"/>
    <p:sldId xmlns:r="http://schemas.openxmlformats.org/officeDocument/2006/relationships" id="257" r:id="R78ee2ca17e4d4ffd"/>
    <p:sldId xmlns:r="http://schemas.openxmlformats.org/officeDocument/2006/relationships" id="258" r:id="Raf5dcb89e992494c"/>
    <p:sldId xmlns:r="http://schemas.openxmlformats.org/officeDocument/2006/relationships" id="259" r:id="R34a7231d69a5464f"/>
    <p:sldId xmlns:r="http://schemas.openxmlformats.org/officeDocument/2006/relationships" id="260" r:id="R568481eba3684107"/>
    <p:sldId xmlns:r="http://schemas.openxmlformats.org/officeDocument/2006/relationships" id="261" r:id="Rb03ca67ef3b14839"/>
    <p:sldId xmlns:r="http://schemas.openxmlformats.org/officeDocument/2006/relationships" id="262" r:id="R2eb2da16d30b4b1d"/>
    <p:sldId xmlns:r="http://schemas.openxmlformats.org/officeDocument/2006/relationships" id="263" r:id="R87bb469481d540cd"/>
    <p:sldId xmlns:r="http://schemas.openxmlformats.org/officeDocument/2006/relationships" id="264" r:id="Rd22f6abb71b949f9"/>
    <p:sldId xmlns:r="http://schemas.openxmlformats.org/officeDocument/2006/relationships" id="265" r:id="R5ef8d990385b4362"/>
    <p:sldId xmlns:r="http://schemas.openxmlformats.org/officeDocument/2006/relationships" id="266" r:id="R7135b2d2bf434138"/>
    <p:sldId xmlns:r="http://schemas.openxmlformats.org/officeDocument/2006/relationships" id="267" r:id="R005ca5dea2d84442"/>
    <p:sldId xmlns:r="http://schemas.openxmlformats.org/officeDocument/2006/relationships" id="268" r:id="R616d2d20e77b416d"/>
    <p:sldId xmlns:r="http://schemas.openxmlformats.org/officeDocument/2006/relationships" id="269" r:id="R94d4424ec7204305"/>
    <p:sldId xmlns:r="http://schemas.openxmlformats.org/officeDocument/2006/relationships" id="270" r:id="R99e1091b7cc5420c"/>
    <p:sldId xmlns:r="http://schemas.openxmlformats.org/officeDocument/2006/relationships" id="271" r:id="Rb112f998a7bd4a74"/>
    <p:sldId xmlns:r="http://schemas.openxmlformats.org/officeDocument/2006/relationships" id="272" r:id="R5f4504fb3cd54a8a"/>
    <p:sldId xmlns:r="http://schemas.openxmlformats.org/officeDocument/2006/relationships" id="273" r:id="R64d5f11306124570"/>
    <p:sldId xmlns:r="http://schemas.openxmlformats.org/officeDocument/2006/relationships" id="274" r:id="R9cd8bdd0e7df4e3f"/>
    <p:sldId xmlns:r="http://schemas.openxmlformats.org/officeDocument/2006/relationships" id="275" r:id="R111da840e79b4d4a"/>
    <p:sldId xmlns:r="http://schemas.openxmlformats.org/officeDocument/2006/relationships" id="276" r:id="R82a9e2d5b46d43ed"/>
    <p:sldId xmlns:r="http://schemas.openxmlformats.org/officeDocument/2006/relationships" id="277" r:id="Re39576fd9d7c4d37"/>
    <p:sldId xmlns:r="http://schemas.openxmlformats.org/officeDocument/2006/relationships" id="278" r:id="Rf7a8e7bcf15c487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cd9bb7833e348eb" /><Relationship Type="http://schemas.openxmlformats.org/officeDocument/2006/relationships/slideMaster" Target="/ppt/slideMasters/slideMaster1.xml" Id="R55dceba600104eb2" /><Relationship Type="http://schemas.openxmlformats.org/officeDocument/2006/relationships/notesMaster" Target="/ppt/notesMasters/notesMaster1.xml" Id="R7531a0ee5cbf4fa5" /><Relationship Type="http://schemas.openxmlformats.org/officeDocument/2006/relationships/presProps" Target="/ppt/presProps.xml" Id="R3251a7f597574468" /><Relationship Type="http://schemas.openxmlformats.org/officeDocument/2006/relationships/tableStyles" Target="/ppt/tableStyles.xml" Id="R67a43e53ea5a4e22" /><Relationship Type="http://schemas.openxmlformats.org/officeDocument/2006/relationships/slide" Target="/ppt/slides/slide1.xml" Id="Rb307c9fb81964b38" /><Relationship Type="http://schemas.openxmlformats.org/officeDocument/2006/relationships/slide" Target="/ppt/slides/slide2.xml" Id="R78ee2ca17e4d4ffd" /><Relationship Type="http://schemas.openxmlformats.org/officeDocument/2006/relationships/slide" Target="/ppt/slides/slide3.xml" Id="Raf5dcb89e992494c" /><Relationship Type="http://schemas.openxmlformats.org/officeDocument/2006/relationships/slide" Target="/ppt/slides/slide4.xml" Id="R34a7231d69a5464f" /><Relationship Type="http://schemas.openxmlformats.org/officeDocument/2006/relationships/slide" Target="/ppt/slides/slide5.xml" Id="R568481eba3684107" /><Relationship Type="http://schemas.openxmlformats.org/officeDocument/2006/relationships/slide" Target="/ppt/slides/slide6.xml" Id="Rb03ca67ef3b14839" /><Relationship Type="http://schemas.openxmlformats.org/officeDocument/2006/relationships/slide" Target="/ppt/slides/slide7.xml" Id="R2eb2da16d30b4b1d" /><Relationship Type="http://schemas.openxmlformats.org/officeDocument/2006/relationships/slide" Target="/ppt/slides/slide8.xml" Id="R87bb469481d540cd" /><Relationship Type="http://schemas.openxmlformats.org/officeDocument/2006/relationships/slide" Target="/ppt/slides/slide9.xml" Id="Rd22f6abb71b949f9" /><Relationship Type="http://schemas.openxmlformats.org/officeDocument/2006/relationships/slide" Target="/ppt/slides/slide10.xml" Id="R5ef8d990385b4362" /><Relationship Type="http://schemas.openxmlformats.org/officeDocument/2006/relationships/slide" Target="/ppt/slides/slide11.xml" Id="R7135b2d2bf434138" /><Relationship Type="http://schemas.openxmlformats.org/officeDocument/2006/relationships/slide" Target="/ppt/slides/slide12.xml" Id="R005ca5dea2d84442" /><Relationship Type="http://schemas.openxmlformats.org/officeDocument/2006/relationships/slide" Target="/ppt/slides/slide13.xml" Id="R616d2d20e77b416d" /><Relationship Type="http://schemas.openxmlformats.org/officeDocument/2006/relationships/slide" Target="/ppt/slides/slide14.xml" Id="R94d4424ec7204305" /><Relationship Type="http://schemas.openxmlformats.org/officeDocument/2006/relationships/slide" Target="/ppt/slides/slide15.xml" Id="R99e1091b7cc5420c" /><Relationship Type="http://schemas.openxmlformats.org/officeDocument/2006/relationships/slide" Target="/ppt/slides/slide16.xml" Id="Rb112f998a7bd4a74" /><Relationship Type="http://schemas.openxmlformats.org/officeDocument/2006/relationships/slide" Target="/ppt/slides/slide17.xml" Id="R5f4504fb3cd54a8a" /><Relationship Type="http://schemas.openxmlformats.org/officeDocument/2006/relationships/slide" Target="/ppt/slides/slide18.xml" Id="R64d5f11306124570" /><Relationship Type="http://schemas.openxmlformats.org/officeDocument/2006/relationships/slide" Target="/ppt/slides/slide19.xml" Id="R9cd8bdd0e7df4e3f" /><Relationship Type="http://schemas.openxmlformats.org/officeDocument/2006/relationships/slide" Target="/ppt/slides/slide20.xml" Id="R111da840e79b4d4a" /><Relationship Type="http://schemas.openxmlformats.org/officeDocument/2006/relationships/slide" Target="/ppt/slides/slide21.xml" Id="R82a9e2d5b46d43ed" /><Relationship Type="http://schemas.openxmlformats.org/officeDocument/2006/relationships/slide" Target="/ppt/slides/slide22.xml" Id="Re39576fd9d7c4d37" /><Relationship Type="http://schemas.openxmlformats.org/officeDocument/2006/relationships/slide" Target="/ppt/slides/slide23.xml" Id="Rf7a8e7bcf15c48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c7c82ad52db46b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be6704e2a4c4ea4" /><Relationship Type="http://schemas.openxmlformats.org/officeDocument/2006/relationships/notesMaster" Target="/ppt/notesMasters/notesMaster1.xml" Id="R1eb89e8737624b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22933a915af412e" /><Relationship Type="http://schemas.openxmlformats.org/officeDocument/2006/relationships/notesMaster" Target="/ppt/notesMasters/notesMaster1.xml" Id="R1d4077cbf0eb4999" /></Relationships>
</file>

<file path=ppt/notesSlides/_rels/notesSlide3.xml.rels>&#65279;<?xml version="1.0" encoding="utf-8"?><Relationships xmlns="http://schemas.openxmlformats.org/package/2006/relationships"><Relationship Type="http://schemas.openxmlformats.org/officeDocument/2006/relationships/slide" Target="/ppt/slides/slide3.xml" Id="Rb5cf050afc0e41b7" /><Relationship Type="http://schemas.openxmlformats.org/officeDocument/2006/relationships/notesMaster" Target="/ppt/notesMasters/notesMaster1.xml" Id="Ra3a0ac61831f45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70a4e4f4157a4977" /><Relationship Type="http://schemas.openxmlformats.org/officeDocument/2006/relationships/notesMaster" Target="/ppt/notesMasters/notesMaster1.xml" Id="R606dd19b2ac947e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1e171ac85948db" /><Relationship Type="http://schemas.openxmlformats.org/officeDocument/2006/relationships/notesMaster" Target="/ppt/notesMasters/notesMaster1.xml" Id="R09499d7bfb8f46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498f1152b646da" /><Relationship Type="http://schemas.openxmlformats.org/officeDocument/2006/relationships/notesMaster" Target="/ppt/notesMasters/notesMaster1.xml" Id="Rbd21e24873e240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fefddb2dab248c5" /><Relationship Type="http://schemas.openxmlformats.org/officeDocument/2006/relationships/notesMaster" Target="/ppt/notesMasters/notesMaster1.xml" Id="Rb34ec07cda684b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72c9a244a34fd1" /><Relationship Type="http://schemas.openxmlformats.org/officeDocument/2006/relationships/notesMaster" Target="/ppt/notesMasters/notesMaster1.xml" Id="R947c009fdee1412d" /></Relationships>
</file>

<file path=ppt/notesSlides/_rels/notesSlide9.xml.rels>&#65279;<?xml version="1.0" encoding="utf-8"?><Relationships xmlns="http://schemas.openxmlformats.org/package/2006/relationships"><Relationship Type="http://schemas.openxmlformats.org/officeDocument/2006/relationships/slide" Target="/ppt/slides/slide9.xml" Id="R7c12b393b7cc4c9c" /><Relationship Type="http://schemas.openxmlformats.org/officeDocument/2006/relationships/notesMaster" Target="/ppt/notesMasters/notesMaster1.xml" Id="Rc77dcb438a054fe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d111f3241864ed1" /><Relationship Type="http://schemas.openxmlformats.org/officeDocument/2006/relationships/notesMaster" Target="/ppt/notesMasters/notesMaster1.xml" Id="Rb77ed6ae2594405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fcd884ebcd1454c" /><Relationship Type="http://schemas.openxmlformats.org/officeDocument/2006/relationships/notesMaster" Target="/ppt/notesMasters/notesMaster1.xml" Id="R5e8afbe8dd104fc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0e8af17f6b3401d" /><Relationship Type="http://schemas.openxmlformats.org/officeDocument/2006/relationships/notesMaster" Target="/ppt/notesMasters/notesMaster1.xml" Id="Raad2258dbf824a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8e6f445f5584ad1" /><Relationship Type="http://schemas.openxmlformats.org/officeDocument/2006/relationships/notesMaster" Target="/ppt/notesMasters/notesMaster1.xml" Id="Re63431c34f7d40b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a04bab9d40648b4" /><Relationship Type="http://schemas.openxmlformats.org/officeDocument/2006/relationships/notesMaster" Target="/ppt/notesMasters/notesMaster1.xml" Id="Rf7befc3831054db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054f02d5f64403b" /><Relationship Type="http://schemas.openxmlformats.org/officeDocument/2006/relationships/notesMaster" Target="/ppt/notesMasters/notesMaster1.xml" Id="R4da9d971d32f445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a2c7735a9e94cb0" /><Relationship Type="http://schemas.openxmlformats.org/officeDocument/2006/relationships/notesMaster" Target="/ppt/notesMasters/notesMaster1.xml" Id="R781be6ce95fb49c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fd5ac5d83f246ed" /><Relationship Type="http://schemas.openxmlformats.org/officeDocument/2006/relationships/notesMaster" Target="/ppt/notesMasters/notesMaster1.xml" Id="Rd9d0fc96afbc43b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6c569804790404d" /><Relationship Type="http://schemas.openxmlformats.org/officeDocument/2006/relationships/notesMaster" Target="/ppt/notesMasters/notesMaster1.xml" Id="R75c624416b8844a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5370f139d104b1f" /><Relationship Type="http://schemas.openxmlformats.org/officeDocument/2006/relationships/notesMaster" Target="/ppt/notesMasters/notesMaster1.xml" Id="R74e6cbd826a2497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d4ad25b61294b59" /><Relationship Type="http://schemas.openxmlformats.org/officeDocument/2006/relationships/notesMaster" Target="/ppt/notesMasters/notesMaster1.xml" Id="R6271be7c9a1c436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1535ba023bd4492" /><Relationship Type="http://schemas.openxmlformats.org/officeDocument/2006/relationships/notesMaster" Target="/ppt/notesMasters/notesMaster1.xml" Id="Rb73a2d73849046a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1bbdc5ae6bd496f" /><Relationship Type="http://schemas.openxmlformats.org/officeDocument/2006/relationships/notesMaster" Target="/ppt/notesMasters/notesMaster1.xml" Id="Rb6e887c6c59f440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4e70839cb2742e7" /><Relationship Type="http://schemas.openxmlformats.org/officeDocument/2006/relationships/notesMaster" Target="/ppt/notesMasters/notesMaster1.xml" Id="Rab13de50509045e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 Welcome the group. Explain that Session 0 supplies the linear algebra and statistical language needed for the ridge regression paper. Ask who has previously derived ordinary least squares from the objective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 Use the tutorial contents as the lecture map. The numbered section label at the top of each following slide matches the tutorial. Exercises require proofs or derivations, not hand computation.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Introduce n as the number of observations and p as the number of predictors. Ask the audience to identify n and p before showing the model notation. Answer: n = 5 and p =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Read the dimensions aloud. Stress that n counts observations while p counts predictor columns. Keep the car example visible as the concrete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This is an illustrative two dimensional example, separate from the car values. Both clouds use the same axes. The teal cloud has mean (6, 4.5). Subtracting that mean from every point moves the gold cloud to mean (0, 0). The dashed line tracks the mean itself. Ask students what changes: location. Ask what stays fixed: pairwise distances, relative positions, and slope. Stress that both X and Y must be centered. Recover the original intercept with beta zero hat equals y bar minus x bar transpose beta 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This slide addresses the common dimension confusion. Each predictor column has n entries, so x_j lives in R^n. The Gram matrix compares predictor columns with one another, so it has p rows and p columns. Ask: what is the dimension of X transpose? Answer: p by 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Explain that each predictor column is an n dimensional vector. After centering and scaling to unit Euclidean length, the inner product equals the sample correlation under this convention. Point out that sample variance scaling differs by the common factor square root of n minus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Connect each entry of X transpose X to a pair of predictor columns. The trace equals the sum of eigenvalues. Under unit length scaling, each diagonal entry is one, so the trace equals 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Define an eigenvector as a direction that the Gram matrix does not rotate and lambda as its stretch factor. Relate a small eigenvalue to a thin direction in the predictor data cloud. Do not use the least squares variance formula yet; the tutorial derives it in Section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State the assumptions conditional on X. Clarify that equal variance and uncorrelated errors are stronger than zero conditional mean. Normality becomes relevant for exact finite sample distributional inference, not for the results derived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Distinguish B, a candidate coefficient vector, from beta hat, the minimizing estimator. The norm is taken in observation space because it measures the n residuals.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Draw attention to the two spaces. Y and Y hat are vectors in observation space R n. Beta hat lives in coefficient space R p and supplies the coordinates used to build Y hat from the columns of X. The closest point condition makes the residual perpendicular to every column of X, so X transpose times the residual is zero. Expand this condition to obtain the normal equations, then apply the full column rank condition before taking the inverse. Mention that the picture is schematic: the column space may have dimension greater than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Derive each line. Ask why the cross terms combine into minus two B transpose X transpose Y. Then set the gradient to zero. Do not skip the rank condition before applying the inverse.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Treat this as a short proof. First establish positive semidefiniteness. Then prove both directions of the equivalence between full column rank and invertibility of the Gram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Hold the design matrix fixed and imagine collecting new responses under new noise. Beta hat changes because epsilon changes. This is the repeated sampling interpretation used in the following expectations and covariances.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Define an estimator as a rule that turns data into a coefficient estimate. Separate beta, beta hat, and the expectation of beta hat. Define bias and variance before proving that ordinary least squares is unbiased. Ask the audience to identify the exact line where the zero conditional mean assumption enters.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Use the covariance transformation rule Cov(A epsilon) = A Cov(epsilon) A transpose. Cancel the middle X transpose X carefully. Then return to the eigendecomposition from Section 6: along eigenvector p j, the variance is sigma squared divided by lambda 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Derive the decomposition by adding and subtracting the estimator mean. Explain why the cross term has expectation zero. The trace appears because the squared Euclidean norm sums the coordinate variances.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State the class of competing estimators before stating optimality. The covariance difference is positive semidefinite. Emphasize the opening that matters for ridge: Gauss Markov does not rule out a biased estimator with smaller 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Present ridge as a controlled change to the Gram matrix. In each eigendirection, the denominator increases by k. Preview the central question for Session 1: when does the variance reduction outweigh the squared bias? Source: Hoerl and Kennard, 1970.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min] Assign one problem to each pair or small group. Ask for complete logical implications, not numerical examples. After ten minutes, invite two groups to present their proof structure.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min] These problems combine the session. For the shrinkage estimator, let beta tilde c equal c times beta hat. Guide students to separate variance and squared bias before differentiating with respect to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Use this slide as an oral checklist. Ask students which proofs they can already reproduce and which need another pass. Point them to Section 14 of the tutorial and then to the ridge paper. Source: Hoerl, A. E. and Kennard, R. W. (1970), Technometrics 12(1), DOI 10.1080/00401706.1970.10488634.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46e2846ff34c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6d682740224e95" /><Relationship Type="http://schemas.openxmlformats.org/officeDocument/2006/relationships/slideLayout" Target="/ppt/slideLayouts/slideLayout1.xml" Id="R1fb3db43e5a045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fb3db43e5a045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6e513b523ee433d" /><Relationship Type="http://schemas.openxmlformats.org/officeDocument/2006/relationships/notesSlide" Target="/ppt/notesSlides/notesSlide1.xml" Id="R65705521d4c744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60ae876cf75450c" /><Relationship Type="http://schemas.openxmlformats.org/officeDocument/2006/relationships/notesSlide" Target="/ppt/notesSlides/notesSlide2.xml" Id="R454632167079418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3c204dd99034869" /><Relationship Type="http://schemas.openxmlformats.org/officeDocument/2006/relationships/notesSlide" Target="/ppt/notesSlides/notesSlide3.xml" Id="R51d0f01eba22442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b2ed90de7c94475" /><Relationship Type="http://schemas.openxmlformats.org/officeDocument/2006/relationships/notesSlide" Target="/ppt/notesSlides/notesSlide4.xml" Id="Rf4a97cd8f09f45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6d679c1df114566" /><Relationship Type="http://schemas.openxmlformats.org/officeDocument/2006/relationships/chart" Target="/ppt/slides/charts/chart1.xml" Id="Rf43cf3e6bcce4e65" /><Relationship Type="http://schemas.openxmlformats.org/officeDocument/2006/relationships/notesSlide" Target="/ppt/notesSlides/notesSlide5.xml" Id="R8fc422d4e96d4db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eeffa3f14a042b9" /><Relationship Type="http://schemas.openxmlformats.org/officeDocument/2006/relationships/notesSlide" Target="/ppt/notesSlides/notesSlide6.xml" Id="R11eaa08a01a845d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e948fde8a8645e9" /><Relationship Type="http://schemas.openxmlformats.org/officeDocument/2006/relationships/notesSlide" Target="/ppt/notesSlides/notesSlide7.xml" Id="Rae74870d19994c2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422e84332ac4a14" /><Relationship Type="http://schemas.openxmlformats.org/officeDocument/2006/relationships/notesSlide" Target="/ppt/notesSlides/notesSlide8.xml" Id="R8e70e57780d9427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fc1ec3a435948af" /><Relationship Type="http://schemas.openxmlformats.org/officeDocument/2006/relationships/notesSlide" Target="/ppt/notesSlides/notesSlide9.xml" Id="Re336626bab934ed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f59c97230144140" /><Relationship Type="http://schemas.openxmlformats.org/officeDocument/2006/relationships/notesSlide" Target="/ppt/notesSlides/notesSlide10.xml" Id="R6875f291f28c428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059a4fd59d64cdc" /><Relationship Type="http://schemas.openxmlformats.org/officeDocument/2006/relationships/notesSlide" Target="/ppt/notesSlides/notesSlide11.xml" Id="Rccd5509bf7e84c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23373ce7a9945a7" /><Relationship Type="http://schemas.openxmlformats.org/officeDocument/2006/relationships/notesSlide" Target="/ppt/notesSlides/notesSlide12.xml" Id="R51bb3629513b4be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890e7cbbe9d45ad" /><Relationship Type="http://schemas.openxmlformats.org/officeDocument/2006/relationships/notesSlide" Target="/ppt/notesSlides/notesSlide13.xml" Id="Rca045651b4484cf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fea15d2b0844f2a" /><Relationship Type="http://schemas.openxmlformats.org/officeDocument/2006/relationships/notesSlide" Target="/ppt/notesSlides/notesSlide14.xml" Id="Rb46852636cce48b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ec4291e93fa4787" /><Relationship Type="http://schemas.openxmlformats.org/officeDocument/2006/relationships/notesSlide" Target="/ppt/notesSlides/notesSlide15.xml" Id="Rd596c21088724a3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5f1d834220e4b90" /><Relationship Type="http://schemas.openxmlformats.org/officeDocument/2006/relationships/notesSlide" Target="/ppt/notesSlides/notesSlide16.xml" Id="R898ebb73448e458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2fcd518561e4bb6" /><Relationship Type="http://schemas.openxmlformats.org/officeDocument/2006/relationships/notesSlide" Target="/ppt/notesSlides/notesSlide17.xml" Id="R5577c08ce14b4db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4341037b85941f4" /><Relationship Type="http://schemas.openxmlformats.org/officeDocument/2006/relationships/notesSlide" Target="/ppt/notesSlides/notesSlide18.xml" Id="R781a55fe87094be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c5cb0222ea145ab" /><Relationship Type="http://schemas.openxmlformats.org/officeDocument/2006/relationships/notesSlide" Target="/ppt/notesSlides/notesSlide19.xml" Id="R1762f3b1323243e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b4d4ee1a3874e02" /><Relationship Type="http://schemas.openxmlformats.org/officeDocument/2006/relationships/notesSlide" Target="/ppt/notesSlides/notesSlide20.xml" Id="R29d7324c81294a8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261ff8a9a5a41db" /><Relationship Type="http://schemas.openxmlformats.org/officeDocument/2006/relationships/notesSlide" Target="/ppt/notesSlides/notesSlide21.xml" Id="R578a909697df40e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f3f74e7c4784e8f" /><Relationship Type="http://schemas.openxmlformats.org/officeDocument/2006/relationships/notesSlide" Target="/ppt/notesSlides/notesSlide22.xml" Id="Re5d8bac22f44490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31124dd45584121" /><Relationship Type="http://schemas.openxmlformats.org/officeDocument/2006/relationships/notesSlide" Target="/ppt/notesSlides/notesSlide23.xml" Id="R9f6322ba9ba94b3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Original cloud</c:v>
          </c:tx>
          <c:spPr>
            <a:solidFill xmlns:a="http://schemas.openxmlformats.org/drawingml/2006/main">
              <a:srgbClr val="2C6A6C"/>
            </a:solidFill>
            <a:ln xmlns:a="http://schemas.openxmlformats.org/drawingml/2006/main" w="0">
              <a:noFill/>
            </a:ln>
          </c:spPr>
          <c:marker>
            <c:symbol val="circle"/>
            <c:size val="10"/>
            <c:spPr>
              <a:noFill xmlns:a="http://schemas.openxmlformats.org/drawingml/2006/main"/>
            </c:spPr>
          </c:marker>
          <c:xVal>
            <c:numRef>
              <c:f>'Chart Data'!$A$2:$A$7</c:f>
              <c:numCache>
                <c:formatCode>General</c:formatCode>
                <c:ptCount val="6"/>
                <c:pt idx="0">
                  <c:v>4</c:v>
                </c:pt>
                <c:pt idx="1">
                  <c:v>4.8</c:v>
                </c:pt>
                <c:pt idx="2">
                  <c:v>5.6</c:v>
                </c:pt>
                <c:pt idx="3">
                  <c:v>6.6</c:v>
                </c:pt>
                <c:pt idx="4">
                  <c:v>7.1</c:v>
                </c:pt>
                <c:pt idx="5">
                  <c:v>7.9</c:v>
                </c:pt>
              </c:numCache>
            </c:numRef>
          </c:xVal>
          <c:yVal>
            <c:numRef>
              <c:f>'Chart Data'!$B$2:$B$7</c:f>
              <c:numCache>
                <c:formatCode>0.0</c:formatCode>
                <c:ptCount val="6"/>
                <c:pt idx="0">
                  <c:v>3</c:v>
                </c:pt>
                <c:pt idx="1">
                  <c:v>4.2</c:v>
                </c:pt>
                <c:pt idx="2">
                  <c:v>3.7</c:v>
                </c:pt>
                <c:pt idx="3">
                  <c:v>5.2</c:v>
                </c:pt>
                <c:pt idx="4">
                  <c:v>5</c:v>
                </c:pt>
                <c:pt idx="5">
                  <c:v>5.9</c:v>
                </c:pt>
              </c:numCache>
            </c:numRef>
          </c:yVal>
        </c:ser>
        <c:ser>
          <c:idx val="1"/>
          <c:order val="1"/>
          <c:tx>
            <c:v>Centered cloud</c:v>
          </c:tx>
          <c:spPr>
            <a:solidFill xmlns:a="http://schemas.openxmlformats.org/drawingml/2006/main">
              <a:srgbClr val="A8710A"/>
            </a:solidFill>
            <a:ln xmlns:a="http://schemas.openxmlformats.org/drawingml/2006/main" w="0">
              <a:noFill/>
            </a:ln>
          </c:spPr>
          <c:marker>
            <c:symbol val="circle"/>
            <c:size val="10"/>
            <c:spPr>
              <a:noFill xmlns:a="http://schemas.openxmlformats.org/drawingml/2006/main"/>
            </c:spPr>
          </c:marker>
          <c:xVal>
            <c:numRef>
              <c:f>'Chart Data'!$C$2:$C$7</c:f>
              <c:numCache>
                <c:formatCode>General</c:formatCode>
                <c:ptCount val="6"/>
                <c:pt idx="0">
                  <c:v>-2</c:v>
                </c:pt>
                <c:pt idx="1">
                  <c:v>-1.2</c:v>
                </c:pt>
                <c:pt idx="2">
                  <c:v>-0.4</c:v>
                </c:pt>
                <c:pt idx="3">
                  <c:v>0.6</c:v>
                </c:pt>
                <c:pt idx="4">
                  <c:v>1.1</c:v>
                </c:pt>
                <c:pt idx="5">
                  <c:v>1.9</c:v>
                </c:pt>
              </c:numCache>
            </c:numRef>
          </c:xVal>
          <c:yVal>
            <c:numRef>
              <c:f>'Chart Data'!$D$2:$D$7</c:f>
              <c:numCache>
                <c:formatCode>0.0</c:formatCode>
                <c:ptCount val="6"/>
                <c:pt idx="0">
                  <c:v>-1.5</c:v>
                </c:pt>
                <c:pt idx="1">
                  <c:v>-0.3</c:v>
                </c:pt>
                <c:pt idx="2">
                  <c:v>-0.8</c:v>
                </c:pt>
                <c:pt idx="3">
                  <c:v>0.7</c:v>
                </c:pt>
                <c:pt idx="4">
                  <c:v>0.5</c:v>
                </c:pt>
                <c:pt idx="5">
                  <c:v>1.4</c:v>
                </c:pt>
              </c:numCache>
            </c:numRef>
          </c:yVal>
        </c:ser>
        <c:ser>
          <c:idx val="2"/>
          <c:order val="2"/>
          <c:tx>
            <c:v>Mean translation</c:v>
          </c:tx>
          <c:spPr>
            <a:solidFill xmlns:a="http://schemas.openxmlformats.org/drawingml/2006/main">
              <a:srgbClr val="A64B3C"/>
            </a:solidFill>
            <a:ln xmlns:a="http://schemas.openxmlformats.org/drawingml/2006/main" w="28575">
              <a:solidFill>
                <a:srgbClr val="A64B3C"/>
              </a:solidFill>
              <a:prstDash val="dash"/>
            </a:ln>
          </c:spPr>
          <c:marker>
            <c:symbol val="diamond"/>
            <c:size val="12"/>
            <c:spPr>
              <a:solidFill xmlns:a="http://schemas.openxmlformats.org/drawingml/2006/main">
                <a:srgbClr val="A64B3C"/>
              </a:solidFill>
            </c:spPr>
          </c:marker>
          <c:xVal>
            <c:numRef>
              <c:f>'Chart Data'!$E$2:$E$3</c:f>
              <c:numCache>
                <c:formatCode>General</c:formatCode>
                <c:ptCount val="2"/>
                <c:pt idx="0">
                  <c:v>6</c:v>
                </c:pt>
                <c:pt idx="1">
                  <c:v>0</c:v>
                </c:pt>
              </c:numCache>
            </c:numRef>
          </c:xVal>
          <c:yVal>
            <c:numRef>
              <c:f>'Chart Data'!$F$2:$F$3</c:f>
              <c:numCache>
                <c:formatCode>0.0</c:formatCode>
                <c:ptCount val="2"/>
                <c:pt idx="0">
                  <c:v>4.5</c:v>
                </c:pt>
                <c:pt idx="1">
                  <c:v>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7"/>
          <c:min val="-2"/>
        </c:scaling>
        <c:delete val="0"/>
        <c:axPos val="l"/>
        <c:majorGridlines>
          <c:spPr>
            <a:ln xmlns:a="http://schemas.openxmlformats.org/drawingml/2006/main" w="9525">
              <a:solidFill>
                <a:srgbClr val="D9D9D3"/>
              </a:solidFill>
              <a:prstDash val="solid"/>
            </a:ln>
          </c:spPr>
        </c:majorGridlines>
        <c:title>
          <c:tx>
            <c:rich>
              <a:bodyPr xmlns:a="http://schemas.openxmlformats.org/drawingml/2006/main"/>
              <a:lstStyle xmlns:a="http://schemas.openxmlformats.org/drawingml/2006/main"/>
              <a:p xmlns:a="http://schemas.openxmlformats.org/drawingml/2006/main">
                <a:r>
                  <a:rPr sz="1125" b="1">
                    <a:solidFill>
                      <a:srgbClr val="68717D"/>
                    </a:solidFill>
                    <a:latin typeface="Arial"/>
                    <a:ea typeface="Arial"/>
                    <a:cs typeface="Arial"/>
                  </a:rPr>
                  <a:t>response y</a:t>
                </a:r>
              </a:p>
            </c:rich>
          </c:tx>
          <c:overlay val="0"/>
          <c:txPr>
            <a:bodyPr xmlns:a="http://schemas.openxmlformats.org/drawingml/2006/main" anchorCtr="1"/>
            <a:lstStyle xmlns:a="http://schemas.openxmlformats.org/drawingml/2006/main"/>
            <a:p xmlns:a="http://schemas.openxmlformats.org/drawingml/2006/main">
              <a:pPr>
                <a:defRPr sz="1125" b="1">
                  <a:solidFill>
                    <a:srgbClr val="68717D"/>
                  </a:solidFill>
                  <a:latin typeface="Arial"/>
                  <a:ea typeface="Arial"/>
                  <a:cs typeface="Arial"/>
                </a:defRPr>
              </a:pPr>
            </a:p>
          </c:txPr>
        </c:title>
        <c:numFmt formatCode="0.0"/>
        <c:majorTickMark val="none"/>
        <c:minorTickMark val="none"/>
        <c:spPr>
          <a:ln xmlns:a="http://schemas.openxmlformats.org/drawingml/2006/main" w="9525">
            <a:solidFill>
              <a:srgbClr val="68717D"/>
            </a:solidFill>
            <a:prstDash val="solid"/>
          </a:ln>
        </c:spPr>
        <c:txPr>
          <a:bodyPr xmlns:a="http://schemas.openxmlformats.org/drawingml/2006/main" anchorCtr="1"/>
          <a:lstStyle xmlns:a="http://schemas.openxmlformats.org/drawingml/2006/main"/>
          <a:p xmlns:a="http://schemas.openxmlformats.org/drawingml/2006/main">
            <a:pPr>
              <a:defRPr sz="1050">
                <a:solidFill>
                  <a:srgbClr val="68717D"/>
                </a:solidFill>
                <a:latin typeface="Arial"/>
                <a:ea typeface="Arial"/>
                <a:cs typeface="Arial"/>
              </a:defRPr>
            </a:pPr>
          </a:p>
        </c:txPr>
        <c:crossAx val="48650112"/>
        <c:majorUnit val="1"/>
      </c:valAx>
      <c:valAx>
        <c:axId val="48650112"/>
        <c:scaling>
          <c:orientation val="minMax"/>
          <c:max val="9"/>
          <c:min val="-3"/>
        </c:scaling>
        <c:delete val="0"/>
        <c:axPos val="b"/>
        <c:majorGridlines>
          <c:spPr>
            <a:ln xmlns:a="http://schemas.openxmlformats.org/drawingml/2006/main" w="9525">
              <a:solidFill>
                <a:srgbClr val="D9D9D3"/>
              </a:solidFill>
              <a:prstDash val="solid"/>
            </a:ln>
          </c:spPr>
        </c:majorGridlines>
        <c:title>
          <c:tx>
            <c:rich>
              <a:bodyPr xmlns:a="http://schemas.openxmlformats.org/drawingml/2006/main"/>
              <a:lstStyle xmlns:a="http://schemas.openxmlformats.org/drawingml/2006/main"/>
              <a:p xmlns:a="http://schemas.openxmlformats.org/drawingml/2006/main">
                <a:r>
                  <a:rPr sz="1125" b="1">
                    <a:solidFill>
                      <a:srgbClr val="68717D"/>
                    </a:solidFill>
                    <a:latin typeface="Arial"/>
                    <a:ea typeface="Arial"/>
                    <a:cs typeface="Arial"/>
                  </a:rPr>
                  <a:t>predictor x</a:t>
                </a:r>
              </a:p>
            </c:rich>
          </c:tx>
          <c:overlay val="0"/>
          <c:txPr>
            <a:bodyPr xmlns:a="http://schemas.openxmlformats.org/drawingml/2006/main" anchorCtr="1"/>
            <a:lstStyle xmlns:a="http://schemas.openxmlformats.org/drawingml/2006/main"/>
            <a:p xmlns:a="http://schemas.openxmlformats.org/drawingml/2006/main">
              <a:pPr>
                <a:defRPr sz="1125" b="1">
                  <a:solidFill>
                    <a:srgbClr val="68717D"/>
                  </a:solidFill>
                  <a:latin typeface="Arial"/>
                  <a:ea typeface="Arial"/>
                  <a:cs typeface="Arial"/>
                </a:defRPr>
              </a:pPr>
            </a:p>
          </c:txPr>
        </c:title>
        <c:numFmt formatCode="0"/>
        <c:majorTickMark val="none"/>
        <c:minorTickMark val="none"/>
        <c:spPr>
          <a:ln xmlns:a="http://schemas.openxmlformats.org/drawingml/2006/main" w="9525">
            <a:solidFill>
              <a:srgbClr val="68717D"/>
            </a:solidFill>
            <a:prstDash val="solid"/>
          </a:ln>
        </c:spPr>
        <c:txPr>
          <a:bodyPr xmlns:a="http://schemas.openxmlformats.org/drawingml/2006/main" anchorCtr="1"/>
          <a:lstStyle xmlns:a="http://schemas.openxmlformats.org/drawingml/2006/main"/>
          <a:p xmlns:a="http://schemas.openxmlformats.org/drawingml/2006/main">
            <a:pPr>
              <a:defRPr sz="1050">
                <a:solidFill>
                  <a:srgbClr val="68717D"/>
                </a:solidFill>
                <a:latin typeface="Arial"/>
                <a:ea typeface="Arial"/>
                <a:cs typeface="Arial"/>
              </a:defRPr>
            </a:pPr>
          </a:p>
        </c:txPr>
        <c:crossAx val="48672768"/>
        <c:majorUnit val="2"/>
      </c:valAx>
      <c:spPr>
        <a:solidFill xmlns:a="http://schemas.openxmlformats.org/drawingml/2006/main">
          <a:srgbClr val="FFFDF8"/>
        </a:solidFill>
        <a:ln xmlns:a="http://schemas.openxmlformats.org/drawingml/2006/main" w="9525">
          <a:solidFill>
            <a:srgbClr val="D9D9D3"/>
          </a:solidFill>
          <a:prstDash val="solid"/>
        </a:ln>
      </c:spPr>
    </c:plotArea>
    <c:legend>
      <c:legendPos val="t"/>
      <c:overlay val="0"/>
      <c:txPr>
        <a:bodyPr xmlns:a="http://schemas.openxmlformats.org/drawingml/2006/main" anchorCtr="1"/>
        <a:lstStyle xmlns:a="http://schemas.openxmlformats.org/drawingml/2006/main"/>
        <a:p xmlns:a="http://schemas.openxmlformats.org/drawingml/2006/main">
          <a:pPr>
            <a:defRPr sz="1125">
              <a:solidFill>
                <a:srgbClr val="252A31"/>
              </a:solidFill>
              <a:latin typeface="Arial"/>
              <a:ea typeface="Arial"/>
              <a:cs typeface="Arial"/>
            </a:defRPr>
          </a:pPr>
        </a:p>
      </c:txPr>
    </c:legend>
    <c:plotVisOnly val="1"/>
  </c:chart>
  <c:spPr>
    <a:solidFill xmlns:a="http://schemas.openxmlformats.org/drawingml/2006/main">
      <a:srgbClr val="F7F7F5"/>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60984A-B8D6-4005-B49D-32882BC059C1}"/>
              </a:ext>
            </a:extLst>
          </p:cNvPr>
          <p:cNvSpPr>
            <a:spLocks xmlns:a="http://schemas.openxmlformats.org/drawingml/2006/main" noGrp="1"/>
          </p:cNvSpPr>
          <p:nvPr/>
        </p:nvSpPr>
        <p:spPr>
          <a:xfrm xmlns:a="http://schemas.openxmlformats.org/drawingml/2006/main" rot="0">
            <a:off x="685800" y="609600"/>
            <a:ext cx="762000" cy="66675"/>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C17707-C010-481E-A43D-333A383EB50E}"/>
              </a:ext>
            </a:extLst>
          </p:cNvPr>
          <p:cNvSpPr>
            <a:spLocks xmlns:a="http://schemas.openxmlformats.org/drawingml/2006/main" noGrp="1"/>
          </p:cNvSpPr>
          <p:nvPr/>
        </p:nvSpPr>
        <p:spPr>
          <a:xfrm xmlns:a="http://schemas.openxmlformats.org/drawingml/2006/main" rot="0">
            <a:off x="685800" y="819150"/>
            <a:ext cx="342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A8710A"/>
                </a:solidFill>
                <a:latin typeface="Arial"/>
                <a:ea typeface="Arial"/>
                <a:cs typeface="Arial"/>
              </a:defRPr>
            </a:pPr>
            <a:r>
              <a:rPr sz="1200" b="1" i="0">
                <a:solidFill>
                  <a:srgbClr val="A8710A"/>
                </a:solidFill>
                <a:latin typeface="Arial"/>
                <a:ea typeface="Arial"/>
                <a:cs typeface="Arial"/>
              </a:rPr>
              <a:t>READINGLAB  SESSION 0</a:t>
            </a:r>
          </a:p>
        </p:txBody>
      </p:sp>
      <p:sp>
        <p:nvSpPr>
          <p:cNvPr id="3" name="">
            <a:extLst xmlns:a="http://schemas.openxmlformats.org/drawingml/2006/main">
              <a:ext uri="{FF2B5EF4-FFF2-40B4-BE49-F238E27FC236}">
                <a16:creationId xmlns:a16="http://schemas.microsoft.com/office/drawing/2014/main" id="{6EC7750C-49BB-4904-AE78-DA29CCEC6E11}"/>
              </a:ext>
            </a:extLst>
          </p:cNvPr>
          <p:cNvSpPr>
            <a:spLocks xmlns:a="http://schemas.openxmlformats.org/drawingml/2006/main" noGrp="1"/>
          </p:cNvSpPr>
          <p:nvPr/>
        </p:nvSpPr>
        <p:spPr>
          <a:xfrm xmlns:a="http://schemas.openxmlformats.org/drawingml/2006/main" rot="0">
            <a:off x="685800" y="1524000"/>
            <a:ext cx="7524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4950" b="1" i="0">
                <a:solidFill>
                  <a:srgbClr val="252A31"/>
                </a:solidFill>
                <a:latin typeface="Georgia"/>
                <a:ea typeface="Georgia"/>
                <a:cs typeface="Georgia"/>
              </a:defRPr>
            </a:pPr>
            <a:r>
              <a:rPr sz="4950" b="1" i="0">
                <a:solidFill>
                  <a:srgbClr val="252A31"/>
                </a:solidFill>
                <a:latin typeface="Georgia"/>
                <a:ea typeface="Georgia"/>
                <a:cs typeface="Georgia"/>
              </a:rPr>
              <a:t>Least Squares</a:t>
            </a:r>
          </a:p>
          <a:p xmlns:a="http://schemas.openxmlformats.org/drawingml/2006/main">
            <a:pPr algn="l">
              <a:lnSpc>
                <a:spcPct val="94000"/>
              </a:lnSpc>
              <a:buNone/>
              <a:defRPr sz="4950" b="1" i="0">
                <a:solidFill>
                  <a:srgbClr val="252A31"/>
                </a:solidFill>
                <a:latin typeface="Georgia"/>
                <a:ea typeface="Georgia"/>
                <a:cs typeface="Georgia"/>
              </a:defRPr>
            </a:pPr>
            <a:r>
              <a:rPr sz="4950" b="1" i="0">
                <a:solidFill>
                  <a:srgbClr val="252A31"/>
                </a:solidFill>
                <a:latin typeface="Georgia"/>
                <a:ea typeface="Georgia"/>
                <a:cs typeface="Georgia"/>
              </a:rPr>
              <a:t>Foundations</a:t>
            </a:r>
          </a:p>
        </p:txBody>
      </p:sp>
      <p:sp>
        <p:nvSpPr>
          <p:cNvPr id="4" name="">
            <a:extLst xmlns:a="http://schemas.openxmlformats.org/drawingml/2006/main">
              <a:ext uri="{FF2B5EF4-FFF2-40B4-BE49-F238E27FC236}">
                <a16:creationId xmlns:a16="http://schemas.microsoft.com/office/drawing/2014/main" id="{D74AB5BB-73C3-4A84-8F30-59B145E0B7ED}"/>
              </a:ext>
            </a:extLst>
          </p:cNvPr>
          <p:cNvSpPr>
            <a:spLocks xmlns:a="http://schemas.openxmlformats.org/drawingml/2006/main" noGrp="1"/>
          </p:cNvSpPr>
          <p:nvPr/>
        </p:nvSpPr>
        <p:spPr>
          <a:xfrm xmlns:a="http://schemas.openxmlformats.org/drawingml/2006/main" rot="0">
            <a:off x="723900" y="3981450"/>
            <a:ext cx="609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0" i="0">
                <a:solidFill>
                  <a:srgbClr val="68717D"/>
                </a:solidFill>
                <a:latin typeface="Arial"/>
                <a:ea typeface="Arial"/>
                <a:cs typeface="Arial"/>
              </a:defRPr>
            </a:pPr>
            <a:r>
              <a:rPr sz="2100" b="0" i="0">
                <a:solidFill>
                  <a:srgbClr val="68717D"/>
                </a:solidFill>
                <a:latin typeface="Arial"/>
                <a:ea typeface="Arial"/>
                <a:cs typeface="Arial"/>
              </a:rPr>
              <a:t>Preparation for ridge regression</a:t>
            </a:r>
          </a:p>
        </p:txBody>
      </p:sp>
      <p:sp>
        <p:nvSpPr>
          <p:cNvPr id="5" name="">
            <a:extLst xmlns:a="http://schemas.openxmlformats.org/drawingml/2006/main">
              <a:ext uri="{FF2B5EF4-FFF2-40B4-BE49-F238E27FC236}">
                <a16:creationId xmlns:a16="http://schemas.microsoft.com/office/drawing/2014/main" id="{29AF05F8-AB75-4630-9453-D90B681626BA}"/>
              </a:ext>
            </a:extLst>
          </p:cNvPr>
          <p:cNvSpPr>
            <a:spLocks xmlns:a="http://schemas.openxmlformats.org/drawingml/2006/main" noGrp="1"/>
          </p:cNvSpPr>
          <p:nvPr/>
        </p:nvSpPr>
        <p:spPr>
          <a:xfrm xmlns:a="http://schemas.openxmlformats.org/drawingml/2006/main" rot="0">
            <a:off x="8858250" y="971550"/>
            <a:ext cx="25717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5000"/>
              </a:lnSpc>
              <a:buNone/>
              <a:defRPr sz="19500" b="1" i="0">
                <a:solidFill>
                  <a:srgbClr val="EFE4C9"/>
                </a:solidFill>
                <a:latin typeface="Georgia"/>
                <a:ea typeface="Georgia"/>
                <a:cs typeface="Georgia"/>
              </a:defRPr>
            </a:pPr>
            <a:r>
              <a:rPr sz="19500" b="1" i="0">
                <a:solidFill>
                  <a:srgbClr val="EFE4C9"/>
                </a:solidFill>
                <a:latin typeface="Georgia"/>
                <a:ea typeface="Georgia"/>
                <a:cs typeface="Georgia"/>
              </a:rPr>
              <a:t>0</a:t>
            </a:r>
          </a:p>
        </p:txBody>
      </p:sp>
      <p:sp>
        <p:nvSpPr>
          <p:cNvPr id="6" name="">
            <a:extLst xmlns:a="http://schemas.openxmlformats.org/drawingml/2006/main">
              <a:ext uri="{FF2B5EF4-FFF2-40B4-BE49-F238E27FC236}">
                <a16:creationId xmlns:a16="http://schemas.microsoft.com/office/drawing/2014/main" id="{F03D7DB3-8DD4-4113-B78E-E3EABD533E65}"/>
              </a:ext>
            </a:extLst>
          </p:cNvPr>
          <p:cNvSpPr>
            <a:spLocks xmlns:a="http://schemas.openxmlformats.org/drawingml/2006/main" noGrp="1"/>
          </p:cNvSpPr>
          <p:nvPr/>
        </p:nvSpPr>
        <p:spPr>
          <a:xfrm xmlns:a="http://schemas.openxmlformats.org/drawingml/2006/main" rot="0">
            <a:off x="723900" y="584835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75" b="0" i="0">
                <a:solidFill>
                  <a:srgbClr val="252A31"/>
                </a:solidFill>
                <a:latin typeface="Arial"/>
                <a:ea typeface="Arial"/>
                <a:cs typeface="Arial"/>
              </a:defRPr>
            </a:pPr>
            <a:r>
              <a:rPr sz="1575" b="0" i="0">
                <a:solidFill>
                  <a:srgbClr val="252A31"/>
                </a:solidFill>
                <a:latin typeface="Arial"/>
                <a:ea typeface="Arial"/>
                <a:cs typeface="Arial"/>
              </a:rPr>
              <a:t>Nurdaulet Akhanov</a:t>
            </a:r>
          </a:p>
        </p:txBody>
      </p:sp>
      <p:sp>
        <p:nvSpPr>
          <p:cNvPr id="7" name="">
            <a:extLst xmlns:a="http://schemas.openxmlformats.org/drawingml/2006/main">
              <a:ext uri="{FF2B5EF4-FFF2-40B4-BE49-F238E27FC236}">
                <a16:creationId xmlns:a16="http://schemas.microsoft.com/office/drawing/2014/main" id="{E9D877E7-0F41-42FB-93EA-5CF873363158}"/>
              </a:ext>
            </a:extLst>
          </p:cNvPr>
          <p:cNvSpPr>
            <a:spLocks xmlns:a="http://schemas.openxmlformats.org/drawingml/2006/main" noGrp="1"/>
          </p:cNvSpPr>
          <p:nvPr/>
        </p:nvSpPr>
        <p:spPr>
          <a:xfrm xmlns:a="http://schemas.openxmlformats.org/drawingml/2006/main" rot="0">
            <a:off x="8572500" y="58483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575" b="0" i="0">
                <a:solidFill>
                  <a:srgbClr val="68717D"/>
                </a:solidFill>
                <a:latin typeface="Arial"/>
                <a:ea typeface="Arial"/>
                <a:cs typeface="Arial"/>
              </a:defRPr>
            </a:pPr>
            <a:r>
              <a:rPr sz="1575" b="0" i="0">
                <a:solidFill>
                  <a:srgbClr val="68717D"/>
                </a:solidFill>
                <a:latin typeface="Arial"/>
                <a:ea typeface="Arial"/>
                <a:cs typeface="Arial"/>
              </a:rPr>
              <a:t>4 September 2026</a:t>
            </a:r>
          </a:p>
        </p:txBody>
      </p:sp>
    </p:spTree>
    <p:extLst>
      <p:ext uri="{BB962C8B-B14F-4D97-AF65-F5344CB8AC3E}">
        <p14:creationId xmlns:p14="http://schemas.microsoft.com/office/powerpoint/2010/main" val="1247427712"/>
      </p:ext>
    </p:extLst>
  </p:cSld>
</p:sld>
</file>

<file path=ppt/slides/slide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4629FC7-4542-4462-9E63-C3BBA748192D}"/>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TUTORIAL CONTENTS</a:t>
            </a:r>
          </a:p>
        </p:txBody>
      </p:sp>
      <p:sp>
        <p:nvSpPr>
          <p:cNvPr id="2" name="">
            <a:extLst xmlns:a="http://schemas.openxmlformats.org/drawingml/2006/main">
              <a:ext uri="{FF2B5EF4-FFF2-40B4-BE49-F238E27FC236}">
                <a16:creationId xmlns:a16="http://schemas.microsoft.com/office/drawing/2014/main" id="{59F2D068-46C4-4258-A5CC-99FD3987365F}"/>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Session 0 tutorial map</a:t>
            </a:r>
          </a:p>
        </p:txBody>
      </p:sp>
      <p:sp>
        <p:nvSpPr>
          <p:cNvPr id="3" name="">
            <a:extLst xmlns:a="http://schemas.openxmlformats.org/drawingml/2006/main">
              <a:ext uri="{FF2B5EF4-FFF2-40B4-BE49-F238E27FC236}">
                <a16:creationId xmlns:a16="http://schemas.microsoft.com/office/drawing/2014/main" id="{250C4F80-5B18-4C19-AB29-9C30650A5827}"/>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B98D6029-2B06-44BF-9B19-BFE0227ECCFE}"/>
              </a:ext>
            </a:extLst>
          </p:cNvPr>
          <p:cNvSpPr>
            <a:spLocks xmlns:a="http://schemas.openxmlformats.org/drawingml/2006/main" noGrp="1"/>
          </p:cNvSpPr>
          <p:nvPr/>
        </p:nvSpPr>
        <p:spPr>
          <a:xfrm xmlns:a="http://schemas.openxmlformats.org/drawingml/2006/main" rot="0">
            <a:off x="838200" y="16573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PART I · THE MODEL</a:t>
            </a:r>
          </a:p>
        </p:txBody>
      </p:sp>
      <p:sp>
        <p:nvSpPr>
          <p:cNvPr id="5" name="">
            <a:extLst xmlns:a="http://schemas.openxmlformats.org/drawingml/2006/main">
              <a:ext uri="{FF2B5EF4-FFF2-40B4-BE49-F238E27FC236}">
                <a16:creationId xmlns:a16="http://schemas.microsoft.com/office/drawing/2014/main" id="{E5DAA9FF-CB1C-44E2-A9C1-490755895CFF}"/>
              </a:ext>
            </a:extLst>
          </p:cNvPr>
          <p:cNvSpPr>
            <a:spLocks xmlns:a="http://schemas.openxmlformats.org/drawingml/2006/main" noGrp="1"/>
          </p:cNvSpPr>
          <p:nvPr/>
        </p:nvSpPr>
        <p:spPr>
          <a:xfrm xmlns:a="http://schemas.openxmlformats.org/drawingml/2006/main" rot="0">
            <a:off x="838200" y="2019300"/>
            <a:ext cx="4762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1  From a table of cars to an equation</a:t>
            </a:r>
          </a:p>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2  Matrices, the intercept, and centering</a:t>
            </a:r>
          </a:p>
        </p:txBody>
      </p:sp>
      <p:sp>
        <p:nvSpPr>
          <p:cNvPr id="6" name="">
            <a:extLst xmlns:a="http://schemas.openxmlformats.org/drawingml/2006/main">
              <a:ext uri="{FF2B5EF4-FFF2-40B4-BE49-F238E27FC236}">
                <a16:creationId xmlns:a16="http://schemas.microsoft.com/office/drawing/2014/main" id="{9A1EEA98-2106-40B7-B47B-D2B3FA5FD9C6}"/>
              </a:ext>
            </a:extLst>
          </p:cNvPr>
          <p:cNvSpPr>
            <a:spLocks xmlns:a="http://schemas.openxmlformats.org/drawingml/2006/main" noGrp="1"/>
          </p:cNvSpPr>
          <p:nvPr/>
        </p:nvSpPr>
        <p:spPr>
          <a:xfrm xmlns:a="http://schemas.openxmlformats.org/drawingml/2006/main" rot="0">
            <a:off x="838200" y="32766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PART II · THE GEOMETRY OF CORRELATION</a:t>
            </a:r>
          </a:p>
        </p:txBody>
      </p:sp>
      <p:sp>
        <p:nvSpPr>
          <p:cNvPr id="7" name="">
            <a:extLst xmlns:a="http://schemas.openxmlformats.org/drawingml/2006/main">
              <a:ext uri="{FF2B5EF4-FFF2-40B4-BE49-F238E27FC236}">
                <a16:creationId xmlns:a16="http://schemas.microsoft.com/office/drawing/2014/main" id="{F48C5538-2BC4-46B0-A556-35A989833E99}"/>
              </a:ext>
            </a:extLst>
          </p:cNvPr>
          <p:cNvSpPr>
            <a:spLocks xmlns:a="http://schemas.openxmlformats.org/drawingml/2006/main" noGrp="1"/>
          </p:cNvSpPr>
          <p:nvPr/>
        </p:nvSpPr>
        <p:spPr>
          <a:xfrm xmlns:a="http://schemas.openxmlformats.org/drawingml/2006/main" rot="0">
            <a:off x="838200" y="3638550"/>
            <a:ext cx="47625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3  Predictors are vectors</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4  Correlation is an angle</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5  The correlation matrix XᵀX</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6  Eigenvalues: where the information is</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7  What we assume about the noise</a:t>
            </a:r>
          </a:p>
        </p:txBody>
      </p:sp>
      <p:sp>
        <p:nvSpPr>
          <p:cNvPr id="8" name="">
            <a:extLst xmlns:a="http://schemas.openxmlformats.org/drawingml/2006/main">
              <a:ext uri="{FF2B5EF4-FFF2-40B4-BE49-F238E27FC236}">
                <a16:creationId xmlns:a16="http://schemas.microsoft.com/office/drawing/2014/main" id="{7DEE057D-F2F6-45F5-8023-3E810ECDF7F0}"/>
              </a:ext>
            </a:extLst>
          </p:cNvPr>
          <p:cNvSpPr>
            <a:spLocks xmlns:a="http://schemas.openxmlformats.org/drawingml/2006/main" noGrp="1"/>
          </p:cNvSpPr>
          <p:nvPr/>
        </p:nvSpPr>
        <p:spPr>
          <a:xfrm xmlns:a="http://schemas.openxmlformats.org/drawingml/2006/main" rot="0">
            <a:off x="6076950" y="1657350"/>
            <a:ext cx="19050" cy="40005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C953EA7-4843-4EFE-95E9-9872B3030FC8}"/>
              </a:ext>
            </a:extLst>
          </p:cNvPr>
          <p:cNvSpPr>
            <a:spLocks xmlns:a="http://schemas.openxmlformats.org/drawingml/2006/main" noGrp="1"/>
          </p:cNvSpPr>
          <p:nvPr/>
        </p:nvSpPr>
        <p:spPr>
          <a:xfrm xmlns:a="http://schemas.openxmlformats.org/drawingml/2006/main" rot="0">
            <a:off x="6572250" y="165735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PART III · WHAT MAKES AN ESTIMATE GOOD</a:t>
            </a:r>
          </a:p>
        </p:txBody>
      </p:sp>
      <p:sp>
        <p:nvSpPr>
          <p:cNvPr id="10" name="">
            <a:extLst xmlns:a="http://schemas.openxmlformats.org/drawingml/2006/main">
              <a:ext uri="{FF2B5EF4-FFF2-40B4-BE49-F238E27FC236}">
                <a16:creationId xmlns:a16="http://schemas.microsoft.com/office/drawing/2014/main" id="{3D5F96D6-CDBA-4C07-BADF-C76A6D996ECF}"/>
              </a:ext>
            </a:extLst>
          </p:cNvPr>
          <p:cNvSpPr>
            <a:spLocks xmlns:a="http://schemas.openxmlformats.org/drawingml/2006/main" noGrp="1"/>
          </p:cNvSpPr>
          <p:nvPr/>
        </p:nvSpPr>
        <p:spPr>
          <a:xfrm xmlns:a="http://schemas.openxmlformats.org/drawingml/2006/main" rot="0">
            <a:off x="6572250" y="2019300"/>
            <a:ext cx="47625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8  Least squares, and why the estimate is random</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9  Estimators, bias, and variance</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10  Mean squared error</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11  The Gauss–Markov theorem</a:t>
            </a:r>
          </a:p>
          <a:p xmlns:a="http://schemas.openxmlformats.org/drawingml/2006/main">
            <a:pPr algn="l">
              <a:lnSpc>
                <a:spcPct val="113000"/>
              </a:lnSpc>
              <a:buNone/>
              <a:defRPr sz="1575" b="0" i="0">
                <a:solidFill>
                  <a:srgbClr val="252A31"/>
                </a:solidFill>
                <a:latin typeface="Arial"/>
                <a:ea typeface="Arial"/>
                <a:cs typeface="Arial"/>
              </a:defRPr>
            </a:pPr>
            <a:r>
              <a:rPr sz="1575" b="0" i="0">
                <a:solidFill>
                  <a:srgbClr val="252A31"/>
                </a:solidFill>
                <a:latin typeface="Arial"/>
                <a:ea typeface="Arial"/>
                <a:cs typeface="Arial"/>
              </a:rPr>
              <a:t>12  Where this leaves us</a:t>
            </a:r>
          </a:p>
        </p:txBody>
      </p:sp>
      <p:sp>
        <p:nvSpPr>
          <p:cNvPr id="11" name="">
            <a:extLst xmlns:a="http://schemas.openxmlformats.org/drawingml/2006/main">
              <a:ext uri="{FF2B5EF4-FFF2-40B4-BE49-F238E27FC236}">
                <a16:creationId xmlns:a16="http://schemas.microsoft.com/office/drawing/2014/main" id="{B435FE0A-7E9E-48B7-BB34-3BEEBFD4B420}"/>
              </a:ext>
            </a:extLst>
          </p:cNvPr>
          <p:cNvSpPr>
            <a:spLocks xmlns:a="http://schemas.openxmlformats.org/drawingml/2006/main" noGrp="1"/>
          </p:cNvSpPr>
          <p:nvPr/>
        </p:nvSpPr>
        <p:spPr>
          <a:xfrm xmlns:a="http://schemas.openxmlformats.org/drawingml/2006/main" rot="0">
            <a:off x="6572250" y="42291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CLOSING</a:t>
            </a:r>
          </a:p>
        </p:txBody>
      </p:sp>
      <p:sp>
        <p:nvSpPr>
          <p:cNvPr id="12" name="">
            <a:extLst xmlns:a="http://schemas.openxmlformats.org/drawingml/2006/main">
              <a:ext uri="{FF2B5EF4-FFF2-40B4-BE49-F238E27FC236}">
                <a16:creationId xmlns:a16="http://schemas.microsoft.com/office/drawing/2014/main" id="{6495F4C7-57E6-4628-9C2C-CB1729EE0FD1}"/>
              </a:ext>
            </a:extLst>
          </p:cNvPr>
          <p:cNvSpPr>
            <a:spLocks xmlns:a="http://schemas.openxmlformats.org/drawingml/2006/main" noGrp="1"/>
          </p:cNvSpPr>
          <p:nvPr/>
        </p:nvSpPr>
        <p:spPr>
          <a:xfrm xmlns:a="http://schemas.openxmlformats.org/drawingml/2006/main" rot="0">
            <a:off x="6572250" y="459105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13  Proof exercises</a:t>
            </a:r>
          </a:p>
          <a:p xmlns:a="http://schemas.openxmlformats.org/drawingml/2006/main">
            <a:pPr algn="l">
              <a:lnSpc>
                <a:spcPct val="118000"/>
              </a:lnSpc>
              <a:buNone/>
              <a:defRPr sz="1650" b="1" i="0">
                <a:solidFill>
                  <a:srgbClr val="252A31"/>
                </a:solidFill>
                <a:latin typeface="Arial"/>
                <a:ea typeface="Arial"/>
                <a:cs typeface="Arial"/>
              </a:defRPr>
            </a:pPr>
            <a:r>
              <a:rPr sz="1650" b="1" i="0">
                <a:solidFill>
                  <a:srgbClr val="252A31"/>
                </a:solidFill>
                <a:latin typeface="Arial"/>
                <a:ea typeface="Arial"/>
                <a:cs typeface="Arial"/>
              </a:rPr>
              <a:t>14  Proof checklist</a:t>
            </a:r>
          </a:p>
        </p:txBody>
      </p:sp>
      <p:sp>
        <p:nvSpPr>
          <p:cNvPr id="13" name="">
            <a:extLst xmlns:a="http://schemas.openxmlformats.org/drawingml/2006/main">
              <a:ext uri="{FF2B5EF4-FFF2-40B4-BE49-F238E27FC236}">
                <a16:creationId xmlns:a16="http://schemas.microsoft.com/office/drawing/2014/main" id="{F5B771F0-C27F-4B86-A1ED-BB48B3FB53F8}"/>
              </a:ext>
            </a:extLst>
          </p:cNvPr>
          <p:cNvSpPr>
            <a:spLocks xmlns:a="http://schemas.openxmlformats.org/drawingml/2006/main" noGrp="1"/>
          </p:cNvSpPr>
          <p:nvPr/>
        </p:nvSpPr>
        <p:spPr>
          <a:xfrm xmlns:a="http://schemas.openxmlformats.org/drawingml/2006/main" rot="0">
            <a:off x="685800" y="595312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575" b="0" i="1">
                <a:solidFill>
                  <a:srgbClr val="68717D"/>
                </a:solidFill>
                <a:latin typeface="Arial"/>
                <a:ea typeface="Arial"/>
                <a:cs typeface="Arial"/>
              </a:defRPr>
            </a:pPr>
            <a:r>
              <a:rPr sz="1575" b="0" i="1">
                <a:solidFill>
                  <a:srgbClr val="68717D"/>
                </a:solidFill>
                <a:latin typeface="Arial"/>
                <a:ea typeface="Arial"/>
                <a:cs typeface="Arial"/>
              </a:rPr>
              <a:t>The slides now follow these sections in this exact order.</a:t>
            </a:r>
          </a:p>
        </p:txBody>
      </p:sp>
    </p:spTree>
    <p:extLst>
      <p:ext uri="{BB962C8B-B14F-4D97-AF65-F5344CB8AC3E}">
        <p14:creationId xmlns:p14="http://schemas.microsoft.com/office/powerpoint/2010/main" val="1819580361"/>
      </p:ext>
    </p:extLst>
  </p:cSld>
</p:sld>
</file>

<file path=ppt/slides/slide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AD914D9-20A6-4737-BE0F-29819F3AC2D7}"/>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 · PART I</a:t>
            </a:r>
          </a:p>
        </p:txBody>
      </p:sp>
      <p:sp>
        <p:nvSpPr>
          <p:cNvPr id="2" name="">
            <a:extLst xmlns:a="http://schemas.openxmlformats.org/drawingml/2006/main">
              <a:ext uri="{FF2B5EF4-FFF2-40B4-BE49-F238E27FC236}">
                <a16:creationId xmlns:a16="http://schemas.microsoft.com/office/drawing/2014/main" id="{6B87595C-71B4-4B91-B297-205C44004718}"/>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From a table of cars to an equation</a:t>
            </a:r>
          </a:p>
        </p:txBody>
      </p:sp>
      <p:sp>
        <p:nvSpPr>
          <p:cNvPr id="3" name="">
            <a:extLst xmlns:a="http://schemas.openxmlformats.org/drawingml/2006/main">
              <a:ext uri="{FF2B5EF4-FFF2-40B4-BE49-F238E27FC236}">
                <a16:creationId xmlns:a16="http://schemas.microsoft.com/office/drawing/2014/main" id="{F6A772C2-7526-40CF-92E7-DCD127A741ED}"/>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3</a:t>
            </a:r>
          </a:p>
        </p:txBody>
      </p:sp>
      <p:graphicFrame>
        <p:nvGraphicFramePr>
          <p:cNvPr id="9" name=""/>
          <p:cNvGraphicFramePr/>
          <p:nvPr/>
        </p:nvGraphicFramePr>
        <p:xfrm>
          <a:off xmlns:a="http://schemas.openxmlformats.org/drawingml/2006/main" x="876300" y="1695450"/>
          <a:ext xmlns:a="http://schemas.openxmlformats.org/drawingml/2006/main" cx="10439400" cy="3333750"/>
        </p:xfrm>
        <a:graphic xmlns:a="http://schemas.openxmlformats.org/drawingml/2006/main">
          <a:graphicData uri="http://schemas.openxmlformats.org/drawingml/2006/table">
            <a:tbl>
              <a:tblPr/>
              <a:tblGrid>
                <a:gridCol w="1588604"/>
                <a:gridCol w="2723322"/>
                <a:gridCol w="2723322"/>
                <a:gridCol w="3404152"/>
              </a:tblGrid>
              <a:tr h="552450">
                <a:tc>
                  <a:txBody>
                    <a:bodyPr/>
                    <a:lstStyle/>
                    <a:p>
                      <a:pPr algn="ctr"/>
                      <a:r>
                        <a:rPr sz="1650" b="1">
                          <a:solidFill>
                            <a:srgbClr val="252A31"/>
                          </a:solidFill>
                          <a:latin typeface="Arial"/>
                          <a:ea typeface="Arial"/>
                          <a:cs typeface="Arial"/>
                        </a:rPr>
                        <a:t>Car</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Weight (t)</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Horsepower</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Fuel (L/100 km)</a:t>
                      </a:r>
                    </a:p>
                  </a:txBody>
                  <a:tcPr marL="91440" marR="91440" marT="45720" marB="45720" anchor="ctr">
                    <a:solidFill>
                      <a:srgbClr val="EFE4C9"/>
                    </a:solidFill>
                  </a:tcPr>
                </a:tc>
              </a:tr>
              <a:tr h="533400">
                <a:tc>
                  <a:txBody>
                    <a:bodyPr/>
                    <a:lstStyle/>
                    <a:p>
                      <a:pPr algn="ctr"/>
                      <a:r>
                        <a:rPr sz="1575" b="0">
                          <a:solidFill>
                            <a:srgbClr val="252A31"/>
                          </a:solidFill>
                          <a:latin typeface="Arial"/>
                          <a:ea typeface="Arial"/>
                          <a:cs typeface="Arial"/>
                        </a:rPr>
                        <a:t>1</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1.2</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95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6.4</a:t>
                      </a:r>
                    </a:p>
                  </a:txBody>
                  <a:tcPr marL="91440" marR="91440" marT="45720" marB="45720" anchor="ctr">
                    <a:solidFill>
                      <a:srgbClr val="F7F7F5"/>
                    </a:solidFill>
                  </a:tcPr>
                </a:tc>
              </a:tr>
              <a:tr h="533400">
                <a:tc>
                  <a:txBody>
                    <a:bodyPr/>
                    <a:lstStyle/>
                    <a:p>
                      <a:pPr algn="ctr"/>
                      <a:r>
                        <a:rPr sz="1575" b="0">
                          <a:solidFill>
                            <a:srgbClr val="252A31"/>
                          </a:solidFill>
                          <a:latin typeface="Arial"/>
                          <a:ea typeface="Arial"/>
                          <a:cs typeface="Arial"/>
                        </a:rPr>
                        <a:t>2</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1.4</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100</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7.1</a:t>
                      </a:r>
                    </a:p>
                  </a:txBody>
                  <a:tcPr marL="91440" marR="91440" marT="45720" marB="45720" anchor="ctr">
                    <a:solidFill>
                      <a:srgbClr val="FFFDF8"/>
                    </a:solidFill>
                  </a:tcPr>
                </a:tc>
              </a:tr>
              <a:tr h="533400">
                <a:tc>
                  <a:txBody>
                    <a:bodyPr/>
                    <a:lstStyle/>
                    <a:p>
                      <a:pPr algn="ctr"/>
                      <a:r>
                        <a:rPr sz="1575" b="0">
                          <a:solidFill>
                            <a:srgbClr val="252A31"/>
                          </a:solidFill>
                          <a:latin typeface="Arial"/>
                          <a:ea typeface="Arial"/>
                          <a:cs typeface="Arial"/>
                        </a:rPr>
                        <a:t>3</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1.0</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90</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5.8</a:t>
                      </a:r>
                    </a:p>
                  </a:txBody>
                  <a:tcPr marL="91440" marR="91440" marT="45720" marB="45720" anchor="ctr">
                    <a:solidFill>
                      <a:srgbClr val="F7F7F5"/>
                    </a:solidFill>
                  </a:tcPr>
                </a:tc>
              </a:tr>
              <a:tr h="533400">
                <a:tc>
                  <a:txBody>
                    <a:bodyPr/>
                    <a:lstStyle/>
                    <a:p>
                      <a:pPr algn="ctr"/>
                      <a:r>
                        <a:rPr sz="1575" b="0">
                          <a:solidFill>
                            <a:srgbClr val="252A31"/>
                          </a:solidFill>
                          <a:latin typeface="Arial"/>
                          <a:ea typeface="Arial"/>
                          <a:cs typeface="Arial"/>
                        </a:rPr>
                        <a:t>4</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1.8</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150</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9.6</a:t>
                      </a:r>
                    </a:p>
                  </a:txBody>
                  <a:tcPr marL="91440" marR="91440" marT="45720" marB="45720" anchor="ctr">
                    <a:solidFill>
                      <a:srgbClr val="FFFDF8"/>
                    </a:solidFill>
                  </a:tcPr>
                </a:tc>
              </a:tr>
              <a:tr h="533400">
                <a:tc>
                  <a:txBody>
                    <a:bodyPr/>
                    <a:lstStyle/>
                    <a:p>
                      <a:pPr algn="ctr"/>
                      <a:r>
                        <a:rPr sz="1575" b="0">
                          <a:solidFill>
                            <a:srgbClr val="252A31"/>
                          </a:solidFill>
                          <a:latin typeface="Arial"/>
                          <a:ea typeface="Arial"/>
                          <a:cs typeface="Arial"/>
                        </a:rPr>
                        <a:t>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1.6</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115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8.2</a:t>
                      </a:r>
                    </a:p>
                  </a:txBody>
                  <a:tcPr marL="91440" marR="91440" marT="45720" marB="45720" anchor="ctr">
                    <a:solidFill>
                      <a:srgbClr val="F7F7F5"/>
                    </a:solidFill>
                  </a:tcPr>
                </a:tc>
              </a:tr>
            </a:tbl>
          </a:graphicData>
        </a:graphic>
      </p:graphicFrame>
      <p:sp>
        <p:nvSpPr>
          <p:cNvPr id="5" name="">
            <a:extLst xmlns:a="http://schemas.openxmlformats.org/drawingml/2006/main">
              <a:ext uri="{FF2B5EF4-FFF2-40B4-BE49-F238E27FC236}">
                <a16:creationId xmlns:a16="http://schemas.microsoft.com/office/drawing/2014/main" id="{A405764E-3104-40C0-9A0C-8C410829717C}"/>
              </a:ext>
            </a:extLst>
          </p:cNvPr>
          <p:cNvSpPr>
            <a:spLocks xmlns:a="http://schemas.openxmlformats.org/drawingml/2006/main" noGrp="1"/>
          </p:cNvSpPr>
          <p:nvPr/>
        </p:nvSpPr>
        <p:spPr>
          <a:xfrm xmlns:a="http://schemas.openxmlformats.org/drawingml/2006/main" rot="0">
            <a:off x="876300" y="5381625"/>
            <a:ext cx="10439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a:solidFill>
                  <a:srgbClr val="252A31"/>
                </a:solidFill>
                <a:latin typeface="Arial"/>
                <a:ea typeface="Arial"/>
                <a:cs typeface="Arial"/>
              </a:defRPr>
            </a:pPr>
            <a:r>
              <a:rPr sz="1800" b="1">
                <a:solidFill>
                  <a:srgbClr val="252A31"/>
                </a:solidFill>
                <a:latin typeface="Arial"/>
                <a:ea typeface="Arial"/>
                <a:cs typeface="Arial"/>
              </a:rPr>
              <a:t>Response: </a:t>
            </a:r>
            <a:r>
              <a:rPr sz="1800">
                <a:solidFill>
                  <a:srgbClr val="252A31"/>
                </a:solidFill>
                <a:latin typeface="Arial"/>
                <a:ea typeface="Arial"/>
                <a:cs typeface="Arial"/>
              </a:rPr>
              <a:t>fuel consumption    </a:t>
            </a:r>
            <a:r>
              <a:rPr sz="1800" b="1">
                <a:solidFill>
                  <a:srgbClr val="252A31"/>
                </a:solidFill>
                <a:latin typeface="Arial"/>
                <a:ea typeface="Arial"/>
                <a:cs typeface="Arial"/>
              </a:rPr>
              <a:t>Predictors: </a:t>
            </a:r>
            <a:r>
              <a:rPr sz="1800">
                <a:solidFill>
                  <a:srgbClr val="252A31"/>
                </a:solidFill>
                <a:latin typeface="Arial"/>
                <a:ea typeface="Arial"/>
                <a:cs typeface="Arial"/>
              </a:rPr>
              <a:t>weight and horsepower</a:t>
            </a:r>
          </a:p>
        </p:txBody>
      </p:sp>
    </p:spTree>
    <p:extLst>
      <p:ext uri="{BB962C8B-B14F-4D97-AF65-F5344CB8AC3E}">
        <p14:creationId xmlns:p14="http://schemas.microsoft.com/office/powerpoint/2010/main" val="478178421"/>
      </p:ext>
    </p:extLst>
  </p:cSld>
</p:sld>
</file>

<file path=ppt/slides/slide4.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7F205E2-AF6D-444A-AE64-CD18CD6B0C21}"/>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2 · PART I</a:t>
            </a:r>
          </a:p>
        </p:txBody>
      </p:sp>
      <p:sp>
        <p:nvSpPr>
          <p:cNvPr id="2" name="">
            <a:extLst xmlns:a="http://schemas.openxmlformats.org/drawingml/2006/main">
              <a:ext uri="{FF2B5EF4-FFF2-40B4-BE49-F238E27FC236}">
                <a16:creationId xmlns:a16="http://schemas.microsoft.com/office/drawing/2014/main" id="{5C3D2BDE-A765-4021-9694-36B41E5AB4FE}"/>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Matrices and the linear model</a:t>
            </a:r>
          </a:p>
        </p:txBody>
      </p:sp>
      <p:sp>
        <p:nvSpPr>
          <p:cNvPr id="3" name="">
            <a:extLst xmlns:a="http://schemas.openxmlformats.org/drawingml/2006/main">
              <a:ext uri="{FF2B5EF4-FFF2-40B4-BE49-F238E27FC236}">
                <a16:creationId xmlns:a16="http://schemas.microsoft.com/office/drawing/2014/main" id="{1034027A-DDF0-4A18-87D3-27041A95666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7AFA5546-6D18-4034-88BA-CE4D87EEE282}"/>
              </a:ext>
            </a:extLst>
          </p:cNvPr>
          <p:cNvSpPr>
            <a:spLocks xmlns:a="http://schemas.openxmlformats.org/drawingml/2006/main" noGrp="1"/>
          </p:cNvSpPr>
          <p:nvPr/>
        </p:nvSpPr>
        <p:spPr>
          <a:xfrm xmlns:a="http://schemas.openxmlformats.org/drawingml/2006/main" rot="0">
            <a:off x="2667000" y="1676400"/>
            <a:ext cx="6858000" cy="857250"/>
          </a:xfrm>
          <a:prstGeom xmlns:a="http://schemas.openxmlformats.org/drawingml/2006/main" prst="roundRect">
            <a:avLst>
              <a:gd name="adj" fmla="val 15556"/>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900" b="0" i="0">
                <a:solidFill>
                  <a:srgbClr val="252A31"/>
                </a:solidFill>
                <a:latin typeface="Cambria Math"/>
                <a:ea typeface="Cambria Math"/>
                <a:cs typeface="Cambria Math"/>
              </a:defRPr>
            </a:pPr>
            <a:r>
              <a:rPr sz="3900" b="0" i="0">
                <a:solidFill>
                  <a:srgbClr val="252A31"/>
                </a:solidFill>
                <a:latin typeface="Cambria Math"/>
                <a:ea typeface="Cambria Math"/>
                <a:cs typeface="Cambria Math"/>
              </a:rPr>
              <a:t>Y = Xβ + ε</a:t>
            </a:r>
          </a:p>
        </p:txBody>
      </p:sp>
      <p:sp>
        <p:nvSpPr>
          <p:cNvPr id="5" name="">
            <a:extLst xmlns:a="http://schemas.openxmlformats.org/drawingml/2006/main">
              <a:ext uri="{FF2B5EF4-FFF2-40B4-BE49-F238E27FC236}">
                <a16:creationId xmlns:a16="http://schemas.microsoft.com/office/drawing/2014/main" id="{21E3BA2E-D9FB-4F37-A8AC-616EE919AA0F}"/>
              </a:ext>
            </a:extLst>
          </p:cNvPr>
          <p:cNvSpPr>
            <a:spLocks xmlns:a="http://schemas.openxmlformats.org/drawingml/2006/main" noGrp="1"/>
          </p:cNvSpPr>
          <p:nvPr/>
        </p:nvSpPr>
        <p:spPr>
          <a:xfrm xmlns:a="http://schemas.openxmlformats.org/drawingml/2006/main" rot="0">
            <a:off x="990600"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OBSERVATIONS</a:t>
            </a:r>
          </a:p>
        </p:txBody>
      </p:sp>
      <p:sp>
        <p:nvSpPr>
          <p:cNvPr id="6" name="">
            <a:extLst xmlns:a="http://schemas.openxmlformats.org/drawingml/2006/main">
              <a:ext uri="{FF2B5EF4-FFF2-40B4-BE49-F238E27FC236}">
                <a16:creationId xmlns:a16="http://schemas.microsoft.com/office/drawing/2014/main" id="{0140E26D-672A-4AEE-85BC-3BFA1A84D917}"/>
              </a:ext>
            </a:extLst>
          </p:cNvPr>
          <p:cNvSpPr>
            <a:spLocks xmlns:a="http://schemas.openxmlformats.org/drawingml/2006/main" noGrp="1"/>
          </p:cNvSpPr>
          <p:nvPr/>
        </p:nvSpPr>
        <p:spPr>
          <a:xfrm xmlns:a="http://schemas.openxmlformats.org/drawingml/2006/main" rot="0">
            <a:off x="876300"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Y, ε ∈ ℝⁿ</a:t>
            </a:r>
          </a:p>
        </p:txBody>
      </p:sp>
      <p:sp>
        <p:nvSpPr>
          <p:cNvPr id="7" name="">
            <a:extLst xmlns:a="http://schemas.openxmlformats.org/drawingml/2006/main">
              <a:ext uri="{FF2B5EF4-FFF2-40B4-BE49-F238E27FC236}">
                <a16:creationId xmlns:a16="http://schemas.microsoft.com/office/drawing/2014/main" id="{340D2C2D-D1E8-4820-B55F-F034FB2899C6}"/>
              </a:ext>
            </a:extLst>
          </p:cNvPr>
          <p:cNvSpPr>
            <a:spLocks xmlns:a="http://schemas.openxmlformats.org/drawingml/2006/main" noGrp="1"/>
          </p:cNvSpPr>
          <p:nvPr/>
        </p:nvSpPr>
        <p:spPr>
          <a:xfrm xmlns:a="http://schemas.openxmlformats.org/drawingml/2006/main" rot="0">
            <a:off x="4714875"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DESIGN MATRIX</a:t>
            </a:r>
          </a:p>
        </p:txBody>
      </p:sp>
      <p:sp>
        <p:nvSpPr>
          <p:cNvPr id="8" name="">
            <a:extLst xmlns:a="http://schemas.openxmlformats.org/drawingml/2006/main">
              <a:ext uri="{FF2B5EF4-FFF2-40B4-BE49-F238E27FC236}">
                <a16:creationId xmlns:a16="http://schemas.microsoft.com/office/drawing/2014/main" id="{EC8EE46A-C633-44F1-83DD-3F30712C3FC2}"/>
              </a:ext>
            </a:extLst>
          </p:cNvPr>
          <p:cNvSpPr>
            <a:spLocks xmlns:a="http://schemas.openxmlformats.org/drawingml/2006/main" noGrp="1"/>
          </p:cNvSpPr>
          <p:nvPr/>
        </p:nvSpPr>
        <p:spPr>
          <a:xfrm xmlns:a="http://schemas.openxmlformats.org/drawingml/2006/main" rot="0">
            <a:off x="4619625"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dim(X) = n × p</a:t>
            </a:r>
          </a:p>
        </p:txBody>
      </p:sp>
      <p:sp>
        <p:nvSpPr>
          <p:cNvPr id="9" name="">
            <a:extLst xmlns:a="http://schemas.openxmlformats.org/drawingml/2006/main">
              <a:ext uri="{FF2B5EF4-FFF2-40B4-BE49-F238E27FC236}">
                <a16:creationId xmlns:a16="http://schemas.microsoft.com/office/drawing/2014/main" id="{8628D47B-B8F5-436A-9E9E-7B443750C2B3}"/>
              </a:ext>
            </a:extLst>
          </p:cNvPr>
          <p:cNvSpPr>
            <a:spLocks xmlns:a="http://schemas.openxmlformats.org/drawingml/2006/main" noGrp="1"/>
          </p:cNvSpPr>
          <p:nvPr/>
        </p:nvSpPr>
        <p:spPr>
          <a:xfrm xmlns:a="http://schemas.openxmlformats.org/drawingml/2006/main" rot="0">
            <a:off x="8477250"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PARAMETERS</a:t>
            </a:r>
          </a:p>
        </p:txBody>
      </p:sp>
      <p:sp>
        <p:nvSpPr>
          <p:cNvPr id="10" name="">
            <a:extLst xmlns:a="http://schemas.openxmlformats.org/drawingml/2006/main">
              <a:ext uri="{FF2B5EF4-FFF2-40B4-BE49-F238E27FC236}">
                <a16:creationId xmlns:a16="http://schemas.microsoft.com/office/drawing/2014/main" id="{458C9F63-DE07-4E9D-86E5-ADA6336DEE3E}"/>
              </a:ext>
            </a:extLst>
          </p:cNvPr>
          <p:cNvSpPr>
            <a:spLocks xmlns:a="http://schemas.openxmlformats.org/drawingml/2006/main" noGrp="1"/>
          </p:cNvSpPr>
          <p:nvPr/>
        </p:nvSpPr>
        <p:spPr>
          <a:xfrm xmlns:a="http://schemas.openxmlformats.org/drawingml/2006/main" rot="0">
            <a:off x="8382000"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β ∈ ℝᵖ</a:t>
            </a:r>
          </a:p>
        </p:txBody>
      </p:sp>
      <p:sp>
        <p:nvSpPr>
          <p:cNvPr id="11" name="">
            <a:extLst xmlns:a="http://schemas.openxmlformats.org/drawingml/2006/main">
              <a:ext uri="{FF2B5EF4-FFF2-40B4-BE49-F238E27FC236}">
                <a16:creationId xmlns:a16="http://schemas.microsoft.com/office/drawing/2014/main" id="{4A2F91E9-57B6-42D0-8AB0-67C60851EB0B}"/>
              </a:ext>
            </a:extLst>
          </p:cNvPr>
          <p:cNvSpPr>
            <a:spLocks xmlns:a="http://schemas.openxmlformats.org/drawingml/2006/main" noGrp="1"/>
          </p:cNvSpPr>
          <p:nvPr/>
        </p:nvSpPr>
        <p:spPr>
          <a:xfrm xmlns:a="http://schemas.openxmlformats.org/drawingml/2006/main" rot="0">
            <a:off x="876300" y="4953000"/>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252A31"/>
                </a:solidFill>
                <a:latin typeface="Arial"/>
                <a:ea typeface="Arial"/>
                <a:cs typeface="Arial"/>
              </a:defRPr>
            </a:pPr>
            <a:r>
              <a:rPr sz="2025" b="0" i="0">
                <a:solidFill>
                  <a:srgbClr val="252A31"/>
                </a:solidFill>
                <a:latin typeface="Arial"/>
                <a:ea typeface="Arial"/>
                <a:cs typeface="Arial"/>
              </a:rPr>
              <a:t>Car example: n = 5 observations and p = 2 predictors, so X is 5 × 2.</a:t>
            </a:r>
          </a:p>
        </p:txBody>
      </p:sp>
    </p:spTree>
    <p:extLst>
      <p:ext uri="{BB962C8B-B14F-4D97-AF65-F5344CB8AC3E}">
        <p14:creationId xmlns:p14="http://schemas.microsoft.com/office/powerpoint/2010/main" val="1273518453"/>
      </p:ext>
    </p:extLst>
  </p:cSld>
</p:sld>
</file>

<file path=ppt/slides/slide5.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0603506-E54E-4F1E-BA60-F3E47007C3B9}"/>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2 · PART I</a:t>
            </a:r>
          </a:p>
        </p:txBody>
      </p:sp>
      <p:sp>
        <p:nvSpPr>
          <p:cNvPr id="2" name="">
            <a:extLst xmlns:a="http://schemas.openxmlformats.org/drawingml/2006/main">
              <a:ext uri="{FF2B5EF4-FFF2-40B4-BE49-F238E27FC236}">
                <a16:creationId xmlns:a16="http://schemas.microsoft.com/office/drawing/2014/main" id="{B92C7D76-7A9F-4484-B7E1-115CBFFBF04A}"/>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Intercept and centering</a:t>
            </a:r>
          </a:p>
        </p:txBody>
      </p:sp>
      <p:sp>
        <p:nvSpPr>
          <p:cNvPr id="3" name="">
            <a:extLst xmlns:a="http://schemas.openxmlformats.org/drawingml/2006/main">
              <a:ext uri="{FF2B5EF4-FFF2-40B4-BE49-F238E27FC236}">
                <a16:creationId xmlns:a16="http://schemas.microsoft.com/office/drawing/2014/main" id="{82CDD4CD-605E-4D1F-876E-BFA89BB85E6A}"/>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5</a:t>
            </a:r>
          </a:p>
        </p:txBody>
      </p:sp>
      <p:sp>
        <p:nvSpPr>
          <p:cNvPr id="4" name="">
            <a:extLst xmlns:a="http://schemas.openxmlformats.org/drawingml/2006/main">
              <a:ext uri="{FF2B5EF4-FFF2-40B4-BE49-F238E27FC236}">
                <a16:creationId xmlns:a16="http://schemas.microsoft.com/office/drawing/2014/main" id="{9AF69E7E-B4A2-4AB1-80A2-48E3E637B5B6}"/>
              </a:ext>
            </a:extLst>
          </p:cNvPr>
          <p:cNvSpPr>
            <a:spLocks xmlns:a="http://schemas.openxmlformats.org/drawingml/2006/main" noGrp="1"/>
          </p:cNvSpPr>
          <p:nvPr/>
        </p:nvSpPr>
        <p:spPr>
          <a:xfrm xmlns:a="http://schemas.openxmlformats.org/drawingml/2006/main" rot="0">
            <a:off x="876300" y="1428750"/>
            <a:ext cx="10439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575" b="0" i="0">
                <a:solidFill>
                  <a:srgbClr val="68717D"/>
                </a:solidFill>
                <a:latin typeface="Arial"/>
                <a:ea typeface="Arial"/>
                <a:cs typeface="Arial"/>
              </a:defRPr>
            </a:pPr>
            <a:r>
              <a:rPr sz="1575" b="0" i="0">
                <a:solidFill>
                  <a:srgbClr val="68717D"/>
                </a:solidFill>
                <a:latin typeface="Arial"/>
                <a:ea typeface="Arial"/>
                <a:cs typeface="Arial"/>
              </a:rPr>
              <a:t>One shared coordinate plane makes the translation visible.</a:t>
            </a:r>
          </a:p>
        </p:txBody>
      </p:sp>
      <p:graphicFrame>
        <p:nvGraphicFramePr>
          <p:cNvPr id="15" name="Chart"/>
          <p:cNvGraphicFramePr/>
          <p:nvPr/>
        </p:nvGraphicFramePr>
        <p:xfrm>
          <a:off xmlns:a="http://schemas.openxmlformats.org/drawingml/2006/main" x="1200150" y="1771650"/>
          <a:ext xmlns:a="http://schemas.openxmlformats.org/drawingml/2006/main" cx="9791700" cy="3638550"/>
        </p:xfrm>
        <a:graphic xmlns:a="http://schemas.openxmlformats.org/drawingml/2006/main">
          <a:graphicData uri="http://schemas.openxmlformats.org/drawingml/2006/chart">
            <c:chart xmlns:r="http://schemas.openxmlformats.org/officeDocument/2006/relationships" xmlns:c="http://schemas.openxmlformats.org/drawingml/2006/chart" r:id="Rf43cf3e6bcce4e65"/>
          </a:graphicData>
        </a:graphic>
      </p:graphicFrame>
      <p:sp>
        <p:nvSpPr>
          <p:cNvPr id="6" name="">
            <a:extLst xmlns:a="http://schemas.openxmlformats.org/drawingml/2006/main">
              <a:ext uri="{FF2B5EF4-FFF2-40B4-BE49-F238E27FC236}">
                <a16:creationId xmlns:a16="http://schemas.microsoft.com/office/drawing/2014/main" id="{20672E91-3DDF-4424-96EC-56C0AE8B2000}"/>
              </a:ext>
            </a:extLst>
          </p:cNvPr>
          <p:cNvSpPr>
            <a:spLocks xmlns:a="http://schemas.openxmlformats.org/drawingml/2006/main" noGrp="1"/>
          </p:cNvSpPr>
          <p:nvPr/>
        </p:nvSpPr>
        <p:spPr>
          <a:xfrm xmlns:a="http://schemas.openxmlformats.org/drawingml/2006/main" rot="0">
            <a:off x="8343900" y="2428875"/>
            <a:ext cx="1809750" cy="247650"/>
          </a:xfrm>
          <a:prstGeom xmlns:a="http://schemas.openxmlformats.org/drawingml/2006/main" prst="rect">
            <a:avLst/>
          </a:prstGeom>
          <a:solidFill xmlns:a="http://schemas.openxmlformats.org/drawingml/2006/main">
            <a:srgbClr val="FFFDF8"/>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200" b="1" i="0">
                <a:solidFill>
                  <a:srgbClr val="A64B3C"/>
                </a:solidFill>
                <a:latin typeface="Arial"/>
                <a:ea typeface="Arial"/>
                <a:cs typeface="Arial"/>
              </a:defRPr>
            </a:pPr>
            <a:r>
              <a:rPr sz="1200" b="1" i="0">
                <a:solidFill>
                  <a:srgbClr val="A64B3C"/>
                </a:solidFill>
                <a:latin typeface="Arial"/>
                <a:ea typeface="Arial"/>
                <a:cs typeface="Arial"/>
              </a:rPr>
              <a:t>mean (6, 4.5)</a:t>
            </a:r>
          </a:p>
        </p:txBody>
      </p:sp>
      <p:sp>
        <p:nvSpPr>
          <p:cNvPr id="7" name="">
            <a:extLst xmlns:a="http://schemas.openxmlformats.org/drawingml/2006/main">
              <a:ext uri="{FF2B5EF4-FFF2-40B4-BE49-F238E27FC236}">
                <a16:creationId xmlns:a16="http://schemas.microsoft.com/office/drawing/2014/main" id="{F040ED57-4F4A-455A-95D6-511B89F77FB0}"/>
              </a:ext>
            </a:extLst>
          </p:cNvPr>
          <p:cNvSpPr>
            <a:spLocks xmlns:a="http://schemas.openxmlformats.org/drawingml/2006/main" noGrp="1"/>
          </p:cNvSpPr>
          <p:nvPr/>
        </p:nvSpPr>
        <p:spPr>
          <a:xfrm xmlns:a="http://schemas.openxmlformats.org/drawingml/2006/main" rot="0">
            <a:off x="2800350" y="4495800"/>
            <a:ext cx="1905000" cy="247650"/>
          </a:xfrm>
          <a:prstGeom xmlns:a="http://schemas.openxmlformats.org/drawingml/2006/main" prst="rect">
            <a:avLst/>
          </a:prstGeom>
          <a:solidFill xmlns:a="http://schemas.openxmlformats.org/drawingml/2006/main">
            <a:srgbClr val="FFFDF8"/>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200" b="1" i="0">
                <a:solidFill>
                  <a:srgbClr val="A64B3C"/>
                </a:solidFill>
                <a:latin typeface="Arial"/>
                <a:ea typeface="Arial"/>
                <a:cs typeface="Arial"/>
              </a:defRPr>
            </a:pPr>
            <a:r>
              <a:rPr sz="1200" b="1" i="0">
                <a:solidFill>
                  <a:srgbClr val="A64B3C"/>
                </a:solidFill>
                <a:latin typeface="Arial"/>
                <a:ea typeface="Arial"/>
                <a:cs typeface="Arial"/>
              </a:rPr>
              <a:t>new mean (0, 0)</a:t>
            </a:r>
          </a:p>
        </p:txBody>
      </p:sp>
      <p:sp>
        <p:nvSpPr>
          <p:cNvPr id="8" name="">
            <a:extLst xmlns:a="http://schemas.openxmlformats.org/drawingml/2006/main">
              <a:ext uri="{FF2B5EF4-FFF2-40B4-BE49-F238E27FC236}">
                <a16:creationId xmlns:a16="http://schemas.microsoft.com/office/drawing/2014/main" id="{799C52CB-9B7B-4ED6-810B-270893B574F7}"/>
              </a:ext>
            </a:extLst>
          </p:cNvPr>
          <p:cNvSpPr>
            <a:spLocks xmlns:a="http://schemas.openxmlformats.org/drawingml/2006/main" noGrp="1"/>
          </p:cNvSpPr>
          <p:nvPr/>
        </p:nvSpPr>
        <p:spPr>
          <a:xfrm xmlns:a="http://schemas.openxmlformats.org/drawingml/2006/main" rot="0">
            <a:off x="5143500" y="3333750"/>
            <a:ext cx="2095500" cy="266700"/>
          </a:xfrm>
          <a:prstGeom xmlns:a="http://schemas.openxmlformats.org/drawingml/2006/main" prst="rect">
            <a:avLst/>
          </a:prstGeom>
          <a:solidFill xmlns:a="http://schemas.openxmlformats.org/drawingml/2006/main">
            <a:srgbClr val="FFFDF8"/>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275" b="1" i="0">
                <a:solidFill>
                  <a:srgbClr val="A64B3C"/>
                </a:solidFill>
                <a:latin typeface="Arial"/>
                <a:ea typeface="Arial"/>
                <a:cs typeface="Arial"/>
              </a:defRPr>
            </a:pPr>
            <a:r>
              <a:rPr sz="1275" b="1" i="0">
                <a:solidFill>
                  <a:srgbClr val="A64B3C"/>
                </a:solidFill>
                <a:latin typeface="Arial"/>
                <a:ea typeface="Arial"/>
                <a:cs typeface="Arial"/>
              </a:rPr>
              <a:t>subtract (6, 4.5)</a:t>
            </a:r>
          </a:p>
        </p:txBody>
      </p:sp>
      <p:sp>
        <p:nvSpPr>
          <p:cNvPr id="9" name="">
            <a:extLst xmlns:a="http://schemas.openxmlformats.org/drawingml/2006/main">
              <a:ext uri="{FF2B5EF4-FFF2-40B4-BE49-F238E27FC236}">
                <a16:creationId xmlns:a16="http://schemas.microsoft.com/office/drawing/2014/main" id="{40631C91-B611-419F-B286-81EADCEFA672}"/>
              </a:ext>
            </a:extLst>
          </p:cNvPr>
          <p:cNvSpPr>
            <a:spLocks xmlns:a="http://schemas.openxmlformats.org/drawingml/2006/main" noGrp="1"/>
          </p:cNvSpPr>
          <p:nvPr/>
        </p:nvSpPr>
        <p:spPr>
          <a:xfrm xmlns:a="http://schemas.openxmlformats.org/drawingml/2006/main" rot="0">
            <a:off x="1657350" y="5553075"/>
            <a:ext cx="88773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250" b="0" i="0">
                <a:solidFill>
                  <a:srgbClr val="A8710A"/>
                </a:solidFill>
                <a:latin typeface="Cambria Math"/>
                <a:ea typeface="Cambria Math"/>
                <a:cs typeface="Cambria Math"/>
              </a:defRPr>
            </a:pPr>
            <a:r>
              <a:rPr sz="2250" b="0" i="0">
                <a:solidFill>
                  <a:srgbClr val="A8710A"/>
                </a:solidFill>
                <a:latin typeface="Cambria Math"/>
                <a:ea typeface="Cambria Math"/>
                <a:cs typeface="Cambria Math"/>
              </a:rPr>
              <a:t>center every point:  (xᵢ, yᵢ) ↦ (xᵢ − 6, yᵢ − 4.5)</a:t>
            </a:r>
          </a:p>
        </p:txBody>
      </p:sp>
      <p:sp>
        <p:nvSpPr>
          <p:cNvPr id="10" name="">
            <a:extLst xmlns:a="http://schemas.openxmlformats.org/drawingml/2006/main">
              <a:ext uri="{FF2B5EF4-FFF2-40B4-BE49-F238E27FC236}">
                <a16:creationId xmlns:a16="http://schemas.microsoft.com/office/drawing/2014/main" id="{EE07BD46-E965-4D8A-A71C-51CD8D7F71E1}"/>
              </a:ext>
            </a:extLst>
          </p:cNvPr>
          <p:cNvSpPr>
            <a:spLocks xmlns:a="http://schemas.openxmlformats.org/drawingml/2006/main" noGrp="1"/>
          </p:cNvSpPr>
          <p:nvPr/>
        </p:nvSpPr>
        <p:spPr>
          <a:xfrm xmlns:a="http://schemas.openxmlformats.org/drawingml/2006/main" rot="0">
            <a:off x="1333500" y="61150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252A31"/>
                </a:solidFill>
                <a:latin typeface="Arial"/>
                <a:ea typeface="Arial"/>
                <a:cs typeface="Arial"/>
              </a:defRPr>
            </a:pPr>
            <a:r>
              <a:rPr sz="1650" b="1" i="0">
                <a:solidFill>
                  <a:srgbClr val="252A31"/>
                </a:solidFill>
                <a:latin typeface="Arial"/>
                <a:ea typeface="Arial"/>
                <a:cs typeface="Arial"/>
              </a:rPr>
              <a:t>The cloud moves to the origin. Its shape and slope do not change.</a:t>
            </a:r>
          </a:p>
        </p:txBody>
      </p:sp>
    </p:spTree>
    <p:extLst>
      <p:ext uri="{BB962C8B-B14F-4D97-AF65-F5344CB8AC3E}">
        <p14:creationId xmlns:p14="http://schemas.microsoft.com/office/powerpoint/2010/main" val="1662677608"/>
      </p:ext>
    </p:extLst>
  </p:cSld>
</p:sld>
</file>

<file path=ppt/slides/slide6.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A4E814F-514D-41AB-B234-BF0B5F60A330}"/>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3 · PART II</a:t>
            </a:r>
          </a:p>
        </p:txBody>
      </p:sp>
      <p:sp>
        <p:nvSpPr>
          <p:cNvPr id="2" name="">
            <a:extLst xmlns:a="http://schemas.openxmlformats.org/drawingml/2006/main">
              <a:ext uri="{FF2B5EF4-FFF2-40B4-BE49-F238E27FC236}">
                <a16:creationId xmlns:a16="http://schemas.microsoft.com/office/drawing/2014/main" id="{17999C43-1E17-4ACC-BE9D-8601F585E692}"/>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Predictors are vectors</a:t>
            </a:r>
          </a:p>
        </p:txBody>
      </p:sp>
      <p:sp>
        <p:nvSpPr>
          <p:cNvPr id="3" name="">
            <a:extLst xmlns:a="http://schemas.openxmlformats.org/drawingml/2006/main">
              <a:ext uri="{FF2B5EF4-FFF2-40B4-BE49-F238E27FC236}">
                <a16:creationId xmlns:a16="http://schemas.microsoft.com/office/drawing/2014/main" id="{F1E5FD52-3CD9-4A19-975F-BE981CAA78E6}"/>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870D45F9-8B53-4F69-8F63-F7D707F87B72}"/>
              </a:ext>
            </a:extLst>
          </p:cNvPr>
          <p:cNvSpPr>
            <a:spLocks xmlns:a="http://schemas.openxmlformats.org/drawingml/2006/main" noGrp="1"/>
          </p:cNvSpPr>
          <p:nvPr/>
        </p:nvSpPr>
        <p:spPr>
          <a:xfrm xmlns:a="http://schemas.openxmlformats.org/drawingml/2006/main" rot="0">
            <a:off x="838200" y="16573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PREDICTOR COLUMNS</a:t>
            </a:r>
          </a:p>
        </p:txBody>
      </p:sp>
      <p:sp>
        <p:nvSpPr>
          <p:cNvPr id="5" name="">
            <a:extLst xmlns:a="http://schemas.openxmlformats.org/drawingml/2006/main">
              <a:ext uri="{FF2B5EF4-FFF2-40B4-BE49-F238E27FC236}">
                <a16:creationId xmlns:a16="http://schemas.microsoft.com/office/drawing/2014/main" id="{C4CCF15A-4260-4C81-A191-B3B624D7B5DB}"/>
              </a:ext>
            </a:extLst>
          </p:cNvPr>
          <p:cNvSpPr>
            <a:spLocks xmlns:a="http://schemas.openxmlformats.org/drawingml/2006/main" noGrp="1"/>
          </p:cNvSpPr>
          <p:nvPr/>
        </p:nvSpPr>
        <p:spPr>
          <a:xfrm xmlns:a="http://schemas.openxmlformats.org/drawingml/2006/main" rot="0">
            <a:off x="1047750" y="2095500"/>
            <a:ext cx="723900" cy="2571750"/>
          </a:xfrm>
          <a:prstGeom xmlns:a="http://schemas.openxmlformats.org/drawingml/2006/main" prst="roundRect">
            <a:avLst>
              <a:gd name="adj" fmla="val 10526"/>
            </a:avLst>
          </a:prstGeom>
          <a:solidFill xmlns:a="http://schemas.openxmlformats.org/drawingml/2006/main">
            <a:srgbClr val="EFE4C9"/>
          </a:solidFill>
          <a:ln xmlns:a="http://schemas.openxmlformats.org/drawingml/2006/main" w="19050">
            <a:solidFill>
              <a:srgbClr val="A8710A"/>
            </a:solidFill>
            <a:prstDash val="solid"/>
          </a:ln>
        </p:spPr>
      </p:sp>
      <p:sp>
        <p:nvSpPr>
          <p:cNvPr id="6" name="">
            <a:extLst xmlns:a="http://schemas.openxmlformats.org/drawingml/2006/main">
              <a:ext uri="{FF2B5EF4-FFF2-40B4-BE49-F238E27FC236}">
                <a16:creationId xmlns:a16="http://schemas.microsoft.com/office/drawing/2014/main" id="{3F9A75A4-62EC-4C1A-8416-FDC887A23C8B}"/>
              </a:ext>
            </a:extLst>
          </p:cNvPr>
          <p:cNvSpPr>
            <a:spLocks xmlns:a="http://schemas.openxmlformats.org/drawingml/2006/main" noGrp="1"/>
          </p:cNvSpPr>
          <p:nvPr/>
        </p:nvSpPr>
        <p:spPr>
          <a:xfrm xmlns:a="http://schemas.openxmlformats.org/drawingml/2006/main" rot="0">
            <a:off x="2057400" y="2095500"/>
            <a:ext cx="723900" cy="2571750"/>
          </a:xfrm>
          <a:prstGeom xmlns:a="http://schemas.openxmlformats.org/drawingml/2006/main" prst="roundRect">
            <a:avLst>
              <a:gd name="adj" fmla="val 10526"/>
            </a:avLst>
          </a:prstGeom>
          <a:solidFill xmlns:a="http://schemas.openxmlformats.org/drawingml/2006/main">
            <a:srgbClr val="DCEBEC"/>
          </a:solidFill>
          <a:ln xmlns:a="http://schemas.openxmlformats.org/drawingml/2006/main" w="19050">
            <a:solidFill>
              <a:srgbClr val="2C6A6C"/>
            </a:solidFill>
            <a:prstDash val="solid"/>
          </a:ln>
        </p:spPr>
      </p:sp>
      <p:sp>
        <p:nvSpPr>
          <p:cNvPr id="7" name="">
            <a:extLst xmlns:a="http://schemas.openxmlformats.org/drawingml/2006/main">
              <a:ext uri="{FF2B5EF4-FFF2-40B4-BE49-F238E27FC236}">
                <a16:creationId xmlns:a16="http://schemas.microsoft.com/office/drawing/2014/main" id="{4211F202-4D20-4F85-BA31-5D96FCADF470}"/>
              </a:ext>
            </a:extLst>
          </p:cNvPr>
          <p:cNvSpPr>
            <a:spLocks xmlns:a="http://schemas.openxmlformats.org/drawingml/2006/main" noGrp="1"/>
          </p:cNvSpPr>
          <p:nvPr/>
        </p:nvSpPr>
        <p:spPr>
          <a:xfrm xmlns:a="http://schemas.openxmlformats.org/drawingml/2006/main" rot="0">
            <a:off x="1047750" y="2209800"/>
            <a:ext cx="723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A8710A"/>
                </a:solidFill>
                <a:latin typeface="Cambria Math"/>
                <a:ea typeface="Cambria Math"/>
                <a:cs typeface="Cambria Math"/>
              </a:defRPr>
            </a:pPr>
            <a:r>
              <a:rPr sz="2250" b="1" i="0">
                <a:solidFill>
                  <a:srgbClr val="A8710A"/>
                </a:solidFill>
                <a:latin typeface="Cambria Math"/>
                <a:ea typeface="Cambria Math"/>
                <a:cs typeface="Cambria Math"/>
              </a:rPr>
              <a:t>x₁</a:t>
            </a:r>
          </a:p>
        </p:txBody>
      </p:sp>
      <p:sp>
        <p:nvSpPr>
          <p:cNvPr id="8" name="">
            <a:extLst xmlns:a="http://schemas.openxmlformats.org/drawingml/2006/main">
              <a:ext uri="{FF2B5EF4-FFF2-40B4-BE49-F238E27FC236}">
                <a16:creationId xmlns:a16="http://schemas.microsoft.com/office/drawing/2014/main" id="{BC492CEF-A0DE-4266-BB54-F6696F2F033A}"/>
              </a:ext>
            </a:extLst>
          </p:cNvPr>
          <p:cNvSpPr>
            <a:spLocks xmlns:a="http://schemas.openxmlformats.org/drawingml/2006/main" noGrp="1"/>
          </p:cNvSpPr>
          <p:nvPr/>
        </p:nvSpPr>
        <p:spPr>
          <a:xfrm xmlns:a="http://schemas.openxmlformats.org/drawingml/2006/main" rot="0">
            <a:off x="2057400" y="2209800"/>
            <a:ext cx="723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C6A6C"/>
                </a:solidFill>
                <a:latin typeface="Cambria Math"/>
                <a:ea typeface="Cambria Math"/>
                <a:cs typeface="Cambria Math"/>
              </a:defRPr>
            </a:pPr>
            <a:r>
              <a:rPr sz="2250" b="1" i="0">
                <a:solidFill>
                  <a:srgbClr val="2C6A6C"/>
                </a:solidFill>
                <a:latin typeface="Cambria Math"/>
                <a:ea typeface="Cambria Math"/>
                <a:cs typeface="Cambria Math"/>
              </a:rPr>
              <a:t>x₂</a:t>
            </a:r>
          </a:p>
        </p:txBody>
      </p:sp>
      <p:sp>
        <p:nvSpPr>
          <p:cNvPr id="9" name="">
            <a:extLst xmlns:a="http://schemas.openxmlformats.org/drawingml/2006/main">
              <a:ext uri="{FF2B5EF4-FFF2-40B4-BE49-F238E27FC236}">
                <a16:creationId xmlns:a16="http://schemas.microsoft.com/office/drawing/2014/main" id="{21F03C54-6E78-4125-B768-F520E584491D}"/>
              </a:ext>
            </a:extLst>
          </p:cNvPr>
          <p:cNvSpPr>
            <a:spLocks xmlns:a="http://schemas.openxmlformats.org/drawingml/2006/main" noGrp="1"/>
          </p:cNvSpPr>
          <p:nvPr/>
        </p:nvSpPr>
        <p:spPr>
          <a:xfrm xmlns:a="http://schemas.openxmlformats.org/drawingml/2006/main" rot="0">
            <a:off x="1238250" y="281940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194A3BB-0E6A-4286-8527-14E1B7FE56D3}"/>
              </a:ext>
            </a:extLst>
          </p:cNvPr>
          <p:cNvSpPr>
            <a:spLocks xmlns:a="http://schemas.openxmlformats.org/drawingml/2006/main" noGrp="1"/>
          </p:cNvSpPr>
          <p:nvPr/>
        </p:nvSpPr>
        <p:spPr>
          <a:xfrm xmlns:a="http://schemas.openxmlformats.org/drawingml/2006/main" rot="0">
            <a:off x="2247900" y="281940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7E698A4-7DA7-4D85-B64F-6C47CBB6DE22}"/>
              </a:ext>
            </a:extLst>
          </p:cNvPr>
          <p:cNvSpPr>
            <a:spLocks xmlns:a="http://schemas.openxmlformats.org/drawingml/2006/main" noGrp="1"/>
          </p:cNvSpPr>
          <p:nvPr/>
        </p:nvSpPr>
        <p:spPr>
          <a:xfrm xmlns:a="http://schemas.openxmlformats.org/drawingml/2006/main" rot="0">
            <a:off x="1238250" y="3152775"/>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CA909BE-2BC0-4E43-893C-27D0E2A5EB2D}"/>
              </a:ext>
            </a:extLst>
          </p:cNvPr>
          <p:cNvSpPr>
            <a:spLocks xmlns:a="http://schemas.openxmlformats.org/drawingml/2006/main" noGrp="1"/>
          </p:cNvSpPr>
          <p:nvPr/>
        </p:nvSpPr>
        <p:spPr>
          <a:xfrm xmlns:a="http://schemas.openxmlformats.org/drawingml/2006/main" rot="0">
            <a:off x="2247900" y="3152775"/>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6EC1624-A46A-4F4D-80EB-55E0206D470C}"/>
              </a:ext>
            </a:extLst>
          </p:cNvPr>
          <p:cNvSpPr>
            <a:spLocks xmlns:a="http://schemas.openxmlformats.org/drawingml/2006/main" noGrp="1"/>
          </p:cNvSpPr>
          <p:nvPr/>
        </p:nvSpPr>
        <p:spPr>
          <a:xfrm xmlns:a="http://schemas.openxmlformats.org/drawingml/2006/main" rot="0">
            <a:off x="1238250" y="348615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4D9D739-456A-4664-86D6-BC2F1213725F}"/>
              </a:ext>
            </a:extLst>
          </p:cNvPr>
          <p:cNvSpPr>
            <a:spLocks xmlns:a="http://schemas.openxmlformats.org/drawingml/2006/main" noGrp="1"/>
          </p:cNvSpPr>
          <p:nvPr/>
        </p:nvSpPr>
        <p:spPr>
          <a:xfrm xmlns:a="http://schemas.openxmlformats.org/drawingml/2006/main" rot="0">
            <a:off x="2247900" y="348615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CB59B49-D807-41F3-B83B-9D87C37F2005}"/>
              </a:ext>
            </a:extLst>
          </p:cNvPr>
          <p:cNvSpPr>
            <a:spLocks xmlns:a="http://schemas.openxmlformats.org/drawingml/2006/main" noGrp="1"/>
          </p:cNvSpPr>
          <p:nvPr/>
        </p:nvSpPr>
        <p:spPr>
          <a:xfrm xmlns:a="http://schemas.openxmlformats.org/drawingml/2006/main" rot="0">
            <a:off x="1238250" y="3819525"/>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FB1A0A6-D474-4F10-BA87-445213FFDA10}"/>
              </a:ext>
            </a:extLst>
          </p:cNvPr>
          <p:cNvSpPr>
            <a:spLocks xmlns:a="http://schemas.openxmlformats.org/drawingml/2006/main" noGrp="1"/>
          </p:cNvSpPr>
          <p:nvPr/>
        </p:nvSpPr>
        <p:spPr>
          <a:xfrm xmlns:a="http://schemas.openxmlformats.org/drawingml/2006/main" rot="0">
            <a:off x="2247900" y="3819525"/>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B26A599-165E-4F54-9D8C-C0CCE93382C0}"/>
              </a:ext>
            </a:extLst>
          </p:cNvPr>
          <p:cNvSpPr>
            <a:spLocks xmlns:a="http://schemas.openxmlformats.org/drawingml/2006/main" noGrp="1"/>
          </p:cNvSpPr>
          <p:nvPr/>
        </p:nvSpPr>
        <p:spPr>
          <a:xfrm xmlns:a="http://schemas.openxmlformats.org/drawingml/2006/main" rot="0">
            <a:off x="1238250" y="415290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01D4BB7-4076-4876-A025-B8ADD849EB22}"/>
              </a:ext>
            </a:extLst>
          </p:cNvPr>
          <p:cNvSpPr>
            <a:spLocks xmlns:a="http://schemas.openxmlformats.org/drawingml/2006/main" noGrp="1"/>
          </p:cNvSpPr>
          <p:nvPr/>
        </p:nvSpPr>
        <p:spPr>
          <a:xfrm xmlns:a="http://schemas.openxmlformats.org/drawingml/2006/main" rot="0">
            <a:off x="2247900" y="415290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FE703CE-3915-46AA-89F9-BDF5AB7D0D5A}"/>
              </a:ext>
            </a:extLst>
          </p:cNvPr>
          <p:cNvSpPr>
            <a:spLocks xmlns:a="http://schemas.openxmlformats.org/drawingml/2006/main" noGrp="1"/>
          </p:cNvSpPr>
          <p:nvPr/>
        </p:nvSpPr>
        <p:spPr>
          <a:xfrm xmlns:a="http://schemas.openxmlformats.org/drawingml/2006/main" rot="0">
            <a:off x="762000" y="493395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xⱼ ∈ ℝⁿ</a:t>
            </a:r>
          </a:p>
        </p:txBody>
      </p:sp>
      <p:sp>
        <p:nvSpPr>
          <p:cNvPr id="20" name="">
            <a:extLst xmlns:a="http://schemas.openxmlformats.org/drawingml/2006/main">
              <a:ext uri="{FF2B5EF4-FFF2-40B4-BE49-F238E27FC236}">
                <a16:creationId xmlns:a16="http://schemas.microsoft.com/office/drawing/2014/main" id="{1992C6AF-04B1-4873-A561-BC0D031F593E}"/>
              </a:ext>
            </a:extLst>
          </p:cNvPr>
          <p:cNvSpPr>
            <a:spLocks xmlns:a="http://schemas.openxmlformats.org/drawingml/2006/main" noGrp="1"/>
          </p:cNvSpPr>
          <p:nvPr/>
        </p:nvSpPr>
        <p:spPr>
          <a:xfrm xmlns:a="http://schemas.openxmlformats.org/drawingml/2006/main" rot="0">
            <a:off x="3733800" y="1790700"/>
            <a:ext cx="19050" cy="37338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E4CC811-99C7-4713-994D-0AD4B9ACE28B}"/>
              </a:ext>
            </a:extLst>
          </p:cNvPr>
          <p:cNvSpPr>
            <a:spLocks xmlns:a="http://schemas.openxmlformats.org/drawingml/2006/main" noGrp="1"/>
          </p:cNvSpPr>
          <p:nvPr/>
        </p:nvSpPr>
        <p:spPr>
          <a:xfrm xmlns:a="http://schemas.openxmlformats.org/drawingml/2006/main" rot="0">
            <a:off x="4333875" y="16573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DESIGN MATRIX</a:t>
            </a:r>
          </a:p>
        </p:txBody>
      </p:sp>
      <p:sp>
        <p:nvSpPr>
          <p:cNvPr id="22" name="">
            <a:extLst xmlns:a="http://schemas.openxmlformats.org/drawingml/2006/main">
              <a:ext uri="{FF2B5EF4-FFF2-40B4-BE49-F238E27FC236}">
                <a16:creationId xmlns:a16="http://schemas.microsoft.com/office/drawing/2014/main" id="{56B2AE31-DAAD-4A9A-930E-656D6AF43CB2}"/>
              </a:ext>
            </a:extLst>
          </p:cNvPr>
          <p:cNvSpPr>
            <a:spLocks xmlns:a="http://schemas.openxmlformats.org/drawingml/2006/main" noGrp="1"/>
          </p:cNvSpPr>
          <p:nvPr/>
        </p:nvSpPr>
        <p:spPr>
          <a:xfrm xmlns:a="http://schemas.openxmlformats.org/drawingml/2006/main" rot="0">
            <a:off x="4171950" y="2286000"/>
            <a:ext cx="3810000" cy="876300"/>
          </a:xfrm>
          <a:prstGeom xmlns:a="http://schemas.openxmlformats.org/drawingml/2006/main" prst="roundRect">
            <a:avLst>
              <a:gd name="adj" fmla="val 10870"/>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X = [ x₁  x₂  ⋯  xₚ ]</a:t>
            </a:r>
          </a:p>
        </p:txBody>
      </p:sp>
      <p:sp>
        <p:nvSpPr>
          <p:cNvPr id="23" name="">
            <a:extLst xmlns:a="http://schemas.openxmlformats.org/drawingml/2006/main">
              <a:ext uri="{FF2B5EF4-FFF2-40B4-BE49-F238E27FC236}">
                <a16:creationId xmlns:a16="http://schemas.microsoft.com/office/drawing/2014/main" id="{4182C055-FE19-48D6-8CFF-02106F56EAD6}"/>
              </a:ext>
            </a:extLst>
          </p:cNvPr>
          <p:cNvSpPr>
            <a:spLocks xmlns:a="http://schemas.openxmlformats.org/drawingml/2006/main" noGrp="1"/>
          </p:cNvSpPr>
          <p:nvPr/>
        </p:nvSpPr>
        <p:spPr>
          <a:xfrm xmlns:a="http://schemas.openxmlformats.org/drawingml/2006/main" rot="0">
            <a:off x="5000625" y="3562350"/>
            <a:ext cx="2000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1" i="0">
                <a:solidFill>
                  <a:srgbClr val="68717D"/>
                </a:solidFill>
                <a:latin typeface="Arial"/>
                <a:ea typeface="Arial"/>
                <a:cs typeface="Arial"/>
              </a:defRPr>
            </a:pPr>
            <a:r>
              <a:rPr sz="2100" b="1" i="0">
                <a:solidFill>
                  <a:srgbClr val="68717D"/>
                </a:solidFill>
                <a:latin typeface="Arial"/>
                <a:ea typeface="Arial"/>
                <a:cs typeface="Arial"/>
              </a:rPr>
              <a:t>n rows</a:t>
            </a:r>
          </a:p>
          <a:p xmlns:a="http://schemas.openxmlformats.org/drawingml/2006/main">
            <a:pPr algn="ctr">
              <a:lnSpc>
                <a:spcPct val="105000"/>
              </a:lnSpc>
              <a:buNone/>
              <a:defRPr sz="2100" b="1" i="0">
                <a:solidFill>
                  <a:srgbClr val="68717D"/>
                </a:solidFill>
                <a:latin typeface="Arial"/>
                <a:ea typeface="Arial"/>
                <a:cs typeface="Arial"/>
              </a:defRPr>
            </a:pPr>
            <a:r>
              <a:rPr sz="2100" b="1" i="0">
                <a:solidFill>
                  <a:srgbClr val="68717D"/>
                </a:solidFill>
                <a:latin typeface="Arial"/>
                <a:ea typeface="Arial"/>
                <a:cs typeface="Arial"/>
              </a:rPr>
              <a:t>p columns</a:t>
            </a:r>
          </a:p>
        </p:txBody>
      </p:sp>
      <p:sp>
        <p:nvSpPr>
          <p:cNvPr id="24" name="">
            <a:extLst xmlns:a="http://schemas.openxmlformats.org/drawingml/2006/main">
              <a:ext uri="{FF2B5EF4-FFF2-40B4-BE49-F238E27FC236}">
                <a16:creationId xmlns:a16="http://schemas.microsoft.com/office/drawing/2014/main" id="{4CC14B99-4C24-4D48-860A-A3F800DF53D0}"/>
              </a:ext>
            </a:extLst>
          </p:cNvPr>
          <p:cNvSpPr>
            <a:spLocks xmlns:a="http://schemas.openxmlformats.org/drawingml/2006/main" noGrp="1"/>
          </p:cNvSpPr>
          <p:nvPr/>
        </p:nvSpPr>
        <p:spPr>
          <a:xfrm xmlns:a="http://schemas.openxmlformats.org/drawingml/2006/main" rot="0">
            <a:off x="8315325" y="1790700"/>
            <a:ext cx="19050" cy="37338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D19EC997-0E26-4FE8-9A89-0CDE496D0496}"/>
              </a:ext>
            </a:extLst>
          </p:cNvPr>
          <p:cNvSpPr>
            <a:spLocks xmlns:a="http://schemas.openxmlformats.org/drawingml/2006/main" noGrp="1"/>
          </p:cNvSpPr>
          <p:nvPr/>
        </p:nvSpPr>
        <p:spPr>
          <a:xfrm xmlns:a="http://schemas.openxmlformats.org/drawingml/2006/main" rot="0">
            <a:off x="8867775" y="16573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PAIRWISE PRODUCTS</a:t>
            </a:r>
          </a:p>
        </p:txBody>
      </p:sp>
      <p:sp>
        <p:nvSpPr>
          <p:cNvPr id="26" name="">
            <a:extLst xmlns:a="http://schemas.openxmlformats.org/drawingml/2006/main">
              <a:ext uri="{FF2B5EF4-FFF2-40B4-BE49-F238E27FC236}">
                <a16:creationId xmlns:a16="http://schemas.microsoft.com/office/drawing/2014/main" id="{A8A22D4C-0097-4F8E-80E8-BEA34EBA50A2}"/>
              </a:ext>
            </a:extLst>
          </p:cNvPr>
          <p:cNvSpPr>
            <a:spLocks xmlns:a="http://schemas.openxmlformats.org/drawingml/2006/main" noGrp="1"/>
          </p:cNvSpPr>
          <p:nvPr/>
        </p:nvSpPr>
        <p:spPr>
          <a:xfrm xmlns:a="http://schemas.openxmlformats.org/drawingml/2006/main" rot="0">
            <a:off x="8572500" y="2428875"/>
            <a:ext cx="2876550" cy="857250"/>
          </a:xfrm>
          <a:prstGeom xmlns:a="http://schemas.openxmlformats.org/drawingml/2006/main" prst="roundRect">
            <a:avLst>
              <a:gd name="adj" fmla="val 1111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dim(XᵀX) = p × p</a:t>
            </a:r>
          </a:p>
        </p:txBody>
      </p:sp>
      <p:sp>
        <p:nvSpPr>
          <p:cNvPr id="27" name="">
            <a:extLst xmlns:a="http://schemas.openxmlformats.org/drawingml/2006/main">
              <a:ext uri="{FF2B5EF4-FFF2-40B4-BE49-F238E27FC236}">
                <a16:creationId xmlns:a16="http://schemas.microsoft.com/office/drawing/2014/main" id="{ACD66DB7-2348-4311-9E9C-7D475D0FBEEE}"/>
              </a:ext>
            </a:extLst>
          </p:cNvPr>
          <p:cNvSpPr>
            <a:spLocks xmlns:a="http://schemas.openxmlformats.org/drawingml/2006/main" noGrp="1"/>
          </p:cNvSpPr>
          <p:nvPr/>
        </p:nvSpPr>
        <p:spPr>
          <a:xfrm xmlns:a="http://schemas.openxmlformats.org/drawingml/2006/main" rot="0">
            <a:off x="8743950" y="3667125"/>
            <a:ext cx="2476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950" b="0" i="0">
                <a:solidFill>
                  <a:srgbClr val="252A31"/>
                </a:solidFill>
                <a:latin typeface="Arial"/>
                <a:ea typeface="Arial"/>
                <a:cs typeface="Arial"/>
              </a:defRPr>
            </a:pPr>
            <a:r>
              <a:rPr sz="1950" b="0" i="0">
                <a:solidFill>
                  <a:srgbClr val="252A31"/>
                </a:solidFill>
                <a:latin typeface="Arial"/>
                <a:ea typeface="Arial"/>
                <a:cs typeface="Arial"/>
              </a:rPr>
              <a:t>Rows and columns now index predictors.</a:t>
            </a:r>
          </a:p>
        </p:txBody>
      </p:sp>
    </p:spTree>
    <p:extLst>
      <p:ext uri="{BB962C8B-B14F-4D97-AF65-F5344CB8AC3E}">
        <p14:creationId xmlns:p14="http://schemas.microsoft.com/office/powerpoint/2010/main" val="1840126089"/>
      </p:ext>
    </p:extLst>
  </p:cSld>
</p:sld>
</file>

<file path=ppt/slides/slide7.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BFD10EB-444E-4798-8572-8D2E04E5607A}"/>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4 · PART II</a:t>
            </a:r>
          </a:p>
        </p:txBody>
      </p:sp>
      <p:sp>
        <p:nvSpPr>
          <p:cNvPr id="2" name="">
            <a:extLst xmlns:a="http://schemas.openxmlformats.org/drawingml/2006/main">
              <a:ext uri="{FF2B5EF4-FFF2-40B4-BE49-F238E27FC236}">
                <a16:creationId xmlns:a16="http://schemas.microsoft.com/office/drawing/2014/main" id="{E6AB9FE1-ADCB-4203-BB24-F06C5658ABFA}"/>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Correlation is an angle</a:t>
            </a:r>
          </a:p>
        </p:txBody>
      </p:sp>
      <p:sp>
        <p:nvSpPr>
          <p:cNvPr id="3" name="">
            <a:extLst xmlns:a="http://schemas.openxmlformats.org/drawingml/2006/main">
              <a:ext uri="{FF2B5EF4-FFF2-40B4-BE49-F238E27FC236}">
                <a16:creationId xmlns:a16="http://schemas.microsoft.com/office/drawing/2014/main" id="{0A35DF61-B525-4A2E-BB67-F5300B6831DF}"/>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7</a:t>
            </a:r>
          </a:p>
        </p:txBody>
      </p:sp>
      <p:sp>
        <p:nvSpPr>
          <p:cNvPr id="4" name="">
            <a:extLst xmlns:a="http://schemas.openxmlformats.org/drawingml/2006/main">
              <a:ext uri="{FF2B5EF4-FFF2-40B4-BE49-F238E27FC236}">
                <a16:creationId xmlns:a16="http://schemas.microsoft.com/office/drawing/2014/main" id="{A5CAE560-7777-43F5-A6D7-8C1C94D2C858}"/>
              </a:ext>
            </a:extLst>
          </p:cNvPr>
          <p:cNvSpPr>
            <a:spLocks xmlns:a="http://schemas.openxmlformats.org/drawingml/2006/main" noGrp="1"/>
          </p:cNvSpPr>
          <p:nvPr/>
        </p:nvSpPr>
        <p:spPr>
          <a:xfrm xmlns:a="http://schemas.openxmlformats.org/drawingml/2006/main" flipV="1">
            <a:off x="3086100" y="2762250"/>
            <a:ext cx="2762250" cy="2095500"/>
          </a:xfrm>
          <a:prstGeom xmlns:a="http://schemas.openxmlformats.org/drawingml/2006/main" prst="line">
            <a:avLst/>
          </a:prstGeom>
          <a:noFill xmlns:a="http://schemas.openxmlformats.org/drawingml/2006/main"/>
          <a:ln xmlns:a="http://schemas.openxmlformats.org/drawingml/2006/main" w="47625">
            <a:solidFill>
              <a:srgbClr val="A8710A"/>
            </a:solidFill>
            <a:prstDash val="solid"/>
          </a:ln>
        </p:spPr>
      </p:sp>
      <p:sp>
        <p:nvSpPr>
          <p:cNvPr id="5" name="">
            <a:extLst xmlns:a="http://schemas.openxmlformats.org/drawingml/2006/main">
              <a:ext uri="{FF2B5EF4-FFF2-40B4-BE49-F238E27FC236}">
                <a16:creationId xmlns:a16="http://schemas.microsoft.com/office/drawing/2014/main" id="{78344859-8E1D-42DD-9EC3-3CD5BB84BE42}"/>
              </a:ext>
            </a:extLst>
          </p:cNvPr>
          <p:cNvSpPr>
            <a:spLocks xmlns:a="http://schemas.openxmlformats.org/drawingml/2006/main" noGrp="1"/>
          </p:cNvSpPr>
          <p:nvPr/>
        </p:nvSpPr>
        <p:spPr>
          <a:xfrm xmlns:a="http://schemas.openxmlformats.org/drawingml/2006/main" flipV="1">
            <a:off x="3086100" y="3857625"/>
            <a:ext cx="3476625" cy="1000125"/>
          </a:xfrm>
          <a:prstGeom xmlns:a="http://schemas.openxmlformats.org/drawingml/2006/main" prst="line">
            <a:avLst/>
          </a:prstGeom>
          <a:noFill xmlns:a="http://schemas.openxmlformats.org/drawingml/2006/main"/>
          <a:ln xmlns:a="http://schemas.openxmlformats.org/drawingml/2006/main" w="47625">
            <a:solidFill>
              <a:srgbClr val="2C6A6C"/>
            </a:solidFill>
            <a:prstDash val="solid"/>
          </a:ln>
        </p:spPr>
      </p:sp>
      <p:sp>
        <p:nvSpPr>
          <p:cNvPr id="6" name="">
            <a:extLst xmlns:a="http://schemas.openxmlformats.org/drawingml/2006/main">
              <a:ext uri="{FF2B5EF4-FFF2-40B4-BE49-F238E27FC236}">
                <a16:creationId xmlns:a16="http://schemas.microsoft.com/office/drawing/2014/main" id="{31DA0428-34C1-4DDB-A3A8-CE1CD61F32B9}"/>
              </a:ext>
            </a:extLst>
          </p:cNvPr>
          <p:cNvSpPr>
            <a:spLocks xmlns:a="http://schemas.openxmlformats.org/drawingml/2006/main" noGrp="1"/>
          </p:cNvSpPr>
          <p:nvPr/>
        </p:nvSpPr>
        <p:spPr>
          <a:xfrm xmlns:a="http://schemas.openxmlformats.org/drawingml/2006/main" rot="0">
            <a:off x="3019425" y="4791075"/>
            <a:ext cx="133350" cy="133350"/>
          </a:xfrm>
          <a:prstGeom xmlns:a="http://schemas.openxmlformats.org/drawingml/2006/main" prst="ellipse">
            <a:avLst/>
          </a:prstGeom>
          <a:solidFill xmlns:a="http://schemas.openxmlformats.org/drawingml/2006/main">
            <a:srgbClr val="252A3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34154F9-03A0-473F-925B-639A4770CA04}"/>
              </a:ext>
            </a:extLst>
          </p:cNvPr>
          <p:cNvSpPr>
            <a:spLocks xmlns:a="http://schemas.openxmlformats.org/drawingml/2006/main" noGrp="1"/>
          </p:cNvSpPr>
          <p:nvPr/>
        </p:nvSpPr>
        <p:spPr>
          <a:xfrm xmlns:a="http://schemas.openxmlformats.org/drawingml/2006/main" rot="0">
            <a:off x="5391150" y="24765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A8710A"/>
                </a:solidFill>
                <a:latin typeface="Cambria Math"/>
                <a:ea typeface="Cambria Math"/>
                <a:cs typeface="Cambria Math"/>
              </a:defRPr>
            </a:pPr>
            <a:r>
              <a:rPr sz="2100" b="1" i="0">
                <a:solidFill>
                  <a:srgbClr val="A8710A"/>
                </a:solidFill>
                <a:latin typeface="Cambria Math"/>
                <a:ea typeface="Cambria Math"/>
                <a:cs typeface="Cambria Math"/>
              </a:rPr>
              <a:t>x₁</a:t>
            </a:r>
          </a:p>
        </p:txBody>
      </p:sp>
      <p:sp>
        <p:nvSpPr>
          <p:cNvPr id="8" name="">
            <a:extLst xmlns:a="http://schemas.openxmlformats.org/drawingml/2006/main">
              <a:ext uri="{FF2B5EF4-FFF2-40B4-BE49-F238E27FC236}">
                <a16:creationId xmlns:a16="http://schemas.microsoft.com/office/drawing/2014/main" id="{532A22E2-8187-46F1-9609-2CB7801C7554}"/>
              </a:ext>
            </a:extLst>
          </p:cNvPr>
          <p:cNvSpPr>
            <a:spLocks xmlns:a="http://schemas.openxmlformats.org/drawingml/2006/main" noGrp="1"/>
          </p:cNvSpPr>
          <p:nvPr/>
        </p:nvSpPr>
        <p:spPr>
          <a:xfrm xmlns:a="http://schemas.openxmlformats.org/drawingml/2006/main" rot="0">
            <a:off x="6438900" y="36195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C6A6C"/>
                </a:solidFill>
                <a:latin typeface="Cambria Math"/>
                <a:ea typeface="Cambria Math"/>
                <a:cs typeface="Cambria Math"/>
              </a:defRPr>
            </a:pPr>
            <a:r>
              <a:rPr sz="2100" b="1" i="0">
                <a:solidFill>
                  <a:srgbClr val="2C6A6C"/>
                </a:solidFill>
                <a:latin typeface="Cambria Math"/>
                <a:ea typeface="Cambria Math"/>
                <a:cs typeface="Cambria Math"/>
              </a:rPr>
              <a:t>x₂</a:t>
            </a:r>
          </a:p>
        </p:txBody>
      </p:sp>
      <p:sp>
        <p:nvSpPr>
          <p:cNvPr id="9" name="">
            <a:extLst xmlns:a="http://schemas.openxmlformats.org/drawingml/2006/main">
              <a:ext uri="{FF2B5EF4-FFF2-40B4-BE49-F238E27FC236}">
                <a16:creationId xmlns:a16="http://schemas.microsoft.com/office/drawing/2014/main" id="{9E227C45-8530-406C-B470-E5EDF72BCB1B}"/>
              </a:ext>
            </a:extLst>
          </p:cNvPr>
          <p:cNvSpPr>
            <a:spLocks xmlns:a="http://schemas.openxmlformats.org/drawingml/2006/main" noGrp="1"/>
          </p:cNvSpPr>
          <p:nvPr/>
        </p:nvSpPr>
        <p:spPr>
          <a:xfrm xmlns:a="http://schemas.openxmlformats.org/drawingml/2006/main" rot="0">
            <a:off x="4267200" y="3857625"/>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θ</a:t>
            </a:r>
          </a:p>
        </p:txBody>
      </p:sp>
      <p:sp>
        <p:nvSpPr>
          <p:cNvPr id="10" name="">
            <a:extLst xmlns:a="http://schemas.openxmlformats.org/drawingml/2006/main">
              <a:ext uri="{FF2B5EF4-FFF2-40B4-BE49-F238E27FC236}">
                <a16:creationId xmlns:a16="http://schemas.microsoft.com/office/drawing/2014/main" id="{69AB48C4-151A-4A08-822E-D4A23D3B06F2}"/>
              </a:ext>
            </a:extLst>
          </p:cNvPr>
          <p:cNvSpPr>
            <a:spLocks xmlns:a="http://schemas.openxmlformats.org/drawingml/2006/main" noGrp="1"/>
          </p:cNvSpPr>
          <p:nvPr/>
        </p:nvSpPr>
        <p:spPr>
          <a:xfrm xmlns:a="http://schemas.openxmlformats.org/drawingml/2006/main" rot="0">
            <a:off x="7524750" y="18859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‖x₁‖ = ‖x₂‖ = 1</a:t>
            </a:r>
          </a:p>
        </p:txBody>
      </p:sp>
      <p:sp>
        <p:nvSpPr>
          <p:cNvPr id="11" name="">
            <a:extLst xmlns:a="http://schemas.openxmlformats.org/drawingml/2006/main">
              <a:ext uri="{FF2B5EF4-FFF2-40B4-BE49-F238E27FC236}">
                <a16:creationId xmlns:a16="http://schemas.microsoft.com/office/drawing/2014/main" id="{D6A5E48B-AAD9-4C92-BF16-693167A8E790}"/>
              </a:ext>
            </a:extLst>
          </p:cNvPr>
          <p:cNvSpPr>
            <a:spLocks xmlns:a="http://schemas.openxmlformats.org/drawingml/2006/main" noGrp="1"/>
          </p:cNvSpPr>
          <p:nvPr/>
        </p:nvSpPr>
        <p:spPr>
          <a:xfrm xmlns:a="http://schemas.openxmlformats.org/drawingml/2006/main" rot="0">
            <a:off x="7524750" y="2876550"/>
            <a:ext cx="3714750" cy="590550"/>
          </a:xfrm>
          <a:prstGeom xmlns:a="http://schemas.openxmlformats.org/drawingml/2006/main" prst="roundRect">
            <a:avLst>
              <a:gd name="adj" fmla="val 16129"/>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r = x₁ᵀx₂</a:t>
            </a:r>
          </a:p>
        </p:txBody>
      </p:sp>
      <p:sp>
        <p:nvSpPr>
          <p:cNvPr id="12" name="">
            <a:extLst xmlns:a="http://schemas.openxmlformats.org/drawingml/2006/main">
              <a:ext uri="{FF2B5EF4-FFF2-40B4-BE49-F238E27FC236}">
                <a16:creationId xmlns:a16="http://schemas.microsoft.com/office/drawing/2014/main" id="{BD771740-DF2F-4B32-A3D2-92FCA6894E2E}"/>
              </a:ext>
            </a:extLst>
          </p:cNvPr>
          <p:cNvSpPr>
            <a:spLocks xmlns:a="http://schemas.openxmlformats.org/drawingml/2006/main" noGrp="1"/>
          </p:cNvSpPr>
          <p:nvPr/>
        </p:nvSpPr>
        <p:spPr>
          <a:xfrm xmlns:a="http://schemas.openxmlformats.org/drawingml/2006/main" rot="0">
            <a:off x="7524750" y="3733800"/>
            <a:ext cx="3714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375" b="1" i="0">
                <a:solidFill>
                  <a:srgbClr val="A8710A"/>
                </a:solidFill>
                <a:latin typeface="Cambria Math"/>
                <a:ea typeface="Cambria Math"/>
                <a:cs typeface="Cambria Math"/>
              </a:defRPr>
            </a:pPr>
            <a:r>
              <a:rPr sz="3375" b="1" i="0">
                <a:solidFill>
                  <a:srgbClr val="A8710A"/>
                </a:solidFill>
                <a:latin typeface="Cambria Math"/>
                <a:ea typeface="Cambria Math"/>
                <a:cs typeface="Cambria Math"/>
              </a:rPr>
              <a:t>r = cos θ</a:t>
            </a:r>
          </a:p>
        </p:txBody>
      </p:sp>
      <p:sp>
        <p:nvSpPr>
          <p:cNvPr id="13" name="">
            <a:extLst xmlns:a="http://schemas.openxmlformats.org/drawingml/2006/main">
              <a:ext uri="{FF2B5EF4-FFF2-40B4-BE49-F238E27FC236}">
                <a16:creationId xmlns:a16="http://schemas.microsoft.com/office/drawing/2014/main" id="{423397D1-47D2-48CB-BFD2-681501AAB36B}"/>
              </a:ext>
            </a:extLst>
          </p:cNvPr>
          <p:cNvSpPr>
            <a:spLocks xmlns:a="http://schemas.openxmlformats.org/drawingml/2006/main" noGrp="1"/>
          </p:cNvSpPr>
          <p:nvPr/>
        </p:nvSpPr>
        <p:spPr>
          <a:xfrm xmlns:a="http://schemas.openxmlformats.org/drawingml/2006/main" rot="0">
            <a:off x="7524750" y="4800600"/>
            <a:ext cx="371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252A31"/>
                </a:solidFill>
                <a:latin typeface="Arial"/>
                <a:ea typeface="Arial"/>
                <a:cs typeface="Arial"/>
              </a:defRPr>
            </a:pPr>
            <a:r>
              <a:rPr sz="2025" b="0" i="0">
                <a:solidFill>
                  <a:srgbClr val="252A31"/>
                </a:solidFill>
                <a:latin typeface="Arial"/>
                <a:ea typeface="Arial"/>
                <a:cs typeface="Arial"/>
              </a:rPr>
              <a:t>Cauchy–Schwarz gives |r| ≤ 1.</a:t>
            </a:r>
          </a:p>
        </p:txBody>
      </p:sp>
      <p:sp>
        <p:nvSpPr>
          <p:cNvPr id="14" name="">
            <a:extLst xmlns:a="http://schemas.openxmlformats.org/drawingml/2006/main">
              <a:ext uri="{FF2B5EF4-FFF2-40B4-BE49-F238E27FC236}">
                <a16:creationId xmlns:a16="http://schemas.microsoft.com/office/drawing/2014/main" id="{114246C7-D88A-495C-AF18-B72BC8BFF294}"/>
              </a:ext>
            </a:extLst>
          </p:cNvPr>
          <p:cNvSpPr>
            <a:spLocks xmlns:a="http://schemas.openxmlformats.org/drawingml/2006/main" noGrp="1"/>
          </p:cNvSpPr>
          <p:nvPr/>
        </p:nvSpPr>
        <p:spPr>
          <a:xfrm xmlns:a="http://schemas.openxmlformats.org/drawingml/2006/main" rot="0">
            <a:off x="1333500" y="56388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0" i="0">
                <a:solidFill>
                  <a:srgbClr val="68717D"/>
                </a:solidFill>
                <a:latin typeface="Arial"/>
                <a:ea typeface="Arial"/>
                <a:cs typeface="Arial"/>
              </a:defRPr>
            </a:pPr>
            <a:r>
              <a:rPr sz="1650" b="0" i="0">
                <a:solidFill>
                  <a:srgbClr val="68717D"/>
                </a:solidFill>
                <a:latin typeface="Arial"/>
                <a:ea typeface="Arial"/>
                <a:cs typeface="Arial"/>
              </a:rPr>
              <a:t>Center the columns before applying this interpretation.</a:t>
            </a:r>
          </a:p>
        </p:txBody>
      </p:sp>
    </p:spTree>
    <p:extLst>
      <p:ext uri="{BB962C8B-B14F-4D97-AF65-F5344CB8AC3E}">
        <p14:creationId xmlns:p14="http://schemas.microsoft.com/office/powerpoint/2010/main" val="734260554"/>
      </p:ext>
    </p:extLst>
  </p:cSld>
</p:sld>
</file>

<file path=ppt/slides/slide8.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ADEF784-42F7-4007-9A27-55D028AEE2F5}"/>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5 · PART II</a:t>
            </a:r>
          </a:p>
        </p:txBody>
      </p:sp>
      <p:sp>
        <p:nvSpPr>
          <p:cNvPr id="2" name="">
            <a:extLst xmlns:a="http://schemas.openxmlformats.org/drawingml/2006/main">
              <a:ext uri="{FF2B5EF4-FFF2-40B4-BE49-F238E27FC236}">
                <a16:creationId xmlns:a16="http://schemas.microsoft.com/office/drawing/2014/main" id="{2E901F29-7EAC-4FB2-8CDA-15C3BB517BE6}"/>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correlation matrix XᵀX</a:t>
            </a:r>
          </a:p>
        </p:txBody>
      </p:sp>
      <p:sp>
        <p:nvSpPr>
          <p:cNvPr id="3" name="">
            <a:extLst xmlns:a="http://schemas.openxmlformats.org/drawingml/2006/main">
              <a:ext uri="{FF2B5EF4-FFF2-40B4-BE49-F238E27FC236}">
                <a16:creationId xmlns:a16="http://schemas.microsoft.com/office/drawing/2014/main" id="{4E415F5B-4EFC-4AC5-8346-18A9D9B2C3F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8</a:t>
            </a:r>
          </a:p>
        </p:txBody>
      </p:sp>
      <p:sp>
        <p:nvSpPr>
          <p:cNvPr id="4" name="">
            <a:extLst xmlns:a="http://schemas.openxmlformats.org/drawingml/2006/main">
              <a:ext uri="{FF2B5EF4-FFF2-40B4-BE49-F238E27FC236}">
                <a16:creationId xmlns:a16="http://schemas.microsoft.com/office/drawing/2014/main" id="{57EBC458-1CC3-467B-A5FF-83529CA76EF2}"/>
              </a:ext>
            </a:extLst>
          </p:cNvPr>
          <p:cNvSpPr>
            <a:spLocks xmlns:a="http://schemas.openxmlformats.org/drawingml/2006/main" noGrp="1"/>
          </p:cNvSpPr>
          <p:nvPr/>
        </p:nvSpPr>
        <p:spPr>
          <a:xfrm xmlns:a="http://schemas.openxmlformats.org/drawingml/2006/main" rot="0">
            <a:off x="876300" y="1695450"/>
            <a:ext cx="6191250" cy="1581150"/>
          </a:xfrm>
          <a:prstGeom xmlns:a="http://schemas.openxmlformats.org/drawingml/2006/main" prst="roundRect">
            <a:avLst>
              <a:gd name="adj" fmla="val 6024"/>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XᵀX =  [  1      r₁₂     ⋯</a:t>
            </a:r>
          </a:p>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              r₂₁      1      ⋯</a:t>
            </a:r>
          </a:p>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               ⋮       ⋮      ⋱  ]</a:t>
            </a:r>
          </a:p>
        </p:txBody>
      </p:sp>
      <p:sp>
        <p:nvSpPr>
          <p:cNvPr id="5" name="">
            <a:extLst xmlns:a="http://schemas.openxmlformats.org/drawingml/2006/main">
              <a:ext uri="{FF2B5EF4-FFF2-40B4-BE49-F238E27FC236}">
                <a16:creationId xmlns:a16="http://schemas.microsoft.com/office/drawing/2014/main" id="{7782A359-D8A6-4A96-B996-73D247E079B6}"/>
              </a:ext>
            </a:extLst>
          </p:cNvPr>
          <p:cNvSpPr>
            <a:spLocks xmlns:a="http://schemas.openxmlformats.org/drawingml/2006/main" noGrp="1"/>
          </p:cNvSpPr>
          <p:nvPr/>
        </p:nvSpPr>
        <p:spPr>
          <a:xfrm xmlns:a="http://schemas.openxmlformats.org/drawingml/2006/main" rot="0">
            <a:off x="7524750" y="1695450"/>
            <a:ext cx="19050" cy="34290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44BBF6-DB1A-4361-B6C1-82EA33615FE0}"/>
              </a:ext>
            </a:extLst>
          </p:cNvPr>
          <p:cNvSpPr>
            <a:spLocks xmlns:a="http://schemas.openxmlformats.org/drawingml/2006/main" noGrp="1"/>
          </p:cNvSpPr>
          <p:nvPr/>
        </p:nvSpPr>
        <p:spPr>
          <a:xfrm xmlns:a="http://schemas.openxmlformats.org/drawingml/2006/main" rot="0">
            <a:off x="8020050" y="180975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DIAGONAL</a:t>
            </a:r>
          </a:p>
        </p:txBody>
      </p:sp>
      <p:sp>
        <p:nvSpPr>
          <p:cNvPr id="7" name="">
            <a:extLst xmlns:a="http://schemas.openxmlformats.org/drawingml/2006/main">
              <a:ext uri="{FF2B5EF4-FFF2-40B4-BE49-F238E27FC236}">
                <a16:creationId xmlns:a16="http://schemas.microsoft.com/office/drawing/2014/main" id="{94FB32DF-E8EC-4BD6-8CEC-3E02F923F182}"/>
              </a:ext>
            </a:extLst>
          </p:cNvPr>
          <p:cNvSpPr>
            <a:spLocks xmlns:a="http://schemas.openxmlformats.org/drawingml/2006/main" noGrp="1"/>
          </p:cNvSpPr>
          <p:nvPr/>
        </p:nvSpPr>
        <p:spPr>
          <a:xfrm xmlns:a="http://schemas.openxmlformats.org/drawingml/2006/main" rot="0">
            <a:off x="8020050" y="2171700"/>
            <a:ext cx="314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Squared lengths of predictor columns</a:t>
            </a:r>
          </a:p>
        </p:txBody>
      </p:sp>
      <p:sp>
        <p:nvSpPr>
          <p:cNvPr id="8" name="">
            <a:extLst xmlns:a="http://schemas.openxmlformats.org/drawingml/2006/main">
              <a:ext uri="{FF2B5EF4-FFF2-40B4-BE49-F238E27FC236}">
                <a16:creationId xmlns:a16="http://schemas.microsoft.com/office/drawing/2014/main" id="{CB71CC23-2772-4483-B983-A5F1F7E0B111}"/>
              </a:ext>
            </a:extLst>
          </p:cNvPr>
          <p:cNvSpPr>
            <a:spLocks xmlns:a="http://schemas.openxmlformats.org/drawingml/2006/main" noGrp="1"/>
          </p:cNvSpPr>
          <p:nvPr/>
        </p:nvSpPr>
        <p:spPr>
          <a:xfrm xmlns:a="http://schemas.openxmlformats.org/drawingml/2006/main" rot="0">
            <a:off x="8020050" y="32861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OFF DIAGONAL</a:t>
            </a:r>
          </a:p>
        </p:txBody>
      </p:sp>
      <p:sp>
        <p:nvSpPr>
          <p:cNvPr id="9" name="">
            <a:extLst xmlns:a="http://schemas.openxmlformats.org/drawingml/2006/main">
              <a:ext uri="{FF2B5EF4-FFF2-40B4-BE49-F238E27FC236}">
                <a16:creationId xmlns:a16="http://schemas.microsoft.com/office/drawing/2014/main" id="{071FEADD-612C-4C95-ADB8-D598929748EC}"/>
              </a:ext>
            </a:extLst>
          </p:cNvPr>
          <p:cNvSpPr>
            <a:spLocks xmlns:a="http://schemas.openxmlformats.org/drawingml/2006/main" noGrp="1"/>
          </p:cNvSpPr>
          <p:nvPr/>
        </p:nvSpPr>
        <p:spPr>
          <a:xfrm xmlns:a="http://schemas.openxmlformats.org/drawingml/2006/main" rot="0">
            <a:off x="8020050" y="364807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Pairwise inner products, which become correlations after scaling</a:t>
            </a:r>
          </a:p>
        </p:txBody>
      </p:sp>
      <p:sp>
        <p:nvSpPr>
          <p:cNvPr id="10" name="">
            <a:extLst xmlns:a="http://schemas.openxmlformats.org/drawingml/2006/main">
              <a:ext uri="{FF2B5EF4-FFF2-40B4-BE49-F238E27FC236}">
                <a16:creationId xmlns:a16="http://schemas.microsoft.com/office/drawing/2014/main" id="{AFBF8ACB-D2C5-4488-A0A0-03EA00710619}"/>
              </a:ext>
            </a:extLst>
          </p:cNvPr>
          <p:cNvSpPr>
            <a:spLocks xmlns:a="http://schemas.openxmlformats.org/drawingml/2006/main" noGrp="1"/>
          </p:cNvSpPr>
          <p:nvPr/>
        </p:nvSpPr>
        <p:spPr>
          <a:xfrm xmlns:a="http://schemas.openxmlformats.org/drawingml/2006/main" rot="0">
            <a:off x="990600" y="3886200"/>
            <a:ext cx="5905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0" i="0">
                <a:solidFill>
                  <a:srgbClr val="252A31"/>
                </a:solidFill>
                <a:latin typeface="Arial"/>
                <a:ea typeface="Arial"/>
                <a:cs typeface="Arial"/>
              </a:defRPr>
            </a:pPr>
            <a:r>
              <a:rPr sz="2100" b="0" i="0">
                <a:solidFill>
                  <a:srgbClr val="252A31"/>
                </a:solidFill>
                <a:latin typeface="Arial"/>
                <a:ea typeface="Arial"/>
                <a:cs typeface="Arial"/>
              </a:rPr>
              <a:t>Unit length scaling gives tr(XᵀX) = p.</a:t>
            </a:r>
          </a:p>
        </p:txBody>
      </p:sp>
      <p:sp>
        <p:nvSpPr>
          <p:cNvPr id="11" name="">
            <a:extLst xmlns:a="http://schemas.openxmlformats.org/drawingml/2006/main">
              <a:ext uri="{FF2B5EF4-FFF2-40B4-BE49-F238E27FC236}">
                <a16:creationId xmlns:a16="http://schemas.microsoft.com/office/drawing/2014/main" id="{1A48BEB0-865C-4295-A432-FB333676DBAF}"/>
              </a:ext>
            </a:extLst>
          </p:cNvPr>
          <p:cNvSpPr>
            <a:spLocks xmlns:a="http://schemas.openxmlformats.org/drawingml/2006/main" noGrp="1"/>
          </p:cNvSpPr>
          <p:nvPr/>
        </p:nvSpPr>
        <p:spPr>
          <a:xfrm xmlns:a="http://schemas.openxmlformats.org/drawingml/2006/main" rot="0">
            <a:off x="1476375" y="4762500"/>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75" b="1" i="0">
                <a:solidFill>
                  <a:srgbClr val="A8710A"/>
                </a:solidFill>
                <a:latin typeface="Cambria Math"/>
                <a:ea typeface="Cambria Math"/>
                <a:cs typeface="Cambria Math"/>
              </a:defRPr>
            </a:pPr>
            <a:r>
              <a:rPr sz="3075" b="1" i="0">
                <a:solidFill>
                  <a:srgbClr val="A8710A"/>
                </a:solidFill>
                <a:latin typeface="Cambria Math"/>
                <a:ea typeface="Cambria Math"/>
                <a:cs typeface="Cambria Math"/>
              </a:rPr>
              <a:t>λ₁ + ··· + λₚ = p</a:t>
            </a:r>
          </a:p>
        </p:txBody>
      </p:sp>
    </p:spTree>
    <p:extLst>
      <p:ext uri="{BB962C8B-B14F-4D97-AF65-F5344CB8AC3E}">
        <p14:creationId xmlns:p14="http://schemas.microsoft.com/office/powerpoint/2010/main" val="1800737625"/>
      </p:ext>
    </p:extLst>
  </p:cSld>
</p:sld>
</file>

<file path=ppt/slides/slide9.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04B953E-E615-45BF-8272-D0545812F005}"/>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6 · PART II</a:t>
            </a:r>
          </a:p>
        </p:txBody>
      </p:sp>
      <p:sp>
        <p:nvSpPr>
          <p:cNvPr id="2" name="">
            <a:extLst xmlns:a="http://schemas.openxmlformats.org/drawingml/2006/main">
              <a:ext uri="{FF2B5EF4-FFF2-40B4-BE49-F238E27FC236}">
                <a16:creationId xmlns:a16="http://schemas.microsoft.com/office/drawing/2014/main" id="{C5F56D1C-BBB5-48DD-BE97-D7F875006F53}"/>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Eigenvalues: where the information is</a:t>
            </a:r>
          </a:p>
        </p:txBody>
      </p:sp>
      <p:sp>
        <p:nvSpPr>
          <p:cNvPr id="3" name="">
            <a:extLst xmlns:a="http://schemas.openxmlformats.org/drawingml/2006/main">
              <a:ext uri="{FF2B5EF4-FFF2-40B4-BE49-F238E27FC236}">
                <a16:creationId xmlns:a16="http://schemas.microsoft.com/office/drawing/2014/main" id="{1121A4ED-EA93-4128-82CD-FDE94F6F1BC5}"/>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41E563F6-BB0A-4362-94A2-6B0584C3251C}"/>
              </a:ext>
            </a:extLst>
          </p:cNvPr>
          <p:cNvSpPr>
            <a:spLocks xmlns:a="http://schemas.openxmlformats.org/drawingml/2006/main" noGrp="1"/>
          </p:cNvSpPr>
          <p:nvPr/>
        </p:nvSpPr>
        <p:spPr>
          <a:xfrm xmlns:a="http://schemas.openxmlformats.org/drawingml/2006/main" rot="0">
            <a:off x="876300" y="1695450"/>
            <a:ext cx="400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XᵀX = PΛPᵀ</a:t>
            </a:r>
          </a:p>
        </p:txBody>
      </p:sp>
      <p:sp>
        <p:nvSpPr>
          <p:cNvPr id="5" name="">
            <a:extLst xmlns:a="http://schemas.openxmlformats.org/drawingml/2006/main">
              <a:ext uri="{FF2B5EF4-FFF2-40B4-BE49-F238E27FC236}">
                <a16:creationId xmlns:a16="http://schemas.microsoft.com/office/drawing/2014/main" id="{A7B0D321-8987-4371-9999-5EB2D1927D34}"/>
              </a:ext>
            </a:extLst>
          </p:cNvPr>
          <p:cNvSpPr>
            <a:spLocks xmlns:a="http://schemas.openxmlformats.org/drawingml/2006/main" noGrp="1"/>
          </p:cNvSpPr>
          <p:nvPr/>
        </p:nvSpPr>
        <p:spPr>
          <a:xfrm xmlns:a="http://schemas.openxmlformats.org/drawingml/2006/main" rot="0">
            <a:off x="876300" y="2400300"/>
            <a:ext cx="619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XᵀX pⱼ = λⱼpⱼ</a:t>
            </a:r>
          </a:p>
        </p:txBody>
      </p:sp>
      <p:sp>
        <p:nvSpPr>
          <p:cNvPr id="6" name="">
            <a:extLst xmlns:a="http://schemas.openxmlformats.org/drawingml/2006/main">
              <a:ext uri="{FF2B5EF4-FFF2-40B4-BE49-F238E27FC236}">
                <a16:creationId xmlns:a16="http://schemas.microsoft.com/office/drawing/2014/main" id="{801C0FE3-9780-4BF7-9C19-EE0B9F9570E5}"/>
              </a:ext>
            </a:extLst>
          </p:cNvPr>
          <p:cNvSpPr>
            <a:spLocks xmlns:a="http://schemas.openxmlformats.org/drawingml/2006/main" noGrp="1"/>
          </p:cNvSpPr>
          <p:nvPr/>
        </p:nvSpPr>
        <p:spPr>
          <a:xfrm xmlns:a="http://schemas.openxmlformats.org/drawingml/2006/main" rot="0">
            <a:off x="876300" y="3514725"/>
            <a:ext cx="10287000" cy="76200"/>
          </a:xfrm>
          <a:prstGeom xmlns:a="http://schemas.openxmlformats.org/drawingml/2006/main" prst="roundRect">
            <a:avLst>
              <a:gd name="adj" fmla="val 50000"/>
            </a:avLst>
          </a:prstGeom>
          <a:solidFill xmlns:a="http://schemas.openxmlformats.org/drawingml/2006/main">
            <a:srgbClr val="D9D9D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576D256-3F48-4958-9A66-05A44E58FAC8}"/>
              </a:ext>
            </a:extLst>
          </p:cNvPr>
          <p:cNvSpPr>
            <a:spLocks xmlns:a="http://schemas.openxmlformats.org/drawingml/2006/main" noGrp="1"/>
          </p:cNvSpPr>
          <p:nvPr/>
        </p:nvSpPr>
        <p:spPr>
          <a:xfrm xmlns:a="http://schemas.openxmlformats.org/drawingml/2006/main" rot="0">
            <a:off x="1333500" y="3371850"/>
            <a:ext cx="361950" cy="361950"/>
          </a:xfrm>
          <a:prstGeom xmlns:a="http://schemas.openxmlformats.org/drawingml/2006/main" prst="ellipse">
            <a:avLst/>
          </a:prstGeom>
          <a:solidFill xmlns:a="http://schemas.openxmlformats.org/drawingml/2006/main">
            <a:srgbClr val="A64B3C"/>
          </a:solidFill>
          <a:ln xmlns:a="http://schemas.openxmlformats.org/drawingml/2006/main" w="28575">
            <a:solidFill>
              <a:srgbClr val="FFFFFF"/>
            </a:solidFill>
          </a:ln>
        </p:spPr>
      </p:sp>
      <p:sp>
        <p:nvSpPr>
          <p:cNvPr id="8" name="">
            <a:extLst xmlns:a="http://schemas.openxmlformats.org/drawingml/2006/main">
              <a:ext uri="{FF2B5EF4-FFF2-40B4-BE49-F238E27FC236}">
                <a16:creationId xmlns:a16="http://schemas.microsoft.com/office/drawing/2014/main" id="{7783E8E1-BFE7-4E0C-8586-231E454FE10D}"/>
              </a:ext>
            </a:extLst>
          </p:cNvPr>
          <p:cNvSpPr>
            <a:spLocks xmlns:a="http://schemas.openxmlformats.org/drawingml/2006/main" noGrp="1"/>
          </p:cNvSpPr>
          <p:nvPr/>
        </p:nvSpPr>
        <p:spPr>
          <a:xfrm xmlns:a="http://schemas.openxmlformats.org/drawingml/2006/main" rot="0">
            <a:off x="9715500" y="3371850"/>
            <a:ext cx="361950" cy="361950"/>
          </a:xfrm>
          <a:prstGeom xmlns:a="http://schemas.openxmlformats.org/drawingml/2006/main" prst="ellipse">
            <a:avLst/>
          </a:prstGeom>
          <a:solidFill xmlns:a="http://schemas.openxmlformats.org/drawingml/2006/main">
            <a:srgbClr val="2C6A6C"/>
          </a:solidFill>
          <a:ln xmlns:a="http://schemas.openxmlformats.org/drawingml/2006/main" w="28575">
            <a:solidFill>
              <a:srgbClr val="FFFFFF"/>
            </a:solidFill>
          </a:ln>
        </p:spPr>
      </p:sp>
      <p:sp>
        <p:nvSpPr>
          <p:cNvPr id="9" name="">
            <a:extLst xmlns:a="http://schemas.openxmlformats.org/drawingml/2006/main">
              <a:ext uri="{FF2B5EF4-FFF2-40B4-BE49-F238E27FC236}">
                <a16:creationId xmlns:a16="http://schemas.microsoft.com/office/drawing/2014/main" id="{772A1767-2B3C-45A4-B9FF-D77AB3411A08}"/>
              </a:ext>
            </a:extLst>
          </p:cNvPr>
          <p:cNvSpPr>
            <a:spLocks xmlns:a="http://schemas.openxmlformats.org/drawingml/2006/main" noGrp="1"/>
          </p:cNvSpPr>
          <p:nvPr/>
        </p:nvSpPr>
        <p:spPr>
          <a:xfrm xmlns:a="http://schemas.openxmlformats.org/drawingml/2006/main" rot="0">
            <a:off x="876300" y="3905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64B3C"/>
                </a:solidFill>
                <a:latin typeface="Arial"/>
                <a:ea typeface="Arial"/>
                <a:cs typeface="Arial"/>
              </a:defRPr>
            </a:pPr>
            <a:r>
              <a:rPr sz="1125" b="1" i="0">
                <a:solidFill>
                  <a:srgbClr val="A64B3C"/>
                </a:solidFill>
                <a:latin typeface="Arial"/>
                <a:ea typeface="Arial"/>
                <a:cs typeface="Arial"/>
              </a:rPr>
              <a:t>SMALL Λⱼ</a:t>
            </a:r>
          </a:p>
        </p:txBody>
      </p:sp>
      <p:sp>
        <p:nvSpPr>
          <p:cNvPr id="10" name="">
            <a:extLst xmlns:a="http://schemas.openxmlformats.org/drawingml/2006/main">
              <a:ext uri="{FF2B5EF4-FFF2-40B4-BE49-F238E27FC236}">
                <a16:creationId xmlns:a16="http://schemas.microsoft.com/office/drawing/2014/main" id="{8CE0E0E6-C51E-4C9D-8BCB-9C14949DFCA8}"/>
              </a:ext>
            </a:extLst>
          </p:cNvPr>
          <p:cNvSpPr>
            <a:spLocks xmlns:a="http://schemas.openxmlformats.org/drawingml/2006/main" noGrp="1"/>
          </p:cNvSpPr>
          <p:nvPr/>
        </p:nvSpPr>
        <p:spPr>
          <a:xfrm xmlns:a="http://schemas.openxmlformats.org/drawingml/2006/main" rot="0">
            <a:off x="876300" y="4295775"/>
            <a:ext cx="3619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Little spread in the data</a:t>
            </a:r>
          </a:p>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Weakly informed direction</a:t>
            </a:r>
          </a:p>
        </p:txBody>
      </p:sp>
      <p:sp>
        <p:nvSpPr>
          <p:cNvPr id="11" name="">
            <a:extLst xmlns:a="http://schemas.openxmlformats.org/drawingml/2006/main">
              <a:ext uri="{FF2B5EF4-FFF2-40B4-BE49-F238E27FC236}">
                <a16:creationId xmlns:a16="http://schemas.microsoft.com/office/drawing/2014/main" id="{80BBC620-1E26-44C4-BFB1-B874B856D6E8}"/>
              </a:ext>
            </a:extLst>
          </p:cNvPr>
          <p:cNvSpPr>
            <a:spLocks xmlns:a="http://schemas.openxmlformats.org/drawingml/2006/main" noGrp="1"/>
          </p:cNvSpPr>
          <p:nvPr/>
        </p:nvSpPr>
        <p:spPr>
          <a:xfrm xmlns:a="http://schemas.openxmlformats.org/drawingml/2006/main" rot="0">
            <a:off x="8667750" y="390525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LARGE Λⱼ</a:t>
            </a:r>
          </a:p>
        </p:txBody>
      </p:sp>
      <p:sp>
        <p:nvSpPr>
          <p:cNvPr id="12" name="">
            <a:extLst xmlns:a="http://schemas.openxmlformats.org/drawingml/2006/main">
              <a:ext uri="{FF2B5EF4-FFF2-40B4-BE49-F238E27FC236}">
                <a16:creationId xmlns:a16="http://schemas.microsoft.com/office/drawing/2014/main" id="{7C719D74-59CE-487E-97DB-FEDE09B8AAF8}"/>
              </a:ext>
            </a:extLst>
          </p:cNvPr>
          <p:cNvSpPr>
            <a:spLocks xmlns:a="http://schemas.openxmlformats.org/drawingml/2006/main" noGrp="1"/>
          </p:cNvSpPr>
          <p:nvPr/>
        </p:nvSpPr>
        <p:spPr>
          <a:xfrm xmlns:a="http://schemas.openxmlformats.org/drawingml/2006/main" rot="0">
            <a:off x="7620000" y="4295775"/>
            <a:ext cx="3524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Strong spread in the data</a:t>
            </a:r>
          </a:p>
          <a:p xmlns:a="http://schemas.openxmlformats.org/drawingml/2006/main">
            <a:pPr algn="r">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Well-informed direction</a:t>
            </a:r>
          </a:p>
        </p:txBody>
      </p:sp>
      <p:sp>
        <p:nvSpPr>
          <p:cNvPr id="13" name="">
            <a:extLst xmlns:a="http://schemas.openxmlformats.org/drawingml/2006/main">
              <a:ext uri="{FF2B5EF4-FFF2-40B4-BE49-F238E27FC236}">
                <a16:creationId xmlns:a16="http://schemas.microsoft.com/office/drawing/2014/main" id="{B5702F3B-9DFD-4322-824F-F89FFA14D684}"/>
              </a:ext>
            </a:extLst>
          </p:cNvPr>
          <p:cNvSpPr>
            <a:spLocks xmlns:a="http://schemas.openxmlformats.org/drawingml/2006/main" noGrp="1"/>
          </p:cNvSpPr>
          <p:nvPr/>
        </p:nvSpPr>
        <p:spPr>
          <a:xfrm xmlns:a="http://schemas.openxmlformats.org/drawingml/2006/main" rot="0">
            <a:off x="1619250" y="5619750"/>
            <a:ext cx="895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Correlated predictors create directions with very little information.</a:t>
            </a:r>
          </a:p>
        </p:txBody>
      </p:sp>
    </p:spTree>
    <p:extLst>
      <p:ext uri="{BB962C8B-B14F-4D97-AF65-F5344CB8AC3E}">
        <p14:creationId xmlns:p14="http://schemas.microsoft.com/office/powerpoint/2010/main" val="1456974123"/>
      </p:ext>
    </p:extLst>
  </p:cSld>
</p:sld>
</file>

<file path=ppt/slides/slide10.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5B97EFD-8AC5-41D6-B883-4B01EF698669}"/>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7 · PART II</a:t>
            </a:r>
          </a:p>
        </p:txBody>
      </p:sp>
      <p:sp>
        <p:nvSpPr>
          <p:cNvPr id="2" name="">
            <a:extLst xmlns:a="http://schemas.openxmlformats.org/drawingml/2006/main">
              <a:ext uri="{FF2B5EF4-FFF2-40B4-BE49-F238E27FC236}">
                <a16:creationId xmlns:a16="http://schemas.microsoft.com/office/drawing/2014/main" id="{41EEAECE-BFA9-4C48-AF9A-8A1E37954E81}"/>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What we assume about the noise</a:t>
            </a:r>
          </a:p>
        </p:txBody>
      </p:sp>
      <p:sp>
        <p:nvSpPr>
          <p:cNvPr id="3" name="">
            <a:extLst xmlns:a="http://schemas.openxmlformats.org/drawingml/2006/main">
              <a:ext uri="{FF2B5EF4-FFF2-40B4-BE49-F238E27FC236}">
                <a16:creationId xmlns:a16="http://schemas.microsoft.com/office/drawing/2014/main" id="{3D031CFB-8E2C-4FFE-97AE-2FD68C8C5C8F}"/>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07C4131D-AB43-411F-BB51-372E0299DF5D}"/>
              </a:ext>
            </a:extLst>
          </p:cNvPr>
          <p:cNvSpPr>
            <a:spLocks xmlns:a="http://schemas.openxmlformats.org/drawingml/2006/main" noGrp="1"/>
          </p:cNvSpPr>
          <p:nvPr/>
        </p:nvSpPr>
        <p:spPr>
          <a:xfrm xmlns:a="http://schemas.openxmlformats.org/drawingml/2006/main" rot="0">
            <a:off x="1047750" y="1809750"/>
            <a:ext cx="4286250" cy="781050"/>
          </a:xfrm>
          <a:prstGeom xmlns:a="http://schemas.openxmlformats.org/drawingml/2006/main" prst="roundRect">
            <a:avLst>
              <a:gd name="adj" fmla="val 12195"/>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E[ε | X] = 0</a:t>
            </a:r>
          </a:p>
        </p:txBody>
      </p:sp>
      <p:sp>
        <p:nvSpPr>
          <p:cNvPr id="5" name="">
            <a:extLst xmlns:a="http://schemas.openxmlformats.org/drawingml/2006/main">
              <a:ext uri="{FF2B5EF4-FFF2-40B4-BE49-F238E27FC236}">
                <a16:creationId xmlns:a16="http://schemas.microsoft.com/office/drawing/2014/main" id="{CA503372-3926-43B0-A9ED-FD4DD815FA76}"/>
              </a:ext>
            </a:extLst>
          </p:cNvPr>
          <p:cNvSpPr>
            <a:spLocks xmlns:a="http://schemas.openxmlformats.org/drawingml/2006/main" noGrp="1"/>
          </p:cNvSpPr>
          <p:nvPr/>
        </p:nvSpPr>
        <p:spPr>
          <a:xfrm xmlns:a="http://schemas.openxmlformats.org/drawingml/2006/main" rot="0">
            <a:off x="1047750" y="2838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No systematic error remains after conditioning on the predictors.</a:t>
            </a:r>
          </a:p>
        </p:txBody>
      </p:sp>
      <p:sp>
        <p:nvSpPr>
          <p:cNvPr id="6" name="">
            <a:extLst xmlns:a="http://schemas.openxmlformats.org/drawingml/2006/main">
              <a:ext uri="{FF2B5EF4-FFF2-40B4-BE49-F238E27FC236}">
                <a16:creationId xmlns:a16="http://schemas.microsoft.com/office/drawing/2014/main" id="{D43228C2-685D-4C45-A9DC-E2548A6CDFA2}"/>
              </a:ext>
            </a:extLst>
          </p:cNvPr>
          <p:cNvSpPr>
            <a:spLocks xmlns:a="http://schemas.openxmlformats.org/drawingml/2006/main" noGrp="1"/>
          </p:cNvSpPr>
          <p:nvPr/>
        </p:nvSpPr>
        <p:spPr>
          <a:xfrm xmlns:a="http://schemas.openxmlformats.org/drawingml/2006/main" rot="0">
            <a:off x="6858000" y="1809750"/>
            <a:ext cx="4286250" cy="781050"/>
          </a:xfrm>
          <a:prstGeom xmlns:a="http://schemas.openxmlformats.org/drawingml/2006/main" prst="roundRect">
            <a:avLst>
              <a:gd name="adj" fmla="val 12195"/>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75" b="0" i="0">
                <a:solidFill>
                  <a:srgbClr val="252A31"/>
                </a:solidFill>
                <a:latin typeface="Cambria Math"/>
                <a:ea typeface="Cambria Math"/>
                <a:cs typeface="Cambria Math"/>
              </a:defRPr>
            </a:pPr>
            <a:r>
              <a:rPr sz="3075" b="0" i="0">
                <a:solidFill>
                  <a:srgbClr val="252A31"/>
                </a:solidFill>
                <a:latin typeface="Cambria Math"/>
                <a:ea typeface="Cambria Math"/>
                <a:cs typeface="Cambria Math"/>
              </a:rPr>
              <a:t>Cov(ε | X) = σ²Iₙ</a:t>
            </a:r>
          </a:p>
        </p:txBody>
      </p:sp>
      <p:sp>
        <p:nvSpPr>
          <p:cNvPr id="7" name="">
            <a:extLst xmlns:a="http://schemas.openxmlformats.org/drawingml/2006/main">
              <a:ext uri="{FF2B5EF4-FFF2-40B4-BE49-F238E27FC236}">
                <a16:creationId xmlns:a16="http://schemas.microsoft.com/office/drawing/2014/main" id="{A880E023-9F96-4C63-B24B-C7BC1B89A092}"/>
              </a:ext>
            </a:extLst>
          </p:cNvPr>
          <p:cNvSpPr>
            <a:spLocks xmlns:a="http://schemas.openxmlformats.org/drawingml/2006/main" noGrp="1"/>
          </p:cNvSpPr>
          <p:nvPr/>
        </p:nvSpPr>
        <p:spPr>
          <a:xfrm xmlns:a="http://schemas.openxmlformats.org/drawingml/2006/main" rot="0">
            <a:off x="6858000" y="2838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Errors have equal variance and distinct observations are uncorrelated.</a:t>
            </a:r>
          </a:p>
        </p:txBody>
      </p:sp>
      <p:sp>
        <p:nvSpPr>
          <p:cNvPr id="8" name="">
            <a:extLst xmlns:a="http://schemas.openxmlformats.org/drawingml/2006/main">
              <a:ext uri="{FF2B5EF4-FFF2-40B4-BE49-F238E27FC236}">
                <a16:creationId xmlns:a16="http://schemas.microsoft.com/office/drawing/2014/main" id="{C022490B-05E0-4698-B598-82FFBE36B2BB}"/>
              </a:ext>
            </a:extLst>
          </p:cNvPr>
          <p:cNvSpPr>
            <a:spLocks xmlns:a="http://schemas.openxmlformats.org/drawingml/2006/main" noGrp="1"/>
          </p:cNvSpPr>
          <p:nvPr/>
        </p:nvSpPr>
        <p:spPr>
          <a:xfrm xmlns:a="http://schemas.openxmlformats.org/drawingml/2006/main" rot="0">
            <a:off x="3009900" y="4638675"/>
            <a:ext cx="61722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F036016-BFBF-4F02-8AF6-BC454820A5FE}"/>
              </a:ext>
            </a:extLst>
          </p:cNvPr>
          <p:cNvSpPr>
            <a:spLocks xmlns:a="http://schemas.openxmlformats.org/drawingml/2006/main" noGrp="1"/>
          </p:cNvSpPr>
          <p:nvPr/>
        </p:nvSpPr>
        <p:spPr>
          <a:xfrm xmlns:a="http://schemas.openxmlformats.org/drawingml/2006/main" rot="0">
            <a:off x="1952625" y="5010150"/>
            <a:ext cx="828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Normality is not required for unbiasedness, the covariance formula, or Gauss–Markov.</a:t>
            </a:r>
          </a:p>
        </p:txBody>
      </p:sp>
    </p:spTree>
    <p:extLst>
      <p:ext uri="{BB962C8B-B14F-4D97-AF65-F5344CB8AC3E}">
        <p14:creationId xmlns:p14="http://schemas.microsoft.com/office/powerpoint/2010/main" val="1494649800"/>
      </p:ext>
    </p:extLst>
  </p:cSld>
</p:sld>
</file>

<file path=ppt/slides/slide1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105C7C-EFAA-45E0-829E-660F2CBFED2D}"/>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5D9E9714-20F5-4898-87D0-B9AE4FA36A4B}"/>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least squares objective</a:t>
            </a:r>
          </a:p>
        </p:txBody>
      </p:sp>
      <p:sp>
        <p:nvSpPr>
          <p:cNvPr id="3" name="">
            <a:extLst xmlns:a="http://schemas.openxmlformats.org/drawingml/2006/main">
              <a:ext uri="{FF2B5EF4-FFF2-40B4-BE49-F238E27FC236}">
                <a16:creationId xmlns:a16="http://schemas.microsoft.com/office/drawing/2014/main" id="{B3F93458-87F1-47ED-80EB-149FAB4D0A65}"/>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D62A394A-8529-4305-B16A-58E72E6A64CD}"/>
              </a:ext>
            </a:extLst>
          </p:cNvPr>
          <p:cNvSpPr>
            <a:spLocks xmlns:a="http://schemas.openxmlformats.org/drawingml/2006/main" noGrp="1"/>
          </p:cNvSpPr>
          <p:nvPr/>
        </p:nvSpPr>
        <p:spPr>
          <a:xfrm xmlns:a="http://schemas.openxmlformats.org/drawingml/2006/main" rot="0">
            <a:off x="876300" y="17145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RESIDUAL VECTOR</a:t>
            </a:r>
          </a:p>
        </p:txBody>
      </p:sp>
      <p:sp>
        <p:nvSpPr>
          <p:cNvPr id="5" name="">
            <a:extLst xmlns:a="http://schemas.openxmlformats.org/drawingml/2006/main">
              <a:ext uri="{FF2B5EF4-FFF2-40B4-BE49-F238E27FC236}">
                <a16:creationId xmlns:a16="http://schemas.microsoft.com/office/drawing/2014/main" id="{2B8B09DD-BA49-4DA1-A7AF-AE284BDB71ED}"/>
              </a:ext>
            </a:extLst>
          </p:cNvPr>
          <p:cNvSpPr>
            <a:spLocks xmlns:a="http://schemas.openxmlformats.org/drawingml/2006/main" noGrp="1"/>
          </p:cNvSpPr>
          <p:nvPr/>
        </p:nvSpPr>
        <p:spPr>
          <a:xfrm xmlns:a="http://schemas.openxmlformats.org/drawingml/2006/main" rot="0">
            <a:off x="876300" y="2076450"/>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r(B) = Y − XB</a:t>
            </a:r>
          </a:p>
        </p:txBody>
      </p:sp>
      <p:sp>
        <p:nvSpPr>
          <p:cNvPr id="6" name="">
            <a:extLst xmlns:a="http://schemas.openxmlformats.org/drawingml/2006/main">
              <a:ext uri="{FF2B5EF4-FFF2-40B4-BE49-F238E27FC236}">
                <a16:creationId xmlns:a16="http://schemas.microsoft.com/office/drawing/2014/main" id="{EC634AD3-0691-430C-A0BB-EE02E4FD734D}"/>
              </a:ext>
            </a:extLst>
          </p:cNvPr>
          <p:cNvSpPr>
            <a:spLocks xmlns:a="http://schemas.openxmlformats.org/drawingml/2006/main" noGrp="1"/>
          </p:cNvSpPr>
          <p:nvPr/>
        </p:nvSpPr>
        <p:spPr>
          <a:xfrm xmlns:a="http://schemas.openxmlformats.org/drawingml/2006/main" rot="0">
            <a:off x="876300" y="33718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OPTIMIZATION PROBLEM</a:t>
            </a:r>
          </a:p>
        </p:txBody>
      </p:sp>
      <p:sp>
        <p:nvSpPr>
          <p:cNvPr id="7" name="">
            <a:extLst xmlns:a="http://schemas.openxmlformats.org/drawingml/2006/main">
              <a:ext uri="{FF2B5EF4-FFF2-40B4-BE49-F238E27FC236}">
                <a16:creationId xmlns:a16="http://schemas.microsoft.com/office/drawing/2014/main" id="{9FB3E562-34E7-4F45-97B6-C61A1C4709CE}"/>
              </a:ext>
            </a:extLst>
          </p:cNvPr>
          <p:cNvSpPr>
            <a:spLocks xmlns:a="http://schemas.openxmlformats.org/drawingml/2006/main" noGrp="1"/>
          </p:cNvSpPr>
          <p:nvPr/>
        </p:nvSpPr>
        <p:spPr>
          <a:xfrm xmlns:a="http://schemas.openxmlformats.org/drawingml/2006/main" rot="0">
            <a:off x="876300" y="3733800"/>
            <a:ext cx="723900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150" b="0" i="0">
                <a:solidFill>
                  <a:srgbClr val="252A31"/>
                </a:solidFill>
                <a:latin typeface="Cambria Math"/>
                <a:ea typeface="Cambria Math"/>
                <a:cs typeface="Cambria Math"/>
              </a:defRPr>
            </a:pPr>
            <a:r>
              <a:rPr sz="3150" b="0" i="0">
                <a:solidFill>
                  <a:srgbClr val="252A31"/>
                </a:solidFill>
                <a:latin typeface="Cambria Math"/>
                <a:ea typeface="Cambria Math"/>
                <a:cs typeface="Cambria Math"/>
              </a:rPr>
              <a:t>β̂ = arg minᴮ ‖Y − XB‖²</a:t>
            </a:r>
          </a:p>
        </p:txBody>
      </p:sp>
      <p:sp>
        <p:nvSpPr>
          <p:cNvPr id="8" name="">
            <a:extLst xmlns:a="http://schemas.openxmlformats.org/drawingml/2006/main">
              <a:ext uri="{FF2B5EF4-FFF2-40B4-BE49-F238E27FC236}">
                <a16:creationId xmlns:a16="http://schemas.microsoft.com/office/drawing/2014/main" id="{348C205A-B532-407F-AD19-CFEAD01676A7}"/>
              </a:ext>
            </a:extLst>
          </p:cNvPr>
          <p:cNvSpPr>
            <a:spLocks xmlns:a="http://schemas.openxmlformats.org/drawingml/2006/main" noGrp="1"/>
          </p:cNvSpPr>
          <p:nvPr/>
        </p:nvSpPr>
        <p:spPr>
          <a:xfrm xmlns:a="http://schemas.openxmlformats.org/drawingml/2006/main" rot="0">
            <a:off x="8572500" y="1790700"/>
            <a:ext cx="19050" cy="32385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D536148-F002-4949-BA0F-CB9C5266FE49}"/>
              </a:ext>
            </a:extLst>
          </p:cNvPr>
          <p:cNvSpPr>
            <a:spLocks xmlns:a="http://schemas.openxmlformats.org/drawingml/2006/main" noGrp="1"/>
          </p:cNvSpPr>
          <p:nvPr/>
        </p:nvSpPr>
        <p:spPr>
          <a:xfrm xmlns:a="http://schemas.openxmlformats.org/drawingml/2006/main" rot="0">
            <a:off x="9010650" y="222885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The residual lives in observation space ℝⁿ.</a:t>
            </a:r>
          </a:p>
        </p:txBody>
      </p:sp>
      <p:sp>
        <p:nvSpPr>
          <p:cNvPr id="10" name="">
            <a:extLst xmlns:a="http://schemas.openxmlformats.org/drawingml/2006/main">
              <a:ext uri="{FF2B5EF4-FFF2-40B4-BE49-F238E27FC236}">
                <a16:creationId xmlns:a16="http://schemas.microsoft.com/office/drawing/2014/main" id="{15A1CE68-C464-4C8A-80AE-8EFF8E2C5FDE}"/>
              </a:ext>
            </a:extLst>
          </p:cNvPr>
          <p:cNvSpPr>
            <a:spLocks xmlns:a="http://schemas.openxmlformats.org/drawingml/2006/main" noGrp="1"/>
          </p:cNvSpPr>
          <p:nvPr/>
        </p:nvSpPr>
        <p:spPr>
          <a:xfrm xmlns:a="http://schemas.openxmlformats.org/drawingml/2006/main" rot="0">
            <a:off x="9010650" y="3581400"/>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Least squares chooses coefficients in ℝᵖ that minimize its squared length.</a:t>
            </a:r>
          </a:p>
        </p:txBody>
      </p:sp>
    </p:spTree>
    <p:extLst>
      <p:ext uri="{BB962C8B-B14F-4D97-AF65-F5344CB8AC3E}">
        <p14:creationId xmlns:p14="http://schemas.microsoft.com/office/powerpoint/2010/main" val="1444104370"/>
      </p:ext>
    </p:extLst>
  </p:cSld>
</p:sld>
</file>

<file path=ppt/slides/slide1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DC065D7-DD08-45C3-A197-7689777F3A45}"/>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2A522EDB-5F01-4620-A31C-52CF1F457774}"/>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Least squares as orthogonal projection</a:t>
            </a:r>
          </a:p>
        </p:txBody>
      </p:sp>
      <p:sp>
        <p:nvSpPr>
          <p:cNvPr id="3" name="">
            <a:extLst xmlns:a="http://schemas.openxmlformats.org/drawingml/2006/main">
              <a:ext uri="{FF2B5EF4-FFF2-40B4-BE49-F238E27FC236}">
                <a16:creationId xmlns:a16="http://schemas.microsoft.com/office/drawing/2014/main" id="{F27A06A9-B753-4264-BBA5-086EC24686BE}"/>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CAD7DB8C-A7C3-408E-8E00-370E94BC1572}"/>
              </a:ext>
            </a:extLst>
          </p:cNvPr>
          <p:cNvSpPr>
            <a:spLocks xmlns:a="http://schemas.openxmlformats.org/drawingml/2006/main" noGrp="1"/>
          </p:cNvSpPr>
          <p:nvPr/>
        </p:nvSpPr>
        <p:spPr>
          <a:xfrm xmlns:a="http://schemas.openxmlformats.org/drawingml/2006/main" rot="0">
            <a:off x="1028700" y="4857750"/>
            <a:ext cx="5391150" cy="0"/>
          </a:xfrm>
          <a:prstGeom xmlns:a="http://schemas.openxmlformats.org/drawingml/2006/main" prst="line">
            <a:avLst/>
          </a:prstGeom>
          <a:noFill xmlns:a="http://schemas.openxmlformats.org/drawingml/2006/main"/>
          <a:ln xmlns:a="http://schemas.openxmlformats.org/drawingml/2006/main" w="38100">
            <a:solidFill>
              <a:srgbClr val="D9D9D3"/>
            </a:solidFill>
            <a:prstDash val="solid"/>
          </a:ln>
        </p:spPr>
      </p:sp>
      <p:sp>
        <p:nvSpPr>
          <p:cNvPr id="5" name="">
            <a:extLst xmlns:a="http://schemas.openxmlformats.org/drawingml/2006/main">
              <a:ext uri="{FF2B5EF4-FFF2-40B4-BE49-F238E27FC236}">
                <a16:creationId xmlns:a16="http://schemas.microsoft.com/office/drawing/2014/main" id="{E09EADC3-E921-40EC-97A4-7735886ED11C}"/>
              </a:ext>
            </a:extLst>
          </p:cNvPr>
          <p:cNvSpPr>
            <a:spLocks xmlns:a="http://schemas.openxmlformats.org/drawingml/2006/main" noGrp="1"/>
          </p:cNvSpPr>
          <p:nvPr/>
        </p:nvSpPr>
        <p:spPr>
          <a:xfrm xmlns:a="http://schemas.openxmlformats.org/drawingml/2006/main" rot="0">
            <a:off x="1428750" y="4857750"/>
            <a:ext cx="3619500" cy="0"/>
          </a:xfrm>
          <a:prstGeom xmlns:a="http://schemas.openxmlformats.org/drawingml/2006/main" prst="line">
            <a:avLst/>
          </a:prstGeom>
          <a:noFill xmlns:a="http://schemas.openxmlformats.org/drawingml/2006/main"/>
          <a:ln xmlns:a="http://schemas.openxmlformats.org/drawingml/2006/main" w="57150">
            <a:solidFill>
              <a:srgbClr val="A8710A"/>
            </a:solidFill>
            <a:prstDash val="solid"/>
          </a:ln>
        </p:spPr>
      </p:sp>
      <p:sp>
        <p:nvSpPr>
          <p:cNvPr id="6" name="">
            <a:extLst xmlns:a="http://schemas.openxmlformats.org/drawingml/2006/main">
              <a:ext uri="{FF2B5EF4-FFF2-40B4-BE49-F238E27FC236}">
                <a16:creationId xmlns:a16="http://schemas.microsoft.com/office/drawing/2014/main" id="{1BD1D982-9C41-4348-9B35-91658125264D}"/>
              </a:ext>
            </a:extLst>
          </p:cNvPr>
          <p:cNvSpPr>
            <a:spLocks xmlns:a="http://schemas.openxmlformats.org/drawingml/2006/main" noGrp="1"/>
          </p:cNvSpPr>
          <p:nvPr/>
        </p:nvSpPr>
        <p:spPr>
          <a:xfrm xmlns:a="http://schemas.openxmlformats.org/drawingml/2006/main" flipV="1">
            <a:off x="1428750" y="2152650"/>
            <a:ext cx="3619500" cy="2705100"/>
          </a:xfrm>
          <a:prstGeom xmlns:a="http://schemas.openxmlformats.org/drawingml/2006/main" prst="line">
            <a:avLst/>
          </a:prstGeom>
          <a:noFill xmlns:a="http://schemas.openxmlformats.org/drawingml/2006/main"/>
          <a:ln xmlns:a="http://schemas.openxmlformats.org/drawingml/2006/main" w="47625">
            <a:solidFill>
              <a:srgbClr val="2C6A6C"/>
            </a:solidFill>
            <a:prstDash val="solid"/>
          </a:ln>
        </p:spPr>
      </p:sp>
      <p:sp>
        <p:nvSpPr>
          <p:cNvPr id="7" name="">
            <a:extLst xmlns:a="http://schemas.openxmlformats.org/drawingml/2006/main">
              <a:ext uri="{FF2B5EF4-FFF2-40B4-BE49-F238E27FC236}">
                <a16:creationId xmlns:a16="http://schemas.microsoft.com/office/drawing/2014/main" id="{EE307F78-1A9A-4C56-8200-D8EBD0629F3B}"/>
              </a:ext>
            </a:extLst>
          </p:cNvPr>
          <p:cNvSpPr>
            <a:spLocks xmlns:a="http://schemas.openxmlformats.org/drawingml/2006/main" noGrp="1"/>
          </p:cNvSpPr>
          <p:nvPr/>
        </p:nvSpPr>
        <p:spPr>
          <a:xfrm xmlns:a="http://schemas.openxmlformats.org/drawingml/2006/main" rot="0">
            <a:off x="5048250" y="2152650"/>
            <a:ext cx="0" cy="2705100"/>
          </a:xfrm>
          <a:prstGeom xmlns:a="http://schemas.openxmlformats.org/drawingml/2006/main" prst="line">
            <a:avLst/>
          </a:prstGeom>
          <a:noFill xmlns:a="http://schemas.openxmlformats.org/drawingml/2006/main"/>
          <a:ln xmlns:a="http://schemas.openxmlformats.org/drawingml/2006/main" w="38100">
            <a:solidFill>
              <a:srgbClr val="A64B3C"/>
            </a:solidFill>
            <a:prstDash val="dash"/>
          </a:ln>
        </p:spPr>
      </p:sp>
      <p:sp>
        <p:nvSpPr>
          <p:cNvPr id="8" name="">
            <a:extLst xmlns:a="http://schemas.openxmlformats.org/drawingml/2006/main">
              <a:ext uri="{FF2B5EF4-FFF2-40B4-BE49-F238E27FC236}">
                <a16:creationId xmlns:a16="http://schemas.microsoft.com/office/drawing/2014/main" id="{636A3F93-7A97-4234-BF11-F4D2074B3CFD}"/>
              </a:ext>
            </a:extLst>
          </p:cNvPr>
          <p:cNvSpPr>
            <a:spLocks xmlns:a="http://schemas.openxmlformats.org/drawingml/2006/main" noGrp="1"/>
          </p:cNvSpPr>
          <p:nvPr/>
        </p:nvSpPr>
        <p:spPr>
          <a:xfrm xmlns:a="http://schemas.openxmlformats.org/drawingml/2006/main" rot="0">
            <a:off x="4800600" y="4610100"/>
            <a:ext cx="247650" cy="0"/>
          </a:xfrm>
          <a:prstGeom xmlns:a="http://schemas.openxmlformats.org/drawingml/2006/main" prst="line">
            <a:avLst/>
          </a:prstGeom>
          <a:noFill xmlns:a="http://schemas.openxmlformats.org/drawingml/2006/main"/>
          <a:ln xmlns:a="http://schemas.openxmlformats.org/drawingml/2006/main" w="19050">
            <a:solidFill>
              <a:srgbClr val="252A31"/>
            </a:solidFill>
            <a:prstDash val="solid"/>
          </a:ln>
        </p:spPr>
      </p:sp>
      <p:sp>
        <p:nvSpPr>
          <p:cNvPr id="9" name="">
            <a:extLst xmlns:a="http://schemas.openxmlformats.org/drawingml/2006/main">
              <a:ext uri="{FF2B5EF4-FFF2-40B4-BE49-F238E27FC236}">
                <a16:creationId xmlns:a16="http://schemas.microsoft.com/office/drawing/2014/main" id="{52B91BB5-2CB1-47EE-AC89-0368C45846A8}"/>
              </a:ext>
            </a:extLst>
          </p:cNvPr>
          <p:cNvSpPr>
            <a:spLocks xmlns:a="http://schemas.openxmlformats.org/drawingml/2006/main" noGrp="1"/>
          </p:cNvSpPr>
          <p:nvPr/>
        </p:nvSpPr>
        <p:spPr>
          <a:xfrm xmlns:a="http://schemas.openxmlformats.org/drawingml/2006/main" rot="0">
            <a:off x="4800600" y="4610100"/>
            <a:ext cx="0" cy="247650"/>
          </a:xfrm>
          <a:prstGeom xmlns:a="http://schemas.openxmlformats.org/drawingml/2006/main" prst="line">
            <a:avLst/>
          </a:prstGeom>
          <a:noFill xmlns:a="http://schemas.openxmlformats.org/drawingml/2006/main"/>
          <a:ln xmlns:a="http://schemas.openxmlformats.org/drawingml/2006/main" w="19050">
            <a:solidFill>
              <a:srgbClr val="252A31"/>
            </a:solidFill>
            <a:prstDash val="solid"/>
          </a:ln>
        </p:spPr>
      </p:sp>
      <p:sp>
        <p:nvSpPr>
          <p:cNvPr id="10" name="">
            <a:extLst xmlns:a="http://schemas.openxmlformats.org/drawingml/2006/main">
              <a:ext uri="{FF2B5EF4-FFF2-40B4-BE49-F238E27FC236}">
                <a16:creationId xmlns:a16="http://schemas.microsoft.com/office/drawing/2014/main" id="{083BB2DE-4AA6-40BB-8394-067998566797}"/>
              </a:ext>
            </a:extLst>
          </p:cNvPr>
          <p:cNvSpPr>
            <a:spLocks xmlns:a="http://schemas.openxmlformats.org/drawingml/2006/main" noGrp="1"/>
          </p:cNvSpPr>
          <p:nvPr/>
        </p:nvSpPr>
        <p:spPr>
          <a:xfrm xmlns:a="http://schemas.openxmlformats.org/drawingml/2006/main" rot="0">
            <a:off x="1362075" y="4791075"/>
            <a:ext cx="133350" cy="133350"/>
          </a:xfrm>
          <a:prstGeom xmlns:a="http://schemas.openxmlformats.org/drawingml/2006/main" prst="ellipse">
            <a:avLst/>
          </a:prstGeom>
          <a:solidFill xmlns:a="http://schemas.openxmlformats.org/drawingml/2006/main">
            <a:srgbClr val="252A31"/>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8C36D0E-AE65-4C35-946A-101915E6249A}"/>
              </a:ext>
            </a:extLst>
          </p:cNvPr>
          <p:cNvSpPr>
            <a:spLocks xmlns:a="http://schemas.openxmlformats.org/drawingml/2006/main" noGrp="1"/>
          </p:cNvSpPr>
          <p:nvPr/>
        </p:nvSpPr>
        <p:spPr>
          <a:xfrm xmlns:a="http://schemas.openxmlformats.org/drawingml/2006/main" rot="0">
            <a:off x="4962525" y="4772025"/>
            <a:ext cx="171450" cy="171450"/>
          </a:xfrm>
          <a:prstGeom xmlns:a="http://schemas.openxmlformats.org/drawingml/2006/main" prst="ellipse">
            <a:avLst/>
          </a:prstGeom>
          <a:solidFill xmlns:a="http://schemas.openxmlformats.org/drawingml/2006/main">
            <a:srgbClr val="A8710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6F5CC7E-0EB8-4D1B-AE56-746E8FBB69F3}"/>
              </a:ext>
            </a:extLst>
          </p:cNvPr>
          <p:cNvSpPr>
            <a:spLocks xmlns:a="http://schemas.openxmlformats.org/drawingml/2006/main" noGrp="1"/>
          </p:cNvSpPr>
          <p:nvPr/>
        </p:nvSpPr>
        <p:spPr>
          <a:xfrm xmlns:a="http://schemas.openxmlformats.org/drawingml/2006/main" rot="0">
            <a:off x="4962525" y="2066925"/>
            <a:ext cx="171450" cy="171450"/>
          </a:xfrm>
          <a:prstGeom xmlns:a="http://schemas.openxmlformats.org/drawingml/2006/main" prst="ellipse">
            <a:avLst/>
          </a:prstGeom>
          <a:solidFill xmlns:a="http://schemas.openxmlformats.org/drawingml/2006/main">
            <a:srgbClr val="2C6A6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969EE4-65E3-4C3E-9E6F-827645953AE7}"/>
              </a:ext>
            </a:extLst>
          </p:cNvPr>
          <p:cNvSpPr>
            <a:spLocks xmlns:a="http://schemas.openxmlformats.org/drawingml/2006/main" noGrp="1"/>
          </p:cNvSpPr>
          <p:nvPr/>
        </p:nvSpPr>
        <p:spPr>
          <a:xfrm xmlns:a="http://schemas.openxmlformats.org/drawingml/2006/main" rot="0">
            <a:off x="1200150" y="5010150"/>
            <a:ext cx="457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500" b="0" i="0">
                <a:solidFill>
                  <a:srgbClr val="252A31"/>
                </a:solidFill>
                <a:latin typeface="Cambria Math"/>
                <a:ea typeface="Cambria Math"/>
                <a:cs typeface="Cambria Math"/>
              </a:defRPr>
            </a:pPr>
            <a:r>
              <a:rPr sz="1500" b="0" i="0">
                <a:solidFill>
                  <a:srgbClr val="252A31"/>
                </a:solidFill>
                <a:latin typeface="Cambria Math"/>
                <a:ea typeface="Cambria Math"/>
                <a:cs typeface="Cambria Math"/>
              </a:rPr>
              <a:t>0</a:t>
            </a:r>
          </a:p>
        </p:txBody>
      </p:sp>
      <p:sp>
        <p:nvSpPr>
          <p:cNvPr id="14" name="">
            <a:extLst xmlns:a="http://schemas.openxmlformats.org/drawingml/2006/main">
              <a:ext uri="{FF2B5EF4-FFF2-40B4-BE49-F238E27FC236}">
                <a16:creationId xmlns:a16="http://schemas.microsoft.com/office/drawing/2014/main" id="{A7A2DB0E-58BA-4DCC-85BC-E36233B31306}"/>
              </a:ext>
            </a:extLst>
          </p:cNvPr>
          <p:cNvSpPr>
            <a:spLocks xmlns:a="http://schemas.openxmlformats.org/drawingml/2006/main" noGrp="1"/>
          </p:cNvSpPr>
          <p:nvPr/>
        </p:nvSpPr>
        <p:spPr>
          <a:xfrm xmlns:a="http://schemas.openxmlformats.org/drawingml/2006/main" rot="0">
            <a:off x="5314950" y="5019675"/>
            <a:ext cx="114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725" b="1" i="0">
                <a:solidFill>
                  <a:srgbClr val="68717D"/>
                </a:solidFill>
                <a:latin typeface="Cambria Math"/>
                <a:ea typeface="Cambria Math"/>
                <a:cs typeface="Cambria Math"/>
              </a:defRPr>
            </a:pPr>
            <a:r>
              <a:rPr sz="1725" b="1" i="0">
                <a:solidFill>
                  <a:srgbClr val="68717D"/>
                </a:solidFill>
                <a:latin typeface="Cambria Math"/>
                <a:ea typeface="Cambria Math"/>
                <a:cs typeface="Cambria Math"/>
              </a:rPr>
              <a:t>Col(X)</a:t>
            </a:r>
          </a:p>
        </p:txBody>
      </p:sp>
      <p:sp>
        <p:nvSpPr>
          <p:cNvPr id="15" name="">
            <a:extLst xmlns:a="http://schemas.openxmlformats.org/drawingml/2006/main">
              <a:ext uri="{FF2B5EF4-FFF2-40B4-BE49-F238E27FC236}">
                <a16:creationId xmlns:a16="http://schemas.microsoft.com/office/drawing/2014/main" id="{67336099-4422-4C06-A2D2-E0FEF2ADBE6D}"/>
              </a:ext>
            </a:extLst>
          </p:cNvPr>
          <p:cNvSpPr>
            <a:spLocks xmlns:a="http://schemas.openxmlformats.org/drawingml/2006/main" noGrp="1"/>
          </p:cNvSpPr>
          <p:nvPr/>
        </p:nvSpPr>
        <p:spPr>
          <a:xfrm xmlns:a="http://schemas.openxmlformats.org/drawingml/2006/main" rot="0">
            <a:off x="5219700" y="1962150"/>
            <a:ext cx="514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C6A6C"/>
                </a:solidFill>
                <a:latin typeface="Cambria Math"/>
                <a:ea typeface="Cambria Math"/>
                <a:cs typeface="Cambria Math"/>
              </a:defRPr>
            </a:pPr>
            <a:r>
              <a:rPr sz="2175" b="1" i="0">
                <a:solidFill>
                  <a:srgbClr val="2C6A6C"/>
                </a:solidFill>
                <a:latin typeface="Cambria Math"/>
                <a:ea typeface="Cambria Math"/>
                <a:cs typeface="Cambria Math"/>
              </a:rPr>
              <a:t>Y</a:t>
            </a:r>
          </a:p>
        </p:txBody>
      </p:sp>
      <p:sp>
        <p:nvSpPr>
          <p:cNvPr id="16" name="">
            <a:extLst xmlns:a="http://schemas.openxmlformats.org/drawingml/2006/main">
              <a:ext uri="{FF2B5EF4-FFF2-40B4-BE49-F238E27FC236}">
                <a16:creationId xmlns:a16="http://schemas.microsoft.com/office/drawing/2014/main" id="{07D6E885-15D7-43A8-B673-E9C2048E0D85}"/>
              </a:ext>
            </a:extLst>
          </p:cNvPr>
          <p:cNvSpPr>
            <a:spLocks xmlns:a="http://schemas.openxmlformats.org/drawingml/2006/main" noGrp="1"/>
          </p:cNvSpPr>
          <p:nvPr/>
        </p:nvSpPr>
        <p:spPr>
          <a:xfrm xmlns:a="http://schemas.openxmlformats.org/drawingml/2006/main" rot="0">
            <a:off x="3276600" y="5048250"/>
            <a:ext cx="171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A8710A"/>
                </a:solidFill>
                <a:latin typeface="Cambria Math"/>
                <a:ea typeface="Cambria Math"/>
                <a:cs typeface="Cambria Math"/>
              </a:defRPr>
            </a:pPr>
            <a:r>
              <a:rPr sz="1875" b="1" i="0">
                <a:solidFill>
                  <a:srgbClr val="A8710A"/>
                </a:solidFill>
                <a:latin typeface="Cambria Math"/>
                <a:ea typeface="Cambria Math"/>
                <a:cs typeface="Cambria Math"/>
              </a:rPr>
              <a:t>Ŷ = Xβ̂</a:t>
            </a:r>
          </a:p>
        </p:txBody>
      </p:sp>
      <p:sp>
        <p:nvSpPr>
          <p:cNvPr id="17" name="">
            <a:extLst xmlns:a="http://schemas.openxmlformats.org/drawingml/2006/main">
              <a:ext uri="{FF2B5EF4-FFF2-40B4-BE49-F238E27FC236}">
                <a16:creationId xmlns:a16="http://schemas.microsoft.com/office/drawing/2014/main" id="{B1755A70-CC32-43BA-AD9B-1E1061A3CBDB}"/>
              </a:ext>
            </a:extLst>
          </p:cNvPr>
          <p:cNvSpPr>
            <a:spLocks xmlns:a="http://schemas.openxmlformats.org/drawingml/2006/main" noGrp="1"/>
          </p:cNvSpPr>
          <p:nvPr/>
        </p:nvSpPr>
        <p:spPr>
          <a:xfrm xmlns:a="http://schemas.openxmlformats.org/drawingml/2006/main" rot="0">
            <a:off x="5257800" y="3209925"/>
            <a:ext cx="158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725" b="1" i="0">
                <a:solidFill>
                  <a:srgbClr val="A64B3C"/>
                </a:solidFill>
                <a:latin typeface="Cambria Math"/>
                <a:ea typeface="Cambria Math"/>
                <a:cs typeface="Cambria Math"/>
              </a:defRPr>
            </a:pPr>
            <a:r>
              <a:rPr sz="1725" b="1" i="0">
                <a:solidFill>
                  <a:srgbClr val="A64B3C"/>
                </a:solidFill>
                <a:latin typeface="Cambria Math"/>
                <a:ea typeface="Cambria Math"/>
                <a:cs typeface="Cambria Math"/>
              </a:rPr>
              <a:t>e = Y − Xβ̂</a:t>
            </a:r>
          </a:p>
        </p:txBody>
      </p:sp>
      <p:sp>
        <p:nvSpPr>
          <p:cNvPr id="18" name="">
            <a:extLst xmlns:a="http://schemas.openxmlformats.org/drawingml/2006/main">
              <a:ext uri="{FF2B5EF4-FFF2-40B4-BE49-F238E27FC236}">
                <a16:creationId xmlns:a16="http://schemas.microsoft.com/office/drawing/2014/main" id="{6AA91494-E50B-4F4A-89D3-75D35EA0AB30}"/>
              </a:ext>
            </a:extLst>
          </p:cNvPr>
          <p:cNvSpPr>
            <a:spLocks xmlns:a="http://schemas.openxmlformats.org/drawingml/2006/main" noGrp="1"/>
          </p:cNvSpPr>
          <p:nvPr/>
        </p:nvSpPr>
        <p:spPr>
          <a:xfrm xmlns:a="http://schemas.openxmlformats.org/drawingml/2006/main" rot="0">
            <a:off x="1047750" y="5505450"/>
            <a:ext cx="5391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275" b="0" i="1">
                <a:solidFill>
                  <a:srgbClr val="68717D"/>
                </a:solidFill>
                <a:latin typeface="Arial"/>
                <a:ea typeface="Arial"/>
                <a:cs typeface="Arial"/>
              </a:defRPr>
            </a:pPr>
            <a:r>
              <a:rPr sz="1275" b="0" i="1">
                <a:solidFill>
                  <a:srgbClr val="68717D"/>
                </a:solidFill>
                <a:latin typeface="Arial"/>
                <a:ea typeface="Arial"/>
                <a:cs typeface="Arial"/>
              </a:rPr>
              <a:t>schematic view in observation space ℝⁿ</a:t>
            </a:r>
          </a:p>
        </p:txBody>
      </p:sp>
      <p:sp>
        <p:nvSpPr>
          <p:cNvPr id="19" name="">
            <a:extLst xmlns:a="http://schemas.openxmlformats.org/drawingml/2006/main">
              <a:ext uri="{FF2B5EF4-FFF2-40B4-BE49-F238E27FC236}">
                <a16:creationId xmlns:a16="http://schemas.microsoft.com/office/drawing/2014/main" id="{2875805D-08A7-4CC5-A0A1-F483D342AEE8}"/>
              </a:ext>
            </a:extLst>
          </p:cNvPr>
          <p:cNvSpPr>
            <a:spLocks xmlns:a="http://schemas.openxmlformats.org/drawingml/2006/main" noGrp="1"/>
          </p:cNvSpPr>
          <p:nvPr/>
        </p:nvSpPr>
        <p:spPr>
          <a:xfrm xmlns:a="http://schemas.openxmlformats.org/drawingml/2006/main" rot="0">
            <a:off x="6858000" y="1657350"/>
            <a:ext cx="19050" cy="40386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478CA4D-53EC-44A7-BBC7-FE841FB441FC}"/>
              </a:ext>
            </a:extLst>
          </p:cNvPr>
          <p:cNvSpPr>
            <a:spLocks xmlns:a="http://schemas.openxmlformats.org/drawingml/2006/main" noGrp="1"/>
          </p:cNvSpPr>
          <p:nvPr/>
        </p:nvSpPr>
        <p:spPr>
          <a:xfrm xmlns:a="http://schemas.openxmlformats.org/drawingml/2006/main" rot="0">
            <a:off x="7296150" y="167640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CLOSEST FITTED VECTOR</a:t>
            </a:r>
          </a:p>
        </p:txBody>
      </p:sp>
      <p:sp>
        <p:nvSpPr>
          <p:cNvPr id="21" name="">
            <a:extLst xmlns:a="http://schemas.openxmlformats.org/drawingml/2006/main">
              <a:ext uri="{FF2B5EF4-FFF2-40B4-BE49-F238E27FC236}">
                <a16:creationId xmlns:a16="http://schemas.microsoft.com/office/drawing/2014/main" id="{019E997D-E23E-436B-93D4-E13289CBFC48}"/>
              </a:ext>
            </a:extLst>
          </p:cNvPr>
          <p:cNvSpPr>
            <a:spLocks xmlns:a="http://schemas.openxmlformats.org/drawingml/2006/main" noGrp="1"/>
          </p:cNvSpPr>
          <p:nvPr/>
        </p:nvSpPr>
        <p:spPr>
          <a:xfrm xmlns:a="http://schemas.openxmlformats.org/drawingml/2006/main" rot="0">
            <a:off x="7219950" y="2019300"/>
            <a:ext cx="4095750" cy="552450"/>
          </a:xfrm>
          <a:prstGeom xmlns:a="http://schemas.openxmlformats.org/drawingml/2006/main" prst="roundRect">
            <a:avLst>
              <a:gd name="adj" fmla="val 1724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325" b="0" i="0">
                <a:solidFill>
                  <a:srgbClr val="252A31"/>
                </a:solidFill>
                <a:latin typeface="Cambria Math"/>
                <a:ea typeface="Cambria Math"/>
                <a:cs typeface="Cambria Math"/>
              </a:defRPr>
            </a:pPr>
            <a:r>
              <a:rPr sz="2325" b="0" i="0">
                <a:solidFill>
                  <a:srgbClr val="252A31"/>
                </a:solidFill>
                <a:latin typeface="Cambria Math"/>
                <a:ea typeface="Cambria Math"/>
                <a:cs typeface="Cambria Math"/>
              </a:rPr>
              <a:t>Ŷ = Xβ̂ ∈ Col(X)</a:t>
            </a:r>
          </a:p>
        </p:txBody>
      </p:sp>
      <p:sp>
        <p:nvSpPr>
          <p:cNvPr id="22" name="">
            <a:extLst xmlns:a="http://schemas.openxmlformats.org/drawingml/2006/main">
              <a:ext uri="{FF2B5EF4-FFF2-40B4-BE49-F238E27FC236}">
                <a16:creationId xmlns:a16="http://schemas.microsoft.com/office/drawing/2014/main" id="{2774A51A-20B4-4E3E-84CA-C466F081C709}"/>
              </a:ext>
            </a:extLst>
          </p:cNvPr>
          <p:cNvSpPr>
            <a:spLocks xmlns:a="http://schemas.openxmlformats.org/drawingml/2006/main" noGrp="1"/>
          </p:cNvSpPr>
          <p:nvPr/>
        </p:nvSpPr>
        <p:spPr>
          <a:xfrm xmlns:a="http://schemas.openxmlformats.org/drawingml/2006/main" rot="0">
            <a:off x="7296150" y="28765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ORTHOGONAL RESIDUAL</a:t>
            </a:r>
          </a:p>
        </p:txBody>
      </p:sp>
      <p:sp>
        <p:nvSpPr>
          <p:cNvPr id="23" name="">
            <a:extLst xmlns:a="http://schemas.openxmlformats.org/drawingml/2006/main">
              <a:ext uri="{FF2B5EF4-FFF2-40B4-BE49-F238E27FC236}">
                <a16:creationId xmlns:a16="http://schemas.microsoft.com/office/drawing/2014/main" id="{C86BF7C6-7109-4129-91BF-594C26832E33}"/>
              </a:ext>
            </a:extLst>
          </p:cNvPr>
          <p:cNvSpPr>
            <a:spLocks xmlns:a="http://schemas.openxmlformats.org/drawingml/2006/main" noGrp="1"/>
          </p:cNvSpPr>
          <p:nvPr/>
        </p:nvSpPr>
        <p:spPr>
          <a:xfrm xmlns:a="http://schemas.openxmlformats.org/drawingml/2006/main" rot="0">
            <a:off x="7219950" y="3219450"/>
            <a:ext cx="4095750" cy="552450"/>
          </a:xfrm>
          <a:prstGeom xmlns:a="http://schemas.openxmlformats.org/drawingml/2006/main" prst="roundRect">
            <a:avLst>
              <a:gd name="adj" fmla="val 1724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325" b="0" i="0">
                <a:solidFill>
                  <a:srgbClr val="252A31"/>
                </a:solidFill>
                <a:latin typeface="Cambria Math"/>
                <a:ea typeface="Cambria Math"/>
                <a:cs typeface="Cambria Math"/>
              </a:defRPr>
            </a:pPr>
            <a:r>
              <a:rPr sz="2325" b="0" i="0">
                <a:solidFill>
                  <a:srgbClr val="252A31"/>
                </a:solidFill>
                <a:latin typeface="Cambria Math"/>
                <a:ea typeface="Cambria Math"/>
                <a:cs typeface="Cambria Math"/>
              </a:rPr>
              <a:t>Xᵀ(Y − Xβ̂) = 0</a:t>
            </a:r>
          </a:p>
        </p:txBody>
      </p:sp>
      <p:sp>
        <p:nvSpPr>
          <p:cNvPr id="24" name="">
            <a:extLst xmlns:a="http://schemas.openxmlformats.org/drawingml/2006/main">
              <a:ext uri="{FF2B5EF4-FFF2-40B4-BE49-F238E27FC236}">
                <a16:creationId xmlns:a16="http://schemas.microsoft.com/office/drawing/2014/main" id="{AA94D129-FBCD-473D-97A8-801197907418}"/>
              </a:ext>
            </a:extLst>
          </p:cNvPr>
          <p:cNvSpPr>
            <a:spLocks xmlns:a="http://schemas.openxmlformats.org/drawingml/2006/main" noGrp="1"/>
          </p:cNvSpPr>
          <p:nvPr/>
        </p:nvSpPr>
        <p:spPr>
          <a:xfrm xmlns:a="http://schemas.openxmlformats.org/drawingml/2006/main" rot="0">
            <a:off x="7219950" y="4000500"/>
            <a:ext cx="409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XᵀXβ̂ = XᵀY</a:t>
            </a:r>
          </a:p>
        </p:txBody>
      </p:sp>
      <p:sp>
        <p:nvSpPr>
          <p:cNvPr id="25" name="">
            <a:extLst xmlns:a="http://schemas.openxmlformats.org/drawingml/2006/main">
              <a:ext uri="{FF2B5EF4-FFF2-40B4-BE49-F238E27FC236}">
                <a16:creationId xmlns:a16="http://schemas.microsoft.com/office/drawing/2014/main" id="{1CBB8AA6-30B9-4E3D-ACBA-12EAF652C1A2}"/>
              </a:ext>
            </a:extLst>
          </p:cNvPr>
          <p:cNvSpPr>
            <a:spLocks xmlns:a="http://schemas.openxmlformats.org/drawingml/2006/main" noGrp="1"/>
          </p:cNvSpPr>
          <p:nvPr/>
        </p:nvSpPr>
        <p:spPr>
          <a:xfrm xmlns:a="http://schemas.openxmlformats.org/drawingml/2006/main" rot="0">
            <a:off x="7219950" y="4762500"/>
            <a:ext cx="4095750" cy="685800"/>
          </a:xfrm>
          <a:prstGeom xmlns:a="http://schemas.openxmlformats.org/drawingml/2006/main" prst="roundRect">
            <a:avLst>
              <a:gd name="adj" fmla="val 13889"/>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1" i="0">
                <a:solidFill>
                  <a:srgbClr val="A8710A"/>
                </a:solidFill>
                <a:latin typeface="Cambria Math"/>
                <a:ea typeface="Cambria Math"/>
                <a:cs typeface="Cambria Math"/>
              </a:defRPr>
            </a:pPr>
            <a:r>
              <a:rPr sz="2475" b="1" i="0">
                <a:solidFill>
                  <a:srgbClr val="A8710A"/>
                </a:solidFill>
                <a:latin typeface="Cambria Math"/>
                <a:ea typeface="Cambria Math"/>
                <a:cs typeface="Cambria Math"/>
              </a:rPr>
              <a:t>β̂ = (XᵀX)⁻¹XᵀY</a:t>
            </a:r>
          </a:p>
        </p:txBody>
      </p:sp>
      <p:sp>
        <p:nvSpPr>
          <p:cNvPr id="26" name="">
            <a:extLst xmlns:a="http://schemas.openxmlformats.org/drawingml/2006/main">
              <a:ext uri="{FF2B5EF4-FFF2-40B4-BE49-F238E27FC236}">
                <a16:creationId xmlns:a16="http://schemas.microsoft.com/office/drawing/2014/main" id="{562E2176-E39C-4382-82C7-D493891E9ADE}"/>
              </a:ext>
            </a:extLst>
          </p:cNvPr>
          <p:cNvSpPr>
            <a:spLocks xmlns:a="http://schemas.openxmlformats.org/drawingml/2006/main" noGrp="1"/>
          </p:cNvSpPr>
          <p:nvPr/>
        </p:nvSpPr>
        <p:spPr>
          <a:xfrm xmlns:a="http://schemas.openxmlformats.org/drawingml/2006/main" rot="0">
            <a:off x="7105650" y="5715000"/>
            <a:ext cx="443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575" b="1" i="0">
                <a:solidFill>
                  <a:srgbClr val="252A31"/>
                </a:solidFill>
                <a:latin typeface="Arial"/>
                <a:ea typeface="Arial"/>
                <a:cs typeface="Arial"/>
              </a:defRPr>
            </a:pPr>
            <a:r>
              <a:rPr sz="1575" b="1" i="0">
                <a:solidFill>
                  <a:srgbClr val="252A31"/>
                </a:solidFill>
                <a:latin typeface="Arial"/>
                <a:ea typeface="Arial"/>
                <a:cs typeface="Arial"/>
              </a:rPr>
              <a:t>β̂ gives the coordinates of the projection in the columns of X.</a:t>
            </a:r>
          </a:p>
        </p:txBody>
      </p:sp>
    </p:spTree>
    <p:extLst>
      <p:ext uri="{BB962C8B-B14F-4D97-AF65-F5344CB8AC3E}">
        <p14:creationId xmlns:p14="http://schemas.microsoft.com/office/powerpoint/2010/main" val="712791114"/>
      </p:ext>
    </p:extLst>
  </p:cSld>
</p:sld>
</file>

<file path=ppt/slides/slide1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E47279-3354-40E0-BAD4-9D691D405934}"/>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485215AC-A11E-4D2F-9EF2-06CBDB9D4C97}"/>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normal equations</a:t>
            </a:r>
          </a:p>
        </p:txBody>
      </p:sp>
      <p:sp>
        <p:nvSpPr>
          <p:cNvPr id="3" name="">
            <a:extLst xmlns:a="http://schemas.openxmlformats.org/drawingml/2006/main">
              <a:ext uri="{FF2B5EF4-FFF2-40B4-BE49-F238E27FC236}">
                <a16:creationId xmlns:a16="http://schemas.microsoft.com/office/drawing/2014/main" id="{6D7D8564-94A6-49AF-B522-7E8D22BB2EF9}"/>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D8AA091F-63B7-465C-8D5A-64C6619F595D}"/>
              </a:ext>
            </a:extLst>
          </p:cNvPr>
          <p:cNvSpPr>
            <a:spLocks xmlns:a="http://schemas.openxmlformats.org/drawingml/2006/main" noGrp="1"/>
          </p:cNvSpPr>
          <p:nvPr/>
        </p:nvSpPr>
        <p:spPr>
          <a:xfrm xmlns:a="http://schemas.openxmlformats.org/drawingml/2006/main" rot="0">
            <a:off x="1028700" y="1657350"/>
            <a:ext cx="1013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φ(B) = (Y − XB)ᵀ(Y − XB)</a:t>
            </a:r>
          </a:p>
        </p:txBody>
      </p:sp>
      <p:sp>
        <p:nvSpPr>
          <p:cNvPr id="5" name="">
            <a:extLst xmlns:a="http://schemas.openxmlformats.org/drawingml/2006/main">
              <a:ext uri="{FF2B5EF4-FFF2-40B4-BE49-F238E27FC236}">
                <a16:creationId xmlns:a16="http://schemas.microsoft.com/office/drawing/2014/main" id="{7D160754-CFB0-403A-BA00-F8BA9FCD79A9}"/>
              </a:ext>
            </a:extLst>
          </p:cNvPr>
          <p:cNvSpPr>
            <a:spLocks xmlns:a="http://schemas.openxmlformats.org/drawingml/2006/main" noGrp="1"/>
          </p:cNvSpPr>
          <p:nvPr/>
        </p:nvSpPr>
        <p:spPr>
          <a:xfrm xmlns:a="http://schemas.openxmlformats.org/drawingml/2006/main" rot="0">
            <a:off x="1028700" y="2324100"/>
            <a:ext cx="1013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 YᵀY − 2BᵀXᵀY + BᵀXᵀXB</a:t>
            </a:r>
          </a:p>
        </p:txBody>
      </p:sp>
      <p:sp>
        <p:nvSpPr>
          <p:cNvPr id="6" name="">
            <a:extLst xmlns:a="http://schemas.openxmlformats.org/drawingml/2006/main">
              <a:ext uri="{FF2B5EF4-FFF2-40B4-BE49-F238E27FC236}">
                <a16:creationId xmlns:a16="http://schemas.microsoft.com/office/drawing/2014/main" id="{73968DD1-A287-42D8-89AA-970FF3EE5BFA}"/>
              </a:ext>
            </a:extLst>
          </p:cNvPr>
          <p:cNvSpPr>
            <a:spLocks xmlns:a="http://schemas.openxmlformats.org/drawingml/2006/main" noGrp="1"/>
          </p:cNvSpPr>
          <p:nvPr/>
        </p:nvSpPr>
        <p:spPr>
          <a:xfrm xmlns:a="http://schemas.openxmlformats.org/drawingml/2006/main" rot="0">
            <a:off x="1028700" y="3152775"/>
            <a:ext cx="10134600" cy="609600"/>
          </a:xfrm>
          <a:prstGeom xmlns:a="http://schemas.openxmlformats.org/drawingml/2006/main" prst="roundRect">
            <a:avLst>
              <a:gd name="adj" fmla="val 15625"/>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∇φ(B) = −2XᵀY + 2XᵀXB</a:t>
            </a:r>
          </a:p>
        </p:txBody>
      </p:sp>
      <p:sp>
        <p:nvSpPr>
          <p:cNvPr id="7" name="">
            <a:extLst xmlns:a="http://schemas.openxmlformats.org/drawingml/2006/main">
              <a:ext uri="{FF2B5EF4-FFF2-40B4-BE49-F238E27FC236}">
                <a16:creationId xmlns:a16="http://schemas.microsoft.com/office/drawing/2014/main" id="{C25EC2D9-B3A6-4828-BB99-3762DDAE80E1}"/>
              </a:ext>
            </a:extLst>
          </p:cNvPr>
          <p:cNvSpPr>
            <a:spLocks xmlns:a="http://schemas.openxmlformats.org/drawingml/2006/main" noGrp="1"/>
          </p:cNvSpPr>
          <p:nvPr/>
        </p:nvSpPr>
        <p:spPr>
          <a:xfrm xmlns:a="http://schemas.openxmlformats.org/drawingml/2006/main" rot="0">
            <a:off x="1028700" y="414337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At a minimum</a:t>
            </a:r>
          </a:p>
        </p:txBody>
      </p:sp>
      <p:sp>
        <p:nvSpPr>
          <p:cNvPr id="8" name="">
            <a:extLst xmlns:a="http://schemas.openxmlformats.org/drawingml/2006/main">
              <a:ext uri="{FF2B5EF4-FFF2-40B4-BE49-F238E27FC236}">
                <a16:creationId xmlns:a16="http://schemas.microsoft.com/office/drawing/2014/main" id="{553C528B-A894-4AD7-9D50-43708C7E0273}"/>
              </a:ext>
            </a:extLst>
          </p:cNvPr>
          <p:cNvSpPr>
            <a:spLocks xmlns:a="http://schemas.openxmlformats.org/drawingml/2006/main" noGrp="1"/>
          </p:cNvSpPr>
          <p:nvPr/>
        </p:nvSpPr>
        <p:spPr>
          <a:xfrm xmlns:a="http://schemas.openxmlformats.org/drawingml/2006/main" rot="0">
            <a:off x="3095625" y="4019550"/>
            <a:ext cx="400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XᵀXB = XᵀY</a:t>
            </a:r>
          </a:p>
        </p:txBody>
      </p:sp>
      <p:sp>
        <p:nvSpPr>
          <p:cNvPr id="9" name="">
            <a:extLst xmlns:a="http://schemas.openxmlformats.org/drawingml/2006/main">
              <a:ext uri="{FF2B5EF4-FFF2-40B4-BE49-F238E27FC236}">
                <a16:creationId xmlns:a16="http://schemas.microsoft.com/office/drawing/2014/main" id="{0CA63160-549D-4FC2-A435-F134A61F88A9}"/>
              </a:ext>
            </a:extLst>
          </p:cNvPr>
          <p:cNvSpPr>
            <a:spLocks xmlns:a="http://schemas.openxmlformats.org/drawingml/2006/main" noGrp="1"/>
          </p:cNvSpPr>
          <p:nvPr/>
        </p:nvSpPr>
        <p:spPr>
          <a:xfrm xmlns:a="http://schemas.openxmlformats.org/drawingml/2006/main" rot="0">
            <a:off x="1028700" y="4933950"/>
            <a:ext cx="314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If X has full column rank</a:t>
            </a:r>
          </a:p>
        </p:txBody>
      </p:sp>
      <p:sp>
        <p:nvSpPr>
          <p:cNvPr id="10" name="">
            <a:extLst xmlns:a="http://schemas.openxmlformats.org/drawingml/2006/main">
              <a:ext uri="{FF2B5EF4-FFF2-40B4-BE49-F238E27FC236}">
                <a16:creationId xmlns:a16="http://schemas.microsoft.com/office/drawing/2014/main" id="{A1EE0B84-4340-4B09-8736-6B0EF800BB76}"/>
              </a:ext>
            </a:extLst>
          </p:cNvPr>
          <p:cNvSpPr>
            <a:spLocks xmlns:a="http://schemas.openxmlformats.org/drawingml/2006/main" noGrp="1"/>
          </p:cNvSpPr>
          <p:nvPr/>
        </p:nvSpPr>
        <p:spPr>
          <a:xfrm xmlns:a="http://schemas.openxmlformats.org/drawingml/2006/main" rot="0">
            <a:off x="4000500" y="4762500"/>
            <a:ext cx="5810250" cy="742950"/>
          </a:xfrm>
          <a:prstGeom xmlns:a="http://schemas.openxmlformats.org/drawingml/2006/main" prst="roundRect">
            <a:avLst>
              <a:gd name="adj" fmla="val 1282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β̂ = (XᵀX)⁻¹XᵀY</a:t>
            </a:r>
          </a:p>
        </p:txBody>
      </p:sp>
    </p:spTree>
    <p:extLst>
      <p:ext uri="{BB962C8B-B14F-4D97-AF65-F5344CB8AC3E}">
        <p14:creationId xmlns:p14="http://schemas.microsoft.com/office/powerpoint/2010/main" val="1379746908"/>
      </p:ext>
    </p:extLst>
  </p:cSld>
</p:sld>
</file>

<file path=ppt/slides/slide14.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DAE7F83-C0E2-4CC7-8BAB-F240789FD9D0}"/>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F97B1FEC-3D3D-43F0-8927-CEC3CBD55298}"/>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Full column rank and invertibility</a:t>
            </a:r>
          </a:p>
        </p:txBody>
      </p:sp>
      <p:sp>
        <p:nvSpPr>
          <p:cNvPr id="3" name="">
            <a:extLst xmlns:a="http://schemas.openxmlformats.org/drawingml/2006/main">
              <a:ext uri="{FF2B5EF4-FFF2-40B4-BE49-F238E27FC236}">
                <a16:creationId xmlns:a16="http://schemas.microsoft.com/office/drawing/2014/main" id="{39001B3E-F2AA-4CCA-80D0-1F054B93C10B}"/>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C1003408-69E4-4D70-B8A9-6F96EF3A3BD0}"/>
              </a:ext>
            </a:extLst>
          </p:cNvPr>
          <p:cNvSpPr>
            <a:spLocks xmlns:a="http://schemas.openxmlformats.org/drawingml/2006/main" noGrp="1"/>
          </p:cNvSpPr>
          <p:nvPr/>
        </p:nvSpPr>
        <p:spPr>
          <a:xfrm xmlns:a="http://schemas.openxmlformats.org/drawingml/2006/main" rot="0">
            <a:off x="1143000" y="1695450"/>
            <a:ext cx="9906000" cy="742950"/>
          </a:xfrm>
          <a:prstGeom xmlns:a="http://schemas.openxmlformats.org/drawingml/2006/main" prst="roundRect">
            <a:avLst>
              <a:gd name="adj" fmla="val 1282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vᵀXᵀXv = (Xv)ᵀ(Xv) = ‖Xv‖² ≥ 0</a:t>
            </a:r>
          </a:p>
        </p:txBody>
      </p:sp>
      <p:sp>
        <p:nvSpPr>
          <p:cNvPr id="5" name="">
            <a:extLst xmlns:a="http://schemas.openxmlformats.org/drawingml/2006/main">
              <a:ext uri="{FF2B5EF4-FFF2-40B4-BE49-F238E27FC236}">
                <a16:creationId xmlns:a16="http://schemas.microsoft.com/office/drawing/2014/main" id="{41871F8B-56D8-45D6-B5EE-9ADAD70A0FF4}"/>
              </a:ext>
            </a:extLst>
          </p:cNvPr>
          <p:cNvSpPr>
            <a:spLocks xmlns:a="http://schemas.openxmlformats.org/drawingml/2006/main" noGrp="1"/>
          </p:cNvSpPr>
          <p:nvPr/>
        </p:nvSpPr>
        <p:spPr>
          <a:xfrm xmlns:a="http://schemas.openxmlformats.org/drawingml/2006/main" rot="0">
            <a:off x="1143000" y="26860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This proves that XᵀX is positive semidefinite.</a:t>
            </a:r>
          </a:p>
        </p:txBody>
      </p:sp>
      <p:sp>
        <p:nvSpPr>
          <p:cNvPr id="6" name="">
            <a:extLst xmlns:a="http://schemas.openxmlformats.org/drawingml/2006/main">
              <a:ext uri="{FF2B5EF4-FFF2-40B4-BE49-F238E27FC236}">
                <a16:creationId xmlns:a16="http://schemas.microsoft.com/office/drawing/2014/main" id="{F6923B1C-3894-4169-B6D8-82A6A4BE05E2}"/>
              </a:ext>
            </a:extLst>
          </p:cNvPr>
          <p:cNvSpPr>
            <a:spLocks xmlns:a="http://schemas.openxmlformats.org/drawingml/2006/main" noGrp="1"/>
          </p:cNvSpPr>
          <p:nvPr/>
        </p:nvSpPr>
        <p:spPr>
          <a:xfrm xmlns:a="http://schemas.openxmlformats.org/drawingml/2006/main" rot="0">
            <a:off x="1314450" y="3448050"/>
            <a:ext cx="409575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AA6AB2B-5D31-47BF-B85B-C8F0016CEDCF}"/>
              </a:ext>
            </a:extLst>
          </p:cNvPr>
          <p:cNvSpPr>
            <a:spLocks xmlns:a="http://schemas.openxmlformats.org/drawingml/2006/main" noGrp="1"/>
          </p:cNvSpPr>
          <p:nvPr/>
        </p:nvSpPr>
        <p:spPr>
          <a:xfrm xmlns:a="http://schemas.openxmlformats.org/drawingml/2006/main" rot="0">
            <a:off x="6762750" y="3448050"/>
            <a:ext cx="4095750" cy="1905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3EAF8AF-8534-4AD6-9107-53CF4131D534}"/>
              </a:ext>
            </a:extLst>
          </p:cNvPr>
          <p:cNvSpPr>
            <a:spLocks xmlns:a="http://schemas.openxmlformats.org/drawingml/2006/main" noGrp="1"/>
          </p:cNvSpPr>
          <p:nvPr/>
        </p:nvSpPr>
        <p:spPr>
          <a:xfrm xmlns:a="http://schemas.openxmlformats.org/drawingml/2006/main" rot="0">
            <a:off x="1314450" y="3714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FULL COLUMN RANK</a:t>
            </a:r>
          </a:p>
        </p:txBody>
      </p:sp>
      <p:sp>
        <p:nvSpPr>
          <p:cNvPr id="9" name="">
            <a:extLst xmlns:a="http://schemas.openxmlformats.org/drawingml/2006/main">
              <a:ext uri="{FF2B5EF4-FFF2-40B4-BE49-F238E27FC236}">
                <a16:creationId xmlns:a16="http://schemas.microsoft.com/office/drawing/2014/main" id="{CC81E201-3316-4572-AB46-AE8903C56C32}"/>
              </a:ext>
            </a:extLst>
          </p:cNvPr>
          <p:cNvSpPr>
            <a:spLocks xmlns:a="http://schemas.openxmlformats.org/drawingml/2006/main" noGrp="1"/>
          </p:cNvSpPr>
          <p:nvPr/>
        </p:nvSpPr>
        <p:spPr>
          <a:xfrm xmlns:a="http://schemas.openxmlformats.org/drawingml/2006/main" rot="0">
            <a:off x="1314450" y="4095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Xv ≠ 0 for every v ≠ 0</a:t>
            </a:r>
          </a:p>
        </p:txBody>
      </p:sp>
      <p:sp>
        <p:nvSpPr>
          <p:cNvPr id="10" name="">
            <a:extLst xmlns:a="http://schemas.openxmlformats.org/drawingml/2006/main">
              <a:ext uri="{FF2B5EF4-FFF2-40B4-BE49-F238E27FC236}">
                <a16:creationId xmlns:a16="http://schemas.microsoft.com/office/drawing/2014/main" id="{BAE64BD8-831F-4D00-B9A9-D4954B906616}"/>
              </a:ext>
            </a:extLst>
          </p:cNvPr>
          <p:cNvSpPr>
            <a:spLocks xmlns:a="http://schemas.openxmlformats.org/drawingml/2006/main" noGrp="1"/>
          </p:cNvSpPr>
          <p:nvPr/>
        </p:nvSpPr>
        <p:spPr>
          <a:xfrm xmlns:a="http://schemas.openxmlformats.org/drawingml/2006/main" rot="0">
            <a:off x="1314450" y="47625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Then vᵀXᵀXv &gt; 0, so XᵀX is positive definite and invertible.</a:t>
            </a:r>
          </a:p>
        </p:txBody>
      </p:sp>
      <p:sp>
        <p:nvSpPr>
          <p:cNvPr id="11" name="">
            <a:extLst xmlns:a="http://schemas.openxmlformats.org/drawingml/2006/main">
              <a:ext uri="{FF2B5EF4-FFF2-40B4-BE49-F238E27FC236}">
                <a16:creationId xmlns:a16="http://schemas.microsoft.com/office/drawing/2014/main" id="{CDEF214E-3C82-4612-8B90-B1731158FD76}"/>
              </a:ext>
            </a:extLst>
          </p:cNvPr>
          <p:cNvSpPr>
            <a:spLocks xmlns:a="http://schemas.openxmlformats.org/drawingml/2006/main" noGrp="1"/>
          </p:cNvSpPr>
          <p:nvPr/>
        </p:nvSpPr>
        <p:spPr>
          <a:xfrm xmlns:a="http://schemas.openxmlformats.org/drawingml/2006/main" rot="0">
            <a:off x="6762750" y="3714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DEPENDENT COLUMNS</a:t>
            </a:r>
          </a:p>
        </p:txBody>
      </p:sp>
      <p:sp>
        <p:nvSpPr>
          <p:cNvPr id="12" name="">
            <a:extLst xmlns:a="http://schemas.openxmlformats.org/drawingml/2006/main">
              <a:ext uri="{FF2B5EF4-FFF2-40B4-BE49-F238E27FC236}">
                <a16:creationId xmlns:a16="http://schemas.microsoft.com/office/drawing/2014/main" id="{9943E114-4C36-48B3-804F-5089A3C06A69}"/>
              </a:ext>
            </a:extLst>
          </p:cNvPr>
          <p:cNvSpPr>
            <a:spLocks xmlns:a="http://schemas.openxmlformats.org/drawingml/2006/main" noGrp="1"/>
          </p:cNvSpPr>
          <p:nvPr/>
        </p:nvSpPr>
        <p:spPr>
          <a:xfrm xmlns:a="http://schemas.openxmlformats.org/drawingml/2006/main" rot="0">
            <a:off x="6762750" y="4095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Xv = 0 for some v ≠ 0</a:t>
            </a:r>
          </a:p>
        </p:txBody>
      </p:sp>
      <p:sp>
        <p:nvSpPr>
          <p:cNvPr id="13" name="">
            <a:extLst xmlns:a="http://schemas.openxmlformats.org/drawingml/2006/main">
              <a:ext uri="{FF2B5EF4-FFF2-40B4-BE49-F238E27FC236}">
                <a16:creationId xmlns:a16="http://schemas.microsoft.com/office/drawing/2014/main" id="{5D0FED9A-B710-4CB0-AEE0-004C21812001}"/>
              </a:ext>
            </a:extLst>
          </p:cNvPr>
          <p:cNvSpPr>
            <a:spLocks xmlns:a="http://schemas.openxmlformats.org/drawingml/2006/main" noGrp="1"/>
          </p:cNvSpPr>
          <p:nvPr/>
        </p:nvSpPr>
        <p:spPr>
          <a:xfrm xmlns:a="http://schemas.openxmlformats.org/drawingml/2006/main" rot="0">
            <a:off x="6762750" y="47625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 same v lies in the null space of XᵀX, so the inverse does not exist.</a:t>
            </a:r>
          </a:p>
        </p:txBody>
      </p:sp>
    </p:spTree>
    <p:extLst>
      <p:ext uri="{BB962C8B-B14F-4D97-AF65-F5344CB8AC3E}">
        <p14:creationId xmlns:p14="http://schemas.microsoft.com/office/powerpoint/2010/main" val="2055969284"/>
      </p:ext>
    </p:extLst>
  </p:cSld>
</p:sld>
</file>

<file path=ppt/slides/slide15.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A974D4-42F4-42CD-A7A9-973BE6A19E66}"/>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8 · PART III</a:t>
            </a:r>
          </a:p>
        </p:txBody>
      </p:sp>
      <p:sp>
        <p:nvSpPr>
          <p:cNvPr id="2" name="">
            <a:extLst xmlns:a="http://schemas.openxmlformats.org/drawingml/2006/main">
              <a:ext uri="{FF2B5EF4-FFF2-40B4-BE49-F238E27FC236}">
                <a16:creationId xmlns:a16="http://schemas.microsoft.com/office/drawing/2014/main" id="{EB56E3A2-E14E-4E98-B550-33A33A983E8D}"/>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Why the estimate is random</a:t>
            </a:r>
          </a:p>
        </p:txBody>
      </p:sp>
      <p:sp>
        <p:nvSpPr>
          <p:cNvPr id="3" name="">
            <a:extLst xmlns:a="http://schemas.openxmlformats.org/drawingml/2006/main">
              <a:ext uri="{FF2B5EF4-FFF2-40B4-BE49-F238E27FC236}">
                <a16:creationId xmlns:a16="http://schemas.microsoft.com/office/drawing/2014/main" id="{B6B8FF29-808A-404A-A41D-1F6086ACF93E}"/>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FFFD7C7F-129F-4331-96E4-6539A7C46975}"/>
              </a:ext>
            </a:extLst>
          </p:cNvPr>
          <p:cNvSpPr>
            <a:spLocks xmlns:a="http://schemas.openxmlformats.org/drawingml/2006/main" noGrp="1"/>
          </p:cNvSpPr>
          <p:nvPr/>
        </p:nvSpPr>
        <p:spPr>
          <a:xfrm xmlns:a="http://schemas.openxmlformats.org/drawingml/2006/main" rot="0">
            <a:off x="1476375" y="1733550"/>
            <a:ext cx="9239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β̂ = (XᵀX)⁻¹Xᵀ(Xβ + ε)</a:t>
            </a:r>
          </a:p>
        </p:txBody>
      </p:sp>
      <p:sp>
        <p:nvSpPr>
          <p:cNvPr id="5" name="">
            <a:extLst xmlns:a="http://schemas.openxmlformats.org/drawingml/2006/main">
              <a:ext uri="{FF2B5EF4-FFF2-40B4-BE49-F238E27FC236}">
                <a16:creationId xmlns:a16="http://schemas.microsoft.com/office/drawing/2014/main" id="{91055555-F1C8-46BA-A412-055349D8DB44}"/>
              </a:ext>
            </a:extLst>
          </p:cNvPr>
          <p:cNvSpPr>
            <a:spLocks xmlns:a="http://schemas.openxmlformats.org/drawingml/2006/main" noGrp="1"/>
          </p:cNvSpPr>
          <p:nvPr/>
        </p:nvSpPr>
        <p:spPr>
          <a:xfrm xmlns:a="http://schemas.openxmlformats.org/drawingml/2006/main" rot="0">
            <a:off x="1476375" y="2552700"/>
            <a:ext cx="9239250" cy="781050"/>
          </a:xfrm>
          <a:prstGeom xmlns:a="http://schemas.openxmlformats.org/drawingml/2006/main" prst="roundRect">
            <a:avLst>
              <a:gd name="adj" fmla="val 12195"/>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β̂ = β + (XᵀX)⁻¹Xᵀε</a:t>
            </a:r>
          </a:p>
        </p:txBody>
      </p:sp>
      <p:sp>
        <p:nvSpPr>
          <p:cNvPr id="6" name="">
            <a:extLst xmlns:a="http://schemas.openxmlformats.org/drawingml/2006/main">
              <a:ext uri="{FF2B5EF4-FFF2-40B4-BE49-F238E27FC236}">
                <a16:creationId xmlns:a16="http://schemas.microsoft.com/office/drawing/2014/main" id="{E76E1FB5-F358-430F-8454-E1D4D0AE96BB}"/>
              </a:ext>
            </a:extLst>
          </p:cNvPr>
          <p:cNvSpPr>
            <a:spLocks xmlns:a="http://schemas.openxmlformats.org/drawingml/2006/main" noGrp="1"/>
          </p:cNvSpPr>
          <p:nvPr/>
        </p:nvSpPr>
        <p:spPr>
          <a:xfrm xmlns:a="http://schemas.openxmlformats.org/drawingml/2006/main" rot="0">
            <a:off x="1562100" y="4095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A8710A"/>
                </a:solidFill>
                <a:latin typeface="Arial"/>
                <a:ea typeface="Arial"/>
                <a:cs typeface="Arial"/>
              </a:defRPr>
            </a:pPr>
            <a:r>
              <a:rPr sz="1650" b="1" i="0">
                <a:solidFill>
                  <a:srgbClr val="A8710A"/>
                </a:solidFill>
                <a:latin typeface="Arial"/>
                <a:ea typeface="Arial"/>
                <a:cs typeface="Arial"/>
              </a:rPr>
              <a:t>Fixed in repeated sampling</a:t>
            </a:r>
          </a:p>
        </p:txBody>
      </p:sp>
      <p:sp>
        <p:nvSpPr>
          <p:cNvPr id="7" name="">
            <a:extLst xmlns:a="http://schemas.openxmlformats.org/drawingml/2006/main">
              <a:ext uri="{FF2B5EF4-FFF2-40B4-BE49-F238E27FC236}">
                <a16:creationId xmlns:a16="http://schemas.microsoft.com/office/drawing/2014/main" id="{1BA36881-DCDF-4337-A872-3D4CC7EAE7A0}"/>
              </a:ext>
            </a:extLst>
          </p:cNvPr>
          <p:cNvSpPr>
            <a:spLocks xmlns:a="http://schemas.openxmlformats.org/drawingml/2006/main" noGrp="1"/>
          </p:cNvSpPr>
          <p:nvPr/>
        </p:nvSpPr>
        <p:spPr>
          <a:xfrm xmlns:a="http://schemas.openxmlformats.org/drawingml/2006/main" rot="0">
            <a:off x="1905000" y="452437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X and β</a:t>
            </a:r>
          </a:p>
        </p:txBody>
      </p:sp>
      <p:sp>
        <p:nvSpPr>
          <p:cNvPr id="8" name="">
            <a:extLst xmlns:a="http://schemas.openxmlformats.org/drawingml/2006/main">
              <a:ext uri="{FF2B5EF4-FFF2-40B4-BE49-F238E27FC236}">
                <a16:creationId xmlns:a16="http://schemas.microsoft.com/office/drawing/2014/main" id="{6AD6BC4A-FBE3-4D64-8E6F-A978E147D0C1}"/>
              </a:ext>
            </a:extLst>
          </p:cNvPr>
          <p:cNvSpPr>
            <a:spLocks xmlns:a="http://schemas.openxmlformats.org/drawingml/2006/main" noGrp="1"/>
          </p:cNvSpPr>
          <p:nvPr/>
        </p:nvSpPr>
        <p:spPr>
          <a:xfrm xmlns:a="http://schemas.openxmlformats.org/drawingml/2006/main" rot="0">
            <a:off x="7105650" y="4095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2C6A6C"/>
                </a:solidFill>
                <a:latin typeface="Arial"/>
                <a:ea typeface="Arial"/>
                <a:cs typeface="Arial"/>
              </a:defRPr>
            </a:pPr>
            <a:r>
              <a:rPr sz="1650" b="1" i="0">
                <a:solidFill>
                  <a:srgbClr val="2C6A6C"/>
                </a:solidFill>
                <a:latin typeface="Arial"/>
                <a:ea typeface="Arial"/>
                <a:cs typeface="Arial"/>
              </a:rPr>
              <a:t>Changes across samples</a:t>
            </a:r>
          </a:p>
        </p:txBody>
      </p:sp>
      <p:sp>
        <p:nvSpPr>
          <p:cNvPr id="9" name="">
            <a:extLst xmlns:a="http://schemas.openxmlformats.org/drawingml/2006/main">
              <a:ext uri="{FF2B5EF4-FFF2-40B4-BE49-F238E27FC236}">
                <a16:creationId xmlns:a16="http://schemas.microsoft.com/office/drawing/2014/main" id="{E2F84693-D138-408F-ADF5-AC96F303E012}"/>
              </a:ext>
            </a:extLst>
          </p:cNvPr>
          <p:cNvSpPr>
            <a:spLocks xmlns:a="http://schemas.openxmlformats.org/drawingml/2006/main" noGrp="1"/>
          </p:cNvSpPr>
          <p:nvPr/>
        </p:nvSpPr>
        <p:spPr>
          <a:xfrm xmlns:a="http://schemas.openxmlformats.org/drawingml/2006/main" rot="0">
            <a:off x="7429500" y="452437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ε and β̂</a:t>
            </a:r>
          </a:p>
        </p:txBody>
      </p:sp>
    </p:spTree>
    <p:extLst>
      <p:ext uri="{BB962C8B-B14F-4D97-AF65-F5344CB8AC3E}">
        <p14:creationId xmlns:p14="http://schemas.microsoft.com/office/powerpoint/2010/main" val="1204735710"/>
      </p:ext>
    </p:extLst>
  </p:cSld>
</p:sld>
</file>

<file path=ppt/slides/slide16.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55F2DAF-D42E-4BBD-9C85-D982C81EBA22}"/>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9 · PART III</a:t>
            </a:r>
          </a:p>
        </p:txBody>
      </p:sp>
      <p:sp>
        <p:nvSpPr>
          <p:cNvPr id="2" name="">
            <a:extLst xmlns:a="http://schemas.openxmlformats.org/drawingml/2006/main">
              <a:ext uri="{FF2B5EF4-FFF2-40B4-BE49-F238E27FC236}">
                <a16:creationId xmlns:a16="http://schemas.microsoft.com/office/drawing/2014/main" id="{0577ECC9-1B62-4A8D-8578-0E1436A27F71}"/>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Estimators, bias, and variance</a:t>
            </a:r>
          </a:p>
        </p:txBody>
      </p:sp>
      <p:sp>
        <p:nvSpPr>
          <p:cNvPr id="3" name="">
            <a:extLst xmlns:a="http://schemas.openxmlformats.org/drawingml/2006/main">
              <a:ext uri="{FF2B5EF4-FFF2-40B4-BE49-F238E27FC236}">
                <a16:creationId xmlns:a16="http://schemas.microsoft.com/office/drawing/2014/main" id="{0D53A86F-E70D-41A1-80FF-06C1F44AEFA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16</a:t>
            </a:r>
          </a:p>
        </p:txBody>
      </p:sp>
      <p:sp>
        <p:nvSpPr>
          <p:cNvPr id="4" name="">
            <a:extLst xmlns:a="http://schemas.openxmlformats.org/drawingml/2006/main">
              <a:ext uri="{FF2B5EF4-FFF2-40B4-BE49-F238E27FC236}">
                <a16:creationId xmlns:a16="http://schemas.microsoft.com/office/drawing/2014/main" id="{E9AB7FB6-9126-4C74-B4A4-3EBDC1D3D59A}"/>
              </a:ext>
            </a:extLst>
          </p:cNvPr>
          <p:cNvSpPr>
            <a:spLocks xmlns:a="http://schemas.openxmlformats.org/drawingml/2006/main" noGrp="1"/>
          </p:cNvSpPr>
          <p:nvPr/>
        </p:nvSpPr>
        <p:spPr>
          <a:xfrm xmlns:a="http://schemas.openxmlformats.org/drawingml/2006/main" rot="0">
            <a:off x="971550" y="1695450"/>
            <a:ext cx="447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BIAS</a:t>
            </a:r>
          </a:p>
        </p:txBody>
      </p:sp>
      <p:sp>
        <p:nvSpPr>
          <p:cNvPr id="5" name="">
            <a:extLst xmlns:a="http://schemas.openxmlformats.org/drawingml/2006/main">
              <a:ext uri="{FF2B5EF4-FFF2-40B4-BE49-F238E27FC236}">
                <a16:creationId xmlns:a16="http://schemas.microsoft.com/office/drawing/2014/main" id="{E044D851-2718-457A-9BF0-0D800DC617A8}"/>
              </a:ext>
            </a:extLst>
          </p:cNvPr>
          <p:cNvSpPr>
            <a:spLocks xmlns:a="http://schemas.openxmlformats.org/drawingml/2006/main" noGrp="1"/>
          </p:cNvSpPr>
          <p:nvPr/>
        </p:nvSpPr>
        <p:spPr>
          <a:xfrm xmlns:a="http://schemas.openxmlformats.org/drawingml/2006/main" rot="0">
            <a:off x="876300" y="2057400"/>
            <a:ext cx="4762500" cy="666750"/>
          </a:xfrm>
          <a:prstGeom xmlns:a="http://schemas.openxmlformats.org/drawingml/2006/main" prst="roundRect">
            <a:avLst>
              <a:gd name="adj" fmla="val 14286"/>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Bias(β̃) = E[β̃] − β</a:t>
            </a:r>
          </a:p>
        </p:txBody>
      </p:sp>
      <p:sp>
        <p:nvSpPr>
          <p:cNvPr id="6" name="">
            <a:extLst xmlns:a="http://schemas.openxmlformats.org/drawingml/2006/main">
              <a:ext uri="{FF2B5EF4-FFF2-40B4-BE49-F238E27FC236}">
                <a16:creationId xmlns:a16="http://schemas.microsoft.com/office/drawing/2014/main" id="{814C5D13-72F0-4120-BF40-EBFEE32AC5F4}"/>
              </a:ext>
            </a:extLst>
          </p:cNvPr>
          <p:cNvSpPr>
            <a:spLocks xmlns:a="http://schemas.openxmlformats.org/drawingml/2006/main" noGrp="1"/>
          </p:cNvSpPr>
          <p:nvPr/>
        </p:nvSpPr>
        <p:spPr>
          <a:xfrm xmlns:a="http://schemas.openxmlformats.org/drawingml/2006/main" rot="0">
            <a:off x="1047750" y="2876550"/>
            <a:ext cx="4419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How far the estimator's average lies from the truth.</a:t>
            </a:r>
          </a:p>
        </p:txBody>
      </p:sp>
      <p:sp>
        <p:nvSpPr>
          <p:cNvPr id="7" name="">
            <a:extLst xmlns:a="http://schemas.openxmlformats.org/drawingml/2006/main">
              <a:ext uri="{FF2B5EF4-FFF2-40B4-BE49-F238E27FC236}">
                <a16:creationId xmlns:a16="http://schemas.microsoft.com/office/drawing/2014/main" id="{46B986CC-E231-4EA8-BC31-A8B9C7F672EA}"/>
              </a:ext>
            </a:extLst>
          </p:cNvPr>
          <p:cNvSpPr>
            <a:spLocks xmlns:a="http://schemas.openxmlformats.org/drawingml/2006/main" noGrp="1"/>
          </p:cNvSpPr>
          <p:nvPr/>
        </p:nvSpPr>
        <p:spPr>
          <a:xfrm xmlns:a="http://schemas.openxmlformats.org/drawingml/2006/main" rot="0">
            <a:off x="6743700" y="1695450"/>
            <a:ext cx="447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VARIANCE</a:t>
            </a:r>
          </a:p>
        </p:txBody>
      </p:sp>
      <p:sp>
        <p:nvSpPr>
          <p:cNvPr id="8" name="">
            <a:extLst xmlns:a="http://schemas.openxmlformats.org/drawingml/2006/main">
              <a:ext uri="{FF2B5EF4-FFF2-40B4-BE49-F238E27FC236}">
                <a16:creationId xmlns:a16="http://schemas.microsoft.com/office/drawing/2014/main" id="{1813D0C7-F7FF-43B6-B01F-B068D1CCE73F}"/>
              </a:ext>
            </a:extLst>
          </p:cNvPr>
          <p:cNvSpPr>
            <a:spLocks xmlns:a="http://schemas.openxmlformats.org/drawingml/2006/main" noGrp="1"/>
          </p:cNvSpPr>
          <p:nvPr/>
        </p:nvSpPr>
        <p:spPr>
          <a:xfrm xmlns:a="http://schemas.openxmlformats.org/drawingml/2006/main" rot="0">
            <a:off x="6648450" y="2057400"/>
            <a:ext cx="4762500" cy="666750"/>
          </a:xfrm>
          <a:prstGeom xmlns:a="http://schemas.openxmlformats.org/drawingml/2006/main" prst="roundRect">
            <a:avLst>
              <a:gd name="adj" fmla="val 14286"/>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Cov(β̃)</a:t>
            </a:r>
          </a:p>
        </p:txBody>
      </p:sp>
      <p:sp>
        <p:nvSpPr>
          <p:cNvPr id="9" name="">
            <a:extLst xmlns:a="http://schemas.openxmlformats.org/drawingml/2006/main">
              <a:ext uri="{FF2B5EF4-FFF2-40B4-BE49-F238E27FC236}">
                <a16:creationId xmlns:a16="http://schemas.microsoft.com/office/drawing/2014/main" id="{EBFD1A85-5414-4EDA-AF90-45052BA7A867}"/>
              </a:ext>
            </a:extLst>
          </p:cNvPr>
          <p:cNvSpPr>
            <a:spLocks xmlns:a="http://schemas.openxmlformats.org/drawingml/2006/main" noGrp="1"/>
          </p:cNvSpPr>
          <p:nvPr/>
        </p:nvSpPr>
        <p:spPr>
          <a:xfrm xmlns:a="http://schemas.openxmlformats.org/drawingml/2006/main" rot="0">
            <a:off x="6819900" y="2876550"/>
            <a:ext cx="4419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How estimates scatter around their own average.</a:t>
            </a:r>
          </a:p>
        </p:txBody>
      </p:sp>
      <p:sp>
        <p:nvSpPr>
          <p:cNvPr id="10" name="">
            <a:extLst xmlns:a="http://schemas.openxmlformats.org/drawingml/2006/main">
              <a:ext uri="{FF2B5EF4-FFF2-40B4-BE49-F238E27FC236}">
                <a16:creationId xmlns:a16="http://schemas.microsoft.com/office/drawing/2014/main" id="{C941228B-E1ED-4302-8CE3-A3FFC78284C5}"/>
              </a:ext>
            </a:extLst>
          </p:cNvPr>
          <p:cNvSpPr>
            <a:spLocks xmlns:a="http://schemas.openxmlformats.org/drawingml/2006/main" noGrp="1"/>
          </p:cNvSpPr>
          <p:nvPr/>
        </p:nvSpPr>
        <p:spPr>
          <a:xfrm xmlns:a="http://schemas.openxmlformats.org/drawingml/2006/main" rot="0">
            <a:off x="1123950" y="3829050"/>
            <a:ext cx="9944100" cy="190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202661A-9DA7-440D-AE12-47B3EDC4DA1B}"/>
              </a:ext>
            </a:extLst>
          </p:cNvPr>
          <p:cNvSpPr>
            <a:spLocks xmlns:a="http://schemas.openxmlformats.org/drawingml/2006/main" noGrp="1"/>
          </p:cNvSpPr>
          <p:nvPr/>
        </p:nvSpPr>
        <p:spPr>
          <a:xfrm xmlns:a="http://schemas.openxmlformats.org/drawingml/2006/main" rot="0">
            <a:off x="1123950" y="41338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ORDINARY LEAST SQUARES</a:t>
            </a:r>
          </a:p>
        </p:txBody>
      </p:sp>
      <p:sp>
        <p:nvSpPr>
          <p:cNvPr id="12" name="">
            <a:extLst xmlns:a="http://schemas.openxmlformats.org/drawingml/2006/main">
              <a:ext uri="{FF2B5EF4-FFF2-40B4-BE49-F238E27FC236}">
                <a16:creationId xmlns:a16="http://schemas.microsoft.com/office/drawing/2014/main" id="{55266146-45DD-4617-9CB9-7EE74717A233}"/>
              </a:ext>
            </a:extLst>
          </p:cNvPr>
          <p:cNvSpPr>
            <a:spLocks xmlns:a="http://schemas.openxmlformats.org/drawingml/2006/main" noGrp="1"/>
          </p:cNvSpPr>
          <p:nvPr/>
        </p:nvSpPr>
        <p:spPr>
          <a:xfrm xmlns:a="http://schemas.openxmlformats.org/drawingml/2006/main" rot="0">
            <a:off x="1123950" y="4552950"/>
            <a:ext cx="9944100" cy="742950"/>
          </a:xfrm>
          <a:prstGeom xmlns:a="http://schemas.openxmlformats.org/drawingml/2006/main" prst="roundRect">
            <a:avLst>
              <a:gd name="adj" fmla="val 1282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E[β̂ | X] = β + (XᵀX)⁻¹XᵀE[ε | X] = β</a:t>
            </a:r>
          </a:p>
        </p:txBody>
      </p:sp>
      <p:sp>
        <p:nvSpPr>
          <p:cNvPr id="13" name="">
            <a:extLst xmlns:a="http://schemas.openxmlformats.org/drawingml/2006/main">
              <a:ext uri="{FF2B5EF4-FFF2-40B4-BE49-F238E27FC236}">
                <a16:creationId xmlns:a16="http://schemas.microsoft.com/office/drawing/2014/main" id="{DE2F260B-6716-4DDA-8522-DD7060076E37}"/>
              </a:ext>
            </a:extLst>
          </p:cNvPr>
          <p:cNvSpPr>
            <a:spLocks xmlns:a="http://schemas.openxmlformats.org/drawingml/2006/main" noGrp="1"/>
          </p:cNvSpPr>
          <p:nvPr/>
        </p:nvSpPr>
        <p:spPr>
          <a:xfrm xmlns:a="http://schemas.openxmlformats.org/drawingml/2006/main" rot="0">
            <a:off x="1123950" y="5543550"/>
            <a:ext cx="9944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252A31"/>
                </a:solidFill>
                <a:latin typeface="Arial"/>
                <a:ea typeface="Arial"/>
                <a:cs typeface="Arial"/>
              </a:defRPr>
            </a:pPr>
            <a:r>
              <a:rPr sz="1875" b="1" i="0">
                <a:solidFill>
                  <a:srgbClr val="252A31"/>
                </a:solidFill>
                <a:latin typeface="Arial"/>
                <a:ea typeface="Arial"/>
                <a:cs typeface="Arial"/>
              </a:rPr>
              <a:t>The zero conditional mean assumption makes least squares unbiased.</a:t>
            </a:r>
          </a:p>
        </p:txBody>
      </p:sp>
    </p:spTree>
    <p:extLst>
      <p:ext uri="{BB962C8B-B14F-4D97-AF65-F5344CB8AC3E}">
        <p14:creationId xmlns:p14="http://schemas.microsoft.com/office/powerpoint/2010/main" val="412293512"/>
      </p:ext>
    </p:extLst>
  </p:cSld>
</p:sld>
</file>

<file path=ppt/slides/slide17.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6DCAEEB-FFF8-4A8A-A3AA-1594064BD272}"/>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9 · PART III</a:t>
            </a:r>
          </a:p>
        </p:txBody>
      </p:sp>
      <p:sp>
        <p:nvSpPr>
          <p:cNvPr id="2" name="">
            <a:extLst xmlns:a="http://schemas.openxmlformats.org/drawingml/2006/main">
              <a:ext uri="{FF2B5EF4-FFF2-40B4-BE49-F238E27FC236}">
                <a16:creationId xmlns:a16="http://schemas.microsoft.com/office/drawing/2014/main" id="{BF72D949-41E0-4D57-855A-3F02150D4D5F}"/>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Variance of least squares</a:t>
            </a:r>
          </a:p>
        </p:txBody>
      </p:sp>
      <p:sp>
        <p:nvSpPr>
          <p:cNvPr id="3" name="">
            <a:extLst xmlns:a="http://schemas.openxmlformats.org/drawingml/2006/main">
              <a:ext uri="{FF2B5EF4-FFF2-40B4-BE49-F238E27FC236}">
                <a16:creationId xmlns:a16="http://schemas.microsoft.com/office/drawing/2014/main" id="{77028200-F8A6-46F7-B1F9-CEEE834AB7A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E90CAC28-D961-44ED-88E5-D333A93578CD}"/>
              </a:ext>
            </a:extLst>
          </p:cNvPr>
          <p:cNvSpPr>
            <a:spLocks xmlns:a="http://schemas.openxmlformats.org/drawingml/2006/main" noGrp="1"/>
          </p:cNvSpPr>
          <p:nvPr/>
        </p:nvSpPr>
        <p:spPr>
          <a:xfrm xmlns:a="http://schemas.openxmlformats.org/drawingml/2006/main" rot="0">
            <a:off x="1066800" y="1600200"/>
            <a:ext cx="10058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0" i="0">
                <a:solidFill>
                  <a:srgbClr val="252A31"/>
                </a:solidFill>
                <a:latin typeface="Arial"/>
                <a:ea typeface="Arial"/>
                <a:cs typeface="Arial"/>
              </a:defRPr>
            </a:pPr>
            <a:r>
              <a:rPr sz="2100" b="0" i="0">
                <a:solidFill>
                  <a:srgbClr val="252A31"/>
                </a:solidFill>
                <a:latin typeface="Arial"/>
                <a:ea typeface="Arial"/>
                <a:cs typeface="Arial"/>
              </a:rPr>
              <a:t>Let A = (XᵀX)⁻¹Xᵀ. Then β̂ − β = Aε.</a:t>
            </a:r>
          </a:p>
        </p:txBody>
      </p:sp>
      <p:sp>
        <p:nvSpPr>
          <p:cNvPr id="5" name="">
            <a:extLst xmlns:a="http://schemas.openxmlformats.org/drawingml/2006/main">
              <a:ext uri="{FF2B5EF4-FFF2-40B4-BE49-F238E27FC236}">
                <a16:creationId xmlns:a16="http://schemas.microsoft.com/office/drawing/2014/main" id="{0C1105CA-6DCF-4384-BE51-8D3DDEDCAA36}"/>
              </a:ext>
            </a:extLst>
          </p:cNvPr>
          <p:cNvSpPr>
            <a:spLocks xmlns:a="http://schemas.openxmlformats.org/drawingml/2006/main" noGrp="1"/>
          </p:cNvSpPr>
          <p:nvPr/>
        </p:nvSpPr>
        <p:spPr>
          <a:xfrm xmlns:a="http://schemas.openxmlformats.org/drawingml/2006/main" rot="0">
            <a:off x="1428750" y="2209800"/>
            <a:ext cx="933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Cov(β̂ | X) = A(σ²I)Aᵀ</a:t>
            </a:r>
          </a:p>
        </p:txBody>
      </p:sp>
      <p:sp>
        <p:nvSpPr>
          <p:cNvPr id="6" name="">
            <a:extLst xmlns:a="http://schemas.openxmlformats.org/drawingml/2006/main">
              <a:ext uri="{FF2B5EF4-FFF2-40B4-BE49-F238E27FC236}">
                <a16:creationId xmlns:a16="http://schemas.microsoft.com/office/drawing/2014/main" id="{35F5459C-59C9-4EEB-92BB-24F183883415}"/>
              </a:ext>
            </a:extLst>
          </p:cNvPr>
          <p:cNvSpPr>
            <a:spLocks xmlns:a="http://schemas.openxmlformats.org/drawingml/2006/main" noGrp="1"/>
          </p:cNvSpPr>
          <p:nvPr/>
        </p:nvSpPr>
        <p:spPr>
          <a:xfrm xmlns:a="http://schemas.openxmlformats.org/drawingml/2006/main" rot="0">
            <a:off x="1428750" y="2828925"/>
            <a:ext cx="933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00" b="0" i="0">
                <a:solidFill>
                  <a:srgbClr val="252A31"/>
                </a:solidFill>
                <a:latin typeface="Cambria Math"/>
                <a:ea typeface="Cambria Math"/>
                <a:cs typeface="Cambria Math"/>
              </a:defRPr>
            </a:pPr>
            <a:r>
              <a:rPr sz="2400" b="0" i="0">
                <a:solidFill>
                  <a:srgbClr val="252A31"/>
                </a:solidFill>
                <a:latin typeface="Cambria Math"/>
                <a:ea typeface="Cambria Math"/>
                <a:cs typeface="Cambria Math"/>
              </a:rPr>
              <a:t>= σ²(XᵀX)⁻¹XᵀX(XᵀX)⁻¹</a:t>
            </a:r>
          </a:p>
        </p:txBody>
      </p:sp>
      <p:sp>
        <p:nvSpPr>
          <p:cNvPr id="7" name="">
            <a:extLst xmlns:a="http://schemas.openxmlformats.org/drawingml/2006/main">
              <a:ext uri="{FF2B5EF4-FFF2-40B4-BE49-F238E27FC236}">
                <a16:creationId xmlns:a16="http://schemas.microsoft.com/office/drawing/2014/main" id="{E5826B75-A779-49E5-8746-FE67812584E4}"/>
              </a:ext>
            </a:extLst>
          </p:cNvPr>
          <p:cNvSpPr>
            <a:spLocks xmlns:a="http://schemas.openxmlformats.org/drawingml/2006/main" noGrp="1"/>
          </p:cNvSpPr>
          <p:nvPr/>
        </p:nvSpPr>
        <p:spPr>
          <a:xfrm xmlns:a="http://schemas.openxmlformats.org/drawingml/2006/main" rot="0">
            <a:off x="2019300" y="3657600"/>
            <a:ext cx="8153400" cy="781050"/>
          </a:xfrm>
          <a:prstGeom xmlns:a="http://schemas.openxmlformats.org/drawingml/2006/main" prst="roundRect">
            <a:avLst>
              <a:gd name="adj" fmla="val 14634"/>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150" b="1" i="0">
                <a:solidFill>
                  <a:srgbClr val="A8710A"/>
                </a:solidFill>
                <a:latin typeface="Cambria Math"/>
                <a:ea typeface="Cambria Math"/>
                <a:cs typeface="Cambria Math"/>
              </a:defRPr>
            </a:pPr>
            <a:r>
              <a:rPr sz="3150" b="1" i="0">
                <a:solidFill>
                  <a:srgbClr val="A8710A"/>
                </a:solidFill>
                <a:latin typeface="Cambria Math"/>
                <a:ea typeface="Cambria Math"/>
                <a:cs typeface="Cambria Math"/>
              </a:rPr>
              <a:t>Cov(β̂ | X) = σ²(XᵀX)⁻¹</a:t>
            </a:r>
          </a:p>
        </p:txBody>
      </p:sp>
      <p:sp>
        <p:nvSpPr>
          <p:cNvPr id="8" name="">
            <a:extLst xmlns:a="http://schemas.openxmlformats.org/drawingml/2006/main">
              <a:ext uri="{FF2B5EF4-FFF2-40B4-BE49-F238E27FC236}">
                <a16:creationId xmlns:a16="http://schemas.microsoft.com/office/drawing/2014/main" id="{AC0C6E58-2046-43DB-86CA-2A4281CDD2C7}"/>
              </a:ext>
            </a:extLst>
          </p:cNvPr>
          <p:cNvSpPr>
            <a:spLocks xmlns:a="http://schemas.openxmlformats.org/drawingml/2006/main" noGrp="1"/>
          </p:cNvSpPr>
          <p:nvPr/>
        </p:nvSpPr>
        <p:spPr>
          <a:xfrm xmlns:a="http://schemas.openxmlformats.org/drawingml/2006/main" rot="0">
            <a:off x="2019300" y="4810125"/>
            <a:ext cx="8153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along eigenvector pⱼ:  variance = σ²/λⱼ</a:t>
            </a:r>
          </a:p>
        </p:txBody>
      </p:sp>
      <p:sp>
        <p:nvSpPr>
          <p:cNvPr id="9" name="">
            <a:extLst xmlns:a="http://schemas.openxmlformats.org/drawingml/2006/main">
              <a:ext uri="{FF2B5EF4-FFF2-40B4-BE49-F238E27FC236}">
                <a16:creationId xmlns:a16="http://schemas.microsoft.com/office/drawing/2014/main" id="{D0594F10-FEA8-4F55-A9F9-866D3A7FE4A4}"/>
              </a:ext>
            </a:extLst>
          </p:cNvPr>
          <p:cNvSpPr>
            <a:spLocks xmlns:a="http://schemas.openxmlformats.org/drawingml/2006/main" noGrp="1"/>
          </p:cNvSpPr>
          <p:nvPr/>
        </p:nvSpPr>
        <p:spPr>
          <a:xfrm xmlns:a="http://schemas.openxmlformats.org/drawingml/2006/main" rot="0">
            <a:off x="2019300" y="5619750"/>
            <a:ext cx="815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Small eigenvalues make coefficient estimates unstable.</a:t>
            </a:r>
          </a:p>
        </p:txBody>
      </p:sp>
    </p:spTree>
    <p:extLst>
      <p:ext uri="{BB962C8B-B14F-4D97-AF65-F5344CB8AC3E}">
        <p14:creationId xmlns:p14="http://schemas.microsoft.com/office/powerpoint/2010/main" val="245452429"/>
      </p:ext>
    </p:extLst>
  </p:cSld>
</p:sld>
</file>

<file path=ppt/slides/slide18.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21BC0B9-CE74-48DF-9F5B-CC4B479102B0}"/>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10 · PART III</a:t>
            </a:r>
          </a:p>
        </p:txBody>
      </p:sp>
      <p:sp>
        <p:nvSpPr>
          <p:cNvPr id="2" name="">
            <a:extLst xmlns:a="http://schemas.openxmlformats.org/drawingml/2006/main">
              <a:ext uri="{FF2B5EF4-FFF2-40B4-BE49-F238E27FC236}">
                <a16:creationId xmlns:a16="http://schemas.microsoft.com/office/drawing/2014/main" id="{9ABEC2CE-0D69-4C25-A23B-F327B5B6F80C}"/>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Mean squared error</a:t>
            </a:r>
          </a:p>
        </p:txBody>
      </p:sp>
      <p:sp>
        <p:nvSpPr>
          <p:cNvPr id="3" name="">
            <a:extLst xmlns:a="http://schemas.openxmlformats.org/drawingml/2006/main">
              <a:ext uri="{FF2B5EF4-FFF2-40B4-BE49-F238E27FC236}">
                <a16:creationId xmlns:a16="http://schemas.microsoft.com/office/drawing/2014/main" id="{4BD0C7D1-4D63-4940-874E-A8BC94B1AA68}"/>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31718559-8FA1-46C9-9C83-554E0F3CCEAA}"/>
              </a:ext>
            </a:extLst>
          </p:cNvPr>
          <p:cNvSpPr>
            <a:spLocks xmlns:a="http://schemas.openxmlformats.org/drawingml/2006/main" noGrp="1"/>
          </p:cNvSpPr>
          <p:nvPr/>
        </p:nvSpPr>
        <p:spPr>
          <a:xfrm xmlns:a="http://schemas.openxmlformats.org/drawingml/2006/main" rot="0">
            <a:off x="914400" y="1676400"/>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Bias(β̃) = E[β̃] − β</a:t>
            </a:r>
          </a:p>
        </p:txBody>
      </p:sp>
      <p:sp>
        <p:nvSpPr>
          <p:cNvPr id="5" name="">
            <a:extLst xmlns:a="http://schemas.openxmlformats.org/drawingml/2006/main">
              <a:ext uri="{FF2B5EF4-FFF2-40B4-BE49-F238E27FC236}">
                <a16:creationId xmlns:a16="http://schemas.microsoft.com/office/drawing/2014/main" id="{25AB9FAB-E84A-4B16-9BD2-D539BB77D93F}"/>
              </a:ext>
            </a:extLst>
          </p:cNvPr>
          <p:cNvSpPr>
            <a:spLocks xmlns:a="http://schemas.openxmlformats.org/drawingml/2006/main" noGrp="1"/>
          </p:cNvSpPr>
          <p:nvPr/>
        </p:nvSpPr>
        <p:spPr>
          <a:xfrm xmlns:a="http://schemas.openxmlformats.org/drawingml/2006/main" rot="0">
            <a:off x="914400" y="2457450"/>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MSE(β̃) = E‖β̃ − β‖²</a:t>
            </a:r>
          </a:p>
        </p:txBody>
      </p:sp>
      <p:sp>
        <p:nvSpPr>
          <p:cNvPr id="6" name="">
            <a:extLst xmlns:a="http://schemas.openxmlformats.org/drawingml/2006/main">
              <a:ext uri="{FF2B5EF4-FFF2-40B4-BE49-F238E27FC236}">
                <a16:creationId xmlns:a16="http://schemas.microsoft.com/office/drawing/2014/main" id="{DF482FCA-6DFF-43BF-80DF-7FC7B2870248}"/>
              </a:ext>
            </a:extLst>
          </p:cNvPr>
          <p:cNvSpPr>
            <a:spLocks xmlns:a="http://schemas.openxmlformats.org/drawingml/2006/main" noGrp="1"/>
          </p:cNvSpPr>
          <p:nvPr/>
        </p:nvSpPr>
        <p:spPr>
          <a:xfrm xmlns:a="http://schemas.openxmlformats.org/drawingml/2006/main" rot="0">
            <a:off x="6667500" y="1657350"/>
            <a:ext cx="19050" cy="17907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CA212BD-9E44-4EE1-9962-D80941A0065E}"/>
              </a:ext>
            </a:extLst>
          </p:cNvPr>
          <p:cNvSpPr>
            <a:spLocks xmlns:a="http://schemas.openxmlformats.org/drawingml/2006/main" noGrp="1"/>
          </p:cNvSpPr>
          <p:nvPr/>
        </p:nvSpPr>
        <p:spPr>
          <a:xfrm xmlns:a="http://schemas.openxmlformats.org/drawingml/2006/main" rot="0">
            <a:off x="7143750" y="1809750"/>
            <a:ext cx="3905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A vector estimator has a covariance matrix. A scalar MSE needs the total variance across coefficient directions.</a:t>
            </a:r>
          </a:p>
        </p:txBody>
      </p:sp>
      <p:sp>
        <p:nvSpPr>
          <p:cNvPr id="8" name="">
            <a:extLst xmlns:a="http://schemas.openxmlformats.org/drawingml/2006/main">
              <a:ext uri="{FF2B5EF4-FFF2-40B4-BE49-F238E27FC236}">
                <a16:creationId xmlns:a16="http://schemas.microsoft.com/office/drawing/2014/main" id="{1826AB24-8D06-4BF7-A8B3-4166F4FFB372}"/>
              </a:ext>
            </a:extLst>
          </p:cNvPr>
          <p:cNvSpPr>
            <a:spLocks xmlns:a="http://schemas.openxmlformats.org/drawingml/2006/main" noGrp="1"/>
          </p:cNvSpPr>
          <p:nvPr/>
        </p:nvSpPr>
        <p:spPr>
          <a:xfrm xmlns:a="http://schemas.openxmlformats.org/drawingml/2006/main" rot="0">
            <a:off x="1190625" y="3981450"/>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E‖β̃ − β‖²</a:t>
            </a:r>
          </a:p>
        </p:txBody>
      </p:sp>
      <p:sp>
        <p:nvSpPr>
          <p:cNvPr id="9" name="">
            <a:extLst xmlns:a="http://schemas.openxmlformats.org/drawingml/2006/main">
              <a:ext uri="{FF2B5EF4-FFF2-40B4-BE49-F238E27FC236}">
                <a16:creationId xmlns:a16="http://schemas.microsoft.com/office/drawing/2014/main" id="{44C60A41-EF78-4A0D-A5D2-7F895078ADA8}"/>
              </a:ext>
            </a:extLst>
          </p:cNvPr>
          <p:cNvSpPr>
            <a:spLocks xmlns:a="http://schemas.openxmlformats.org/drawingml/2006/main" noGrp="1"/>
          </p:cNvSpPr>
          <p:nvPr/>
        </p:nvSpPr>
        <p:spPr>
          <a:xfrm xmlns:a="http://schemas.openxmlformats.org/drawingml/2006/main" rot="0">
            <a:off x="1190625" y="4572000"/>
            <a:ext cx="981075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150" b="1" i="0">
                <a:solidFill>
                  <a:srgbClr val="A8710A"/>
                </a:solidFill>
                <a:latin typeface="Cambria Math"/>
                <a:ea typeface="Cambria Math"/>
                <a:cs typeface="Cambria Math"/>
              </a:defRPr>
            </a:pPr>
            <a:r>
              <a:rPr sz="3150" b="1" i="0">
                <a:solidFill>
                  <a:srgbClr val="A8710A"/>
                </a:solidFill>
                <a:latin typeface="Cambria Math"/>
                <a:ea typeface="Cambria Math"/>
                <a:cs typeface="Cambria Math"/>
              </a:rPr>
              <a:t>= tr(Cov(β̃)) + ‖Bias(β̃)‖²</a:t>
            </a:r>
          </a:p>
        </p:txBody>
      </p:sp>
      <p:sp>
        <p:nvSpPr>
          <p:cNvPr id="10" name="">
            <a:extLst xmlns:a="http://schemas.openxmlformats.org/drawingml/2006/main">
              <a:ext uri="{FF2B5EF4-FFF2-40B4-BE49-F238E27FC236}">
                <a16:creationId xmlns:a16="http://schemas.microsoft.com/office/drawing/2014/main" id="{0192A871-05FC-4B8D-98B9-ADF9CB382E41}"/>
              </a:ext>
            </a:extLst>
          </p:cNvPr>
          <p:cNvSpPr>
            <a:spLocks xmlns:a="http://schemas.openxmlformats.org/drawingml/2006/main" noGrp="1"/>
          </p:cNvSpPr>
          <p:nvPr/>
        </p:nvSpPr>
        <p:spPr>
          <a:xfrm xmlns:a="http://schemas.openxmlformats.org/drawingml/2006/main" rot="0">
            <a:off x="1190625" y="5619750"/>
            <a:ext cx="981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The trace turns the covariance matrix into total coefficient variance.</a:t>
            </a:r>
          </a:p>
        </p:txBody>
      </p:sp>
    </p:spTree>
    <p:extLst>
      <p:ext uri="{BB962C8B-B14F-4D97-AF65-F5344CB8AC3E}">
        <p14:creationId xmlns:p14="http://schemas.microsoft.com/office/powerpoint/2010/main" val="2021733084"/>
      </p:ext>
    </p:extLst>
  </p:cSld>
</p:sld>
</file>

<file path=ppt/slides/slide19.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D6FEDE7-60BE-44E7-89BA-062FEF2C2599}"/>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11 · PART III</a:t>
            </a:r>
          </a:p>
        </p:txBody>
      </p:sp>
      <p:sp>
        <p:nvSpPr>
          <p:cNvPr id="2" name="">
            <a:extLst xmlns:a="http://schemas.openxmlformats.org/drawingml/2006/main">
              <a:ext uri="{FF2B5EF4-FFF2-40B4-BE49-F238E27FC236}">
                <a16:creationId xmlns:a16="http://schemas.microsoft.com/office/drawing/2014/main" id="{B11168E1-3C3B-43E3-878C-29AB7E89C1A3}"/>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Gauss–Markov theorem</a:t>
            </a:r>
          </a:p>
        </p:txBody>
      </p:sp>
      <p:sp>
        <p:nvSpPr>
          <p:cNvPr id="3" name="">
            <a:extLst xmlns:a="http://schemas.openxmlformats.org/drawingml/2006/main">
              <a:ext uri="{FF2B5EF4-FFF2-40B4-BE49-F238E27FC236}">
                <a16:creationId xmlns:a16="http://schemas.microsoft.com/office/drawing/2014/main" id="{DCB365DA-7384-4943-A80E-A3F32A5ABEFF}"/>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19</a:t>
            </a:r>
          </a:p>
        </p:txBody>
      </p:sp>
      <p:sp>
        <p:nvSpPr>
          <p:cNvPr id="4" name="">
            <a:extLst xmlns:a="http://schemas.openxmlformats.org/drawingml/2006/main">
              <a:ext uri="{FF2B5EF4-FFF2-40B4-BE49-F238E27FC236}">
                <a16:creationId xmlns:a16="http://schemas.microsoft.com/office/drawing/2014/main" id="{7BCCF144-8C62-4D41-BB34-C0BECFEB6828}"/>
              </a:ext>
            </a:extLst>
          </p:cNvPr>
          <p:cNvSpPr>
            <a:spLocks xmlns:a="http://schemas.openxmlformats.org/drawingml/2006/main" noGrp="1"/>
          </p:cNvSpPr>
          <p:nvPr/>
        </p:nvSpPr>
        <p:spPr>
          <a:xfrm xmlns:a="http://schemas.openxmlformats.org/drawingml/2006/main" rot="0">
            <a:off x="1200150" y="1657350"/>
            <a:ext cx="97917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Ordinary least squares has the smallest covariance among estimators that satisfy both conditions</a:t>
            </a:r>
          </a:p>
        </p:txBody>
      </p:sp>
      <p:sp>
        <p:nvSpPr>
          <p:cNvPr id="5" name="">
            <a:extLst xmlns:a="http://schemas.openxmlformats.org/drawingml/2006/main">
              <a:ext uri="{FF2B5EF4-FFF2-40B4-BE49-F238E27FC236}">
                <a16:creationId xmlns:a16="http://schemas.microsoft.com/office/drawing/2014/main" id="{8722EDD5-9670-465C-9467-35AF86779B10}"/>
              </a:ext>
            </a:extLst>
          </p:cNvPr>
          <p:cNvSpPr>
            <a:spLocks xmlns:a="http://schemas.openxmlformats.org/drawingml/2006/main" noGrp="1"/>
          </p:cNvSpPr>
          <p:nvPr/>
        </p:nvSpPr>
        <p:spPr>
          <a:xfrm xmlns:a="http://schemas.openxmlformats.org/drawingml/2006/main" rot="0">
            <a:off x="1924050" y="2838450"/>
            <a:ext cx="571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3750" b="1" i="0">
                <a:solidFill>
                  <a:srgbClr val="A8710A"/>
                </a:solidFill>
                <a:latin typeface="Georgia"/>
                <a:ea typeface="Georgia"/>
                <a:cs typeface="Georgia"/>
              </a:defRPr>
            </a:pPr>
            <a:r>
              <a:rPr sz="3750" b="1" i="0">
                <a:solidFill>
                  <a:srgbClr val="A8710A"/>
                </a:solidFill>
                <a:latin typeface="Georgia"/>
                <a:ea typeface="Georgia"/>
                <a:cs typeface="Georgia"/>
              </a:rPr>
              <a:t>1</a:t>
            </a:r>
          </a:p>
        </p:txBody>
      </p:sp>
      <p:sp>
        <p:nvSpPr>
          <p:cNvPr id="6" name="">
            <a:extLst xmlns:a="http://schemas.openxmlformats.org/drawingml/2006/main">
              <a:ext uri="{FF2B5EF4-FFF2-40B4-BE49-F238E27FC236}">
                <a16:creationId xmlns:a16="http://schemas.microsoft.com/office/drawing/2014/main" id="{FA409A99-AFBF-4EA4-AC97-F7451D2CD0DE}"/>
              </a:ext>
            </a:extLst>
          </p:cNvPr>
          <p:cNvSpPr>
            <a:spLocks xmlns:a="http://schemas.openxmlformats.org/drawingml/2006/main" noGrp="1"/>
          </p:cNvSpPr>
          <p:nvPr/>
        </p:nvSpPr>
        <p:spPr>
          <a:xfrm xmlns:a="http://schemas.openxmlformats.org/drawingml/2006/main" rot="0">
            <a:off x="2647950" y="295275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400" b="1" i="0">
                <a:solidFill>
                  <a:srgbClr val="252A31"/>
                </a:solidFill>
                <a:latin typeface="Arial"/>
                <a:ea typeface="Arial"/>
                <a:cs typeface="Arial"/>
              </a:defRPr>
            </a:pPr>
            <a:r>
              <a:rPr sz="2400" b="1" i="0">
                <a:solidFill>
                  <a:srgbClr val="252A31"/>
                </a:solidFill>
                <a:latin typeface="Arial"/>
                <a:ea typeface="Arial"/>
                <a:cs typeface="Arial"/>
              </a:rPr>
              <a:t>Linear in Y</a:t>
            </a:r>
          </a:p>
        </p:txBody>
      </p:sp>
      <p:sp>
        <p:nvSpPr>
          <p:cNvPr id="7" name="">
            <a:extLst xmlns:a="http://schemas.openxmlformats.org/drawingml/2006/main">
              <a:ext uri="{FF2B5EF4-FFF2-40B4-BE49-F238E27FC236}">
                <a16:creationId xmlns:a16="http://schemas.microsoft.com/office/drawing/2014/main" id="{6140DB3F-939B-42A8-9F3E-F7EB8749B4F3}"/>
              </a:ext>
            </a:extLst>
          </p:cNvPr>
          <p:cNvSpPr>
            <a:spLocks xmlns:a="http://schemas.openxmlformats.org/drawingml/2006/main" noGrp="1"/>
          </p:cNvSpPr>
          <p:nvPr/>
        </p:nvSpPr>
        <p:spPr>
          <a:xfrm xmlns:a="http://schemas.openxmlformats.org/drawingml/2006/main" rot="0">
            <a:off x="6877050" y="2838450"/>
            <a:ext cx="571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3750" b="1" i="0">
                <a:solidFill>
                  <a:srgbClr val="2C6A6C"/>
                </a:solidFill>
                <a:latin typeface="Georgia"/>
                <a:ea typeface="Georgia"/>
                <a:cs typeface="Georgia"/>
              </a:defRPr>
            </a:pPr>
            <a:r>
              <a:rPr sz="3750" b="1" i="0">
                <a:solidFill>
                  <a:srgbClr val="2C6A6C"/>
                </a:solidFill>
                <a:latin typeface="Georgia"/>
                <a:ea typeface="Georgia"/>
                <a:cs typeface="Georgia"/>
              </a:rPr>
              <a:t>2</a:t>
            </a:r>
          </a:p>
        </p:txBody>
      </p:sp>
      <p:sp>
        <p:nvSpPr>
          <p:cNvPr id="8" name="">
            <a:extLst xmlns:a="http://schemas.openxmlformats.org/drawingml/2006/main">
              <a:ext uri="{FF2B5EF4-FFF2-40B4-BE49-F238E27FC236}">
                <a16:creationId xmlns:a16="http://schemas.microsoft.com/office/drawing/2014/main" id="{EA2B64F5-DFE7-4EDB-87CB-8EF13D28205D}"/>
              </a:ext>
            </a:extLst>
          </p:cNvPr>
          <p:cNvSpPr>
            <a:spLocks xmlns:a="http://schemas.openxmlformats.org/drawingml/2006/main" noGrp="1"/>
          </p:cNvSpPr>
          <p:nvPr/>
        </p:nvSpPr>
        <p:spPr>
          <a:xfrm xmlns:a="http://schemas.openxmlformats.org/drawingml/2006/main" rot="0">
            <a:off x="7600950" y="29527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400" b="1" i="0">
                <a:solidFill>
                  <a:srgbClr val="252A31"/>
                </a:solidFill>
                <a:latin typeface="Arial"/>
                <a:ea typeface="Arial"/>
                <a:cs typeface="Arial"/>
              </a:defRPr>
            </a:pPr>
            <a:r>
              <a:rPr sz="2400" b="1" i="0">
                <a:solidFill>
                  <a:srgbClr val="252A31"/>
                </a:solidFill>
                <a:latin typeface="Arial"/>
                <a:ea typeface="Arial"/>
                <a:cs typeface="Arial"/>
              </a:rPr>
              <a:t>Unbiased for every β</a:t>
            </a:r>
          </a:p>
        </p:txBody>
      </p:sp>
      <p:sp>
        <p:nvSpPr>
          <p:cNvPr id="9" name="">
            <a:extLst xmlns:a="http://schemas.openxmlformats.org/drawingml/2006/main">
              <a:ext uri="{FF2B5EF4-FFF2-40B4-BE49-F238E27FC236}">
                <a16:creationId xmlns:a16="http://schemas.microsoft.com/office/drawing/2014/main" id="{61F5416F-9FD6-4860-95FE-03BC58BB855F}"/>
              </a:ext>
            </a:extLst>
          </p:cNvPr>
          <p:cNvSpPr>
            <a:spLocks xmlns:a="http://schemas.openxmlformats.org/drawingml/2006/main" noGrp="1"/>
          </p:cNvSpPr>
          <p:nvPr/>
        </p:nvSpPr>
        <p:spPr>
          <a:xfrm xmlns:a="http://schemas.openxmlformats.org/drawingml/2006/main" rot="0">
            <a:off x="2286000" y="4000500"/>
            <a:ext cx="7620000" cy="742950"/>
          </a:xfrm>
          <a:prstGeom xmlns:a="http://schemas.openxmlformats.org/drawingml/2006/main" prst="roundRect">
            <a:avLst>
              <a:gd name="adj" fmla="val 1282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Cov(β̃ | X) − Cov(β̂ | X) ⪰ 0</a:t>
            </a:r>
          </a:p>
        </p:txBody>
      </p:sp>
      <p:sp>
        <p:nvSpPr>
          <p:cNvPr id="10" name="">
            <a:extLst xmlns:a="http://schemas.openxmlformats.org/drawingml/2006/main">
              <a:ext uri="{FF2B5EF4-FFF2-40B4-BE49-F238E27FC236}">
                <a16:creationId xmlns:a16="http://schemas.microsoft.com/office/drawing/2014/main" id="{BB379589-BD75-4E1C-8131-6108FE507093}"/>
              </a:ext>
            </a:extLst>
          </p:cNvPr>
          <p:cNvSpPr>
            <a:spLocks xmlns:a="http://schemas.openxmlformats.org/drawingml/2006/main" noGrp="1"/>
          </p:cNvSpPr>
          <p:nvPr/>
        </p:nvSpPr>
        <p:spPr>
          <a:xfrm xmlns:a="http://schemas.openxmlformats.org/drawingml/2006/main" rot="0">
            <a:off x="2419350" y="5257800"/>
            <a:ext cx="7353300" cy="19050"/>
          </a:xfrm>
          <a:prstGeom xmlns:a="http://schemas.openxmlformats.org/drawingml/2006/main" prst="rect">
            <a:avLst/>
          </a:prstGeom>
          <a:solidFill xmlns:a="http://schemas.openxmlformats.org/drawingml/2006/main">
            <a:srgbClr val="A64B3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C5E9A6-B421-4E72-ABC5-47AC07A5D9BF}"/>
              </a:ext>
            </a:extLst>
          </p:cNvPr>
          <p:cNvSpPr>
            <a:spLocks xmlns:a="http://schemas.openxmlformats.org/drawingml/2006/main" noGrp="1"/>
          </p:cNvSpPr>
          <p:nvPr/>
        </p:nvSpPr>
        <p:spPr>
          <a:xfrm xmlns:a="http://schemas.openxmlformats.org/drawingml/2006/main" rot="0">
            <a:off x="2038350" y="5476875"/>
            <a:ext cx="811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1" i="0">
                <a:solidFill>
                  <a:srgbClr val="A64B3C"/>
                </a:solidFill>
                <a:latin typeface="Arial"/>
                <a:ea typeface="Arial"/>
                <a:cs typeface="Arial"/>
              </a:defRPr>
            </a:pPr>
            <a:r>
              <a:rPr sz="2025" b="1" i="0">
                <a:solidFill>
                  <a:srgbClr val="A64B3C"/>
                </a:solidFill>
                <a:latin typeface="Arial"/>
                <a:ea typeface="Arial"/>
                <a:cs typeface="Arial"/>
              </a:rPr>
              <a:t>The theorem does not compare ordinary least squares with biased estimators.</a:t>
            </a:r>
          </a:p>
        </p:txBody>
      </p:sp>
    </p:spTree>
    <p:extLst>
      <p:ext uri="{BB962C8B-B14F-4D97-AF65-F5344CB8AC3E}">
        <p14:creationId xmlns:p14="http://schemas.microsoft.com/office/powerpoint/2010/main" val="141098748"/>
      </p:ext>
    </p:extLst>
  </p:cSld>
</p:sld>
</file>

<file path=ppt/slides/slide20.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3531A5C-1E36-4C66-883F-F949AAB79FEB}"/>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12 · PART III</a:t>
            </a:r>
          </a:p>
        </p:txBody>
      </p:sp>
      <p:sp>
        <p:nvSpPr>
          <p:cNvPr id="2" name="">
            <a:extLst xmlns:a="http://schemas.openxmlformats.org/drawingml/2006/main">
              <a:ext uri="{FF2B5EF4-FFF2-40B4-BE49-F238E27FC236}">
                <a16:creationId xmlns:a16="http://schemas.microsoft.com/office/drawing/2014/main" id="{40FEC59E-66BB-4A48-A6F8-875A690981D8}"/>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Where this leaves us</a:t>
            </a:r>
          </a:p>
        </p:txBody>
      </p:sp>
      <p:sp>
        <p:nvSpPr>
          <p:cNvPr id="3" name="">
            <a:extLst xmlns:a="http://schemas.openxmlformats.org/drawingml/2006/main">
              <a:ext uri="{FF2B5EF4-FFF2-40B4-BE49-F238E27FC236}">
                <a16:creationId xmlns:a16="http://schemas.microsoft.com/office/drawing/2014/main" id="{9486F135-5D23-4A7D-8431-30C77F4A2B8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20</a:t>
            </a:r>
          </a:p>
        </p:txBody>
      </p:sp>
      <p:sp>
        <p:nvSpPr>
          <p:cNvPr id="4" name="">
            <a:extLst xmlns:a="http://schemas.openxmlformats.org/drawingml/2006/main">
              <a:ext uri="{FF2B5EF4-FFF2-40B4-BE49-F238E27FC236}">
                <a16:creationId xmlns:a16="http://schemas.microsoft.com/office/drawing/2014/main" id="{CBA0B8FF-9D2F-41DC-9496-1C318055CDEC}"/>
              </a:ext>
            </a:extLst>
          </p:cNvPr>
          <p:cNvSpPr>
            <a:spLocks xmlns:a="http://schemas.openxmlformats.org/drawingml/2006/main" noGrp="1"/>
          </p:cNvSpPr>
          <p:nvPr/>
        </p:nvSpPr>
        <p:spPr>
          <a:xfrm xmlns:a="http://schemas.openxmlformats.org/drawingml/2006/main" rot="0">
            <a:off x="971550" y="1714500"/>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1" i="0">
                <a:solidFill>
                  <a:srgbClr val="68717D"/>
                </a:solidFill>
                <a:latin typeface="Arial"/>
                <a:ea typeface="Arial"/>
                <a:cs typeface="Arial"/>
              </a:defRPr>
            </a:pPr>
            <a:r>
              <a:rPr sz="1800" b="1" i="0">
                <a:solidFill>
                  <a:srgbClr val="68717D"/>
                </a:solidFill>
                <a:latin typeface="Arial"/>
                <a:ea typeface="Arial"/>
                <a:cs typeface="Arial"/>
              </a:rPr>
              <a:t>Ordinary least squares</a:t>
            </a:r>
          </a:p>
        </p:txBody>
      </p:sp>
      <p:sp>
        <p:nvSpPr>
          <p:cNvPr id="5" name="">
            <a:extLst xmlns:a="http://schemas.openxmlformats.org/drawingml/2006/main">
              <a:ext uri="{FF2B5EF4-FFF2-40B4-BE49-F238E27FC236}">
                <a16:creationId xmlns:a16="http://schemas.microsoft.com/office/drawing/2014/main" id="{BCFDA910-4AB3-41C8-8124-2FD96E14F03F}"/>
              </a:ext>
            </a:extLst>
          </p:cNvPr>
          <p:cNvSpPr>
            <a:spLocks xmlns:a="http://schemas.openxmlformats.org/drawingml/2006/main" noGrp="1"/>
          </p:cNvSpPr>
          <p:nvPr/>
        </p:nvSpPr>
        <p:spPr>
          <a:xfrm xmlns:a="http://schemas.openxmlformats.org/drawingml/2006/main" rot="0">
            <a:off x="762000" y="2247900"/>
            <a:ext cx="4476750" cy="819150"/>
          </a:xfrm>
          <a:prstGeom xmlns:a="http://schemas.openxmlformats.org/drawingml/2006/main" prst="roundRect">
            <a:avLst>
              <a:gd name="adj" fmla="val 11628"/>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β̂ = (XᵀX)⁻¹XᵀY</a:t>
            </a:r>
          </a:p>
        </p:txBody>
      </p:sp>
      <p:sp>
        <p:nvSpPr>
          <p:cNvPr id="6" name="">
            <a:extLst xmlns:a="http://schemas.openxmlformats.org/drawingml/2006/main">
              <a:ext uri="{FF2B5EF4-FFF2-40B4-BE49-F238E27FC236}">
                <a16:creationId xmlns:a16="http://schemas.microsoft.com/office/drawing/2014/main" id="{B4A42F21-66BF-4B3F-BA0C-19F2652A078B}"/>
              </a:ext>
            </a:extLst>
          </p:cNvPr>
          <p:cNvSpPr>
            <a:spLocks xmlns:a="http://schemas.openxmlformats.org/drawingml/2006/main" noGrp="1"/>
          </p:cNvSpPr>
          <p:nvPr/>
        </p:nvSpPr>
        <p:spPr>
          <a:xfrm xmlns:a="http://schemas.openxmlformats.org/drawingml/2006/main" rot="0">
            <a:off x="7124700" y="1714500"/>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1" i="0">
                <a:solidFill>
                  <a:srgbClr val="A8710A"/>
                </a:solidFill>
                <a:latin typeface="Arial"/>
                <a:ea typeface="Arial"/>
                <a:cs typeface="Arial"/>
              </a:defRPr>
            </a:pPr>
            <a:r>
              <a:rPr sz="1800" b="1" i="0">
                <a:solidFill>
                  <a:srgbClr val="A8710A"/>
                </a:solidFill>
                <a:latin typeface="Arial"/>
                <a:ea typeface="Arial"/>
                <a:cs typeface="Arial"/>
              </a:rPr>
              <a:t>Ridge regression</a:t>
            </a:r>
          </a:p>
        </p:txBody>
      </p:sp>
      <p:sp>
        <p:nvSpPr>
          <p:cNvPr id="7" name="">
            <a:extLst xmlns:a="http://schemas.openxmlformats.org/drawingml/2006/main">
              <a:ext uri="{FF2B5EF4-FFF2-40B4-BE49-F238E27FC236}">
                <a16:creationId xmlns:a16="http://schemas.microsoft.com/office/drawing/2014/main" id="{21F2C47E-2E02-4144-A0D3-81975C442684}"/>
              </a:ext>
            </a:extLst>
          </p:cNvPr>
          <p:cNvSpPr>
            <a:spLocks xmlns:a="http://schemas.openxmlformats.org/drawingml/2006/main" noGrp="1"/>
          </p:cNvSpPr>
          <p:nvPr/>
        </p:nvSpPr>
        <p:spPr>
          <a:xfrm xmlns:a="http://schemas.openxmlformats.org/drawingml/2006/main" rot="0">
            <a:off x="6477000" y="2247900"/>
            <a:ext cx="495300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β̂ₖ = (XᵀX + kI)⁻¹XᵀY</a:t>
            </a:r>
          </a:p>
        </p:txBody>
      </p:sp>
      <p:sp>
        <p:nvSpPr>
          <p:cNvPr id="8" name="">
            <a:extLst xmlns:a="http://schemas.openxmlformats.org/drawingml/2006/main">
              <a:ext uri="{FF2B5EF4-FFF2-40B4-BE49-F238E27FC236}">
                <a16:creationId xmlns:a16="http://schemas.microsoft.com/office/drawing/2014/main" id="{589ED81D-FD7E-411F-9F8C-F79A8FEC0FCA}"/>
              </a:ext>
            </a:extLst>
          </p:cNvPr>
          <p:cNvSpPr>
            <a:spLocks xmlns:a="http://schemas.openxmlformats.org/drawingml/2006/main" noGrp="1"/>
          </p:cNvSpPr>
          <p:nvPr/>
        </p:nvSpPr>
        <p:spPr>
          <a:xfrm xmlns:a="http://schemas.openxmlformats.org/drawingml/2006/main" rot="0">
            <a:off x="6096000" y="1657350"/>
            <a:ext cx="19050" cy="19621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6E550C-9A0C-4984-B620-876E9A3CCABE}"/>
              </a:ext>
            </a:extLst>
          </p:cNvPr>
          <p:cNvSpPr>
            <a:spLocks xmlns:a="http://schemas.openxmlformats.org/drawingml/2006/main" noGrp="1"/>
          </p:cNvSpPr>
          <p:nvPr/>
        </p:nvSpPr>
        <p:spPr>
          <a:xfrm xmlns:a="http://schemas.openxmlformats.org/drawingml/2006/main" rot="0">
            <a:off x="857250" y="40005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52A31"/>
                </a:solidFill>
                <a:latin typeface="Georgia"/>
                <a:ea typeface="Georgia"/>
                <a:cs typeface="Georgia"/>
              </a:defRPr>
            </a:pPr>
            <a:r>
              <a:rPr sz="2250" b="1" i="0">
                <a:solidFill>
                  <a:srgbClr val="252A31"/>
                </a:solidFill>
                <a:latin typeface="Georgia"/>
                <a:ea typeface="Georgia"/>
                <a:cs typeface="Georgia"/>
              </a:rPr>
              <a:t>In the eigenvector basis</a:t>
            </a:r>
          </a:p>
        </p:txBody>
      </p:sp>
      <p:sp>
        <p:nvSpPr>
          <p:cNvPr id="10" name="">
            <a:extLst xmlns:a="http://schemas.openxmlformats.org/drawingml/2006/main">
              <a:ext uri="{FF2B5EF4-FFF2-40B4-BE49-F238E27FC236}">
                <a16:creationId xmlns:a16="http://schemas.microsoft.com/office/drawing/2014/main" id="{F94215DC-E58F-4D91-A6E8-7EF40CCA4B09}"/>
              </a:ext>
            </a:extLst>
          </p:cNvPr>
          <p:cNvSpPr>
            <a:spLocks xmlns:a="http://schemas.openxmlformats.org/drawingml/2006/main" noGrp="1"/>
          </p:cNvSpPr>
          <p:nvPr/>
        </p:nvSpPr>
        <p:spPr>
          <a:xfrm xmlns:a="http://schemas.openxmlformats.org/drawingml/2006/main" rot="0">
            <a:off x="2952750" y="4572000"/>
            <a:ext cx="628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1" i="0">
                <a:solidFill>
                  <a:srgbClr val="A8710A"/>
                </a:solidFill>
                <a:latin typeface="Cambria Math"/>
                <a:ea typeface="Cambria Math"/>
                <a:cs typeface="Cambria Math"/>
              </a:defRPr>
            </a:pPr>
            <a:r>
              <a:rPr sz="3225" b="1" i="0">
                <a:solidFill>
                  <a:srgbClr val="A8710A"/>
                </a:solidFill>
                <a:latin typeface="Cambria Math"/>
                <a:ea typeface="Cambria Math"/>
                <a:cs typeface="Cambria Math"/>
              </a:rPr>
              <a:t>λⱼ becomes λⱼ + k</a:t>
            </a:r>
          </a:p>
        </p:txBody>
      </p:sp>
      <p:sp>
        <p:nvSpPr>
          <p:cNvPr id="11" name="">
            <a:extLst xmlns:a="http://schemas.openxmlformats.org/drawingml/2006/main">
              <a:ext uri="{FF2B5EF4-FFF2-40B4-BE49-F238E27FC236}">
                <a16:creationId xmlns:a16="http://schemas.microsoft.com/office/drawing/2014/main" id="{0CA2864A-66C4-4FEA-A053-0C98BDA0D7FE}"/>
              </a:ext>
            </a:extLst>
          </p:cNvPr>
          <p:cNvSpPr>
            <a:spLocks xmlns:a="http://schemas.openxmlformats.org/drawingml/2006/main" noGrp="1"/>
          </p:cNvSpPr>
          <p:nvPr/>
        </p:nvSpPr>
        <p:spPr>
          <a:xfrm xmlns:a="http://schemas.openxmlformats.org/drawingml/2006/main" rot="0">
            <a:off x="1714500" y="5467350"/>
            <a:ext cx="876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Adding k protects the inverse from small eigenvalues. The price is bias.</a:t>
            </a:r>
          </a:p>
        </p:txBody>
      </p:sp>
    </p:spTree>
    <p:extLst>
      <p:ext uri="{BB962C8B-B14F-4D97-AF65-F5344CB8AC3E}">
        <p14:creationId xmlns:p14="http://schemas.microsoft.com/office/powerpoint/2010/main" val="1725614379"/>
      </p:ext>
    </p:extLst>
  </p:cSld>
</p:sld>
</file>

<file path=ppt/slides/slide2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0242A5C-A7E3-4FAB-9987-2463A5817437}"/>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13 · CLOSING</a:t>
            </a:r>
          </a:p>
        </p:txBody>
      </p:sp>
      <p:sp>
        <p:nvSpPr>
          <p:cNvPr id="2" name="">
            <a:extLst xmlns:a="http://schemas.openxmlformats.org/drawingml/2006/main">
              <a:ext uri="{FF2B5EF4-FFF2-40B4-BE49-F238E27FC236}">
                <a16:creationId xmlns:a16="http://schemas.microsoft.com/office/drawing/2014/main" id="{8A7DE67C-EB7D-47C0-86B1-EB1C61815E75}"/>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exercises I</a:t>
            </a:r>
          </a:p>
        </p:txBody>
      </p:sp>
      <p:sp>
        <p:nvSpPr>
          <p:cNvPr id="3" name="">
            <a:extLst xmlns:a="http://schemas.openxmlformats.org/drawingml/2006/main">
              <a:ext uri="{FF2B5EF4-FFF2-40B4-BE49-F238E27FC236}">
                <a16:creationId xmlns:a16="http://schemas.microsoft.com/office/drawing/2014/main" id="{2EF1CB1C-5DB9-45FB-A19F-1111B667E1F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21</a:t>
            </a:r>
          </a:p>
        </p:txBody>
      </p:sp>
      <p:sp>
        <p:nvSpPr>
          <p:cNvPr id="4" name="">
            <a:extLst xmlns:a="http://schemas.openxmlformats.org/drawingml/2006/main">
              <a:ext uri="{FF2B5EF4-FFF2-40B4-BE49-F238E27FC236}">
                <a16:creationId xmlns:a16="http://schemas.microsoft.com/office/drawing/2014/main" id="{042B391B-AA64-4B92-BC76-969691D85559}"/>
              </a:ext>
            </a:extLst>
          </p:cNvPr>
          <p:cNvSpPr>
            <a:spLocks xmlns:a="http://schemas.openxmlformats.org/drawingml/2006/main" noGrp="1"/>
          </p:cNvSpPr>
          <p:nvPr/>
        </p:nvSpPr>
        <p:spPr>
          <a:xfrm xmlns:a="http://schemas.openxmlformats.org/drawingml/2006/main" rot="0">
            <a:off x="1009650" y="1676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1</a:t>
            </a:r>
          </a:p>
        </p:txBody>
      </p:sp>
      <p:sp>
        <p:nvSpPr>
          <p:cNvPr id="5" name="">
            <a:extLst xmlns:a="http://schemas.openxmlformats.org/drawingml/2006/main">
              <a:ext uri="{FF2B5EF4-FFF2-40B4-BE49-F238E27FC236}">
                <a16:creationId xmlns:a16="http://schemas.microsoft.com/office/drawing/2014/main" id="{D988C466-23D9-4F59-8672-6A2A18793BF9}"/>
              </a:ext>
            </a:extLst>
          </p:cNvPr>
          <p:cNvSpPr>
            <a:spLocks xmlns:a="http://schemas.openxmlformats.org/drawingml/2006/main" noGrp="1"/>
          </p:cNvSpPr>
          <p:nvPr/>
        </p:nvSpPr>
        <p:spPr>
          <a:xfrm xmlns:a="http://schemas.openxmlformats.org/drawingml/2006/main" rot="0">
            <a:off x="1752600" y="16954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XᵀX is positive semidefinite.</a:t>
            </a:r>
          </a:p>
        </p:txBody>
      </p:sp>
      <p:sp>
        <p:nvSpPr>
          <p:cNvPr id="6" name="">
            <a:extLst xmlns:a="http://schemas.openxmlformats.org/drawingml/2006/main">
              <a:ext uri="{FF2B5EF4-FFF2-40B4-BE49-F238E27FC236}">
                <a16:creationId xmlns:a16="http://schemas.microsoft.com/office/drawing/2014/main" id="{19AF8FB0-DE37-48B5-B524-905A1A4CB9DC}"/>
              </a:ext>
            </a:extLst>
          </p:cNvPr>
          <p:cNvSpPr>
            <a:spLocks xmlns:a="http://schemas.openxmlformats.org/drawingml/2006/main" noGrp="1"/>
          </p:cNvSpPr>
          <p:nvPr/>
        </p:nvSpPr>
        <p:spPr>
          <a:xfrm xmlns:a="http://schemas.openxmlformats.org/drawingml/2006/main" rot="0">
            <a:off x="1009650" y="2514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2</a:t>
            </a:r>
          </a:p>
        </p:txBody>
      </p:sp>
      <p:sp>
        <p:nvSpPr>
          <p:cNvPr id="7" name="">
            <a:extLst xmlns:a="http://schemas.openxmlformats.org/drawingml/2006/main">
              <a:ext uri="{FF2B5EF4-FFF2-40B4-BE49-F238E27FC236}">
                <a16:creationId xmlns:a16="http://schemas.microsoft.com/office/drawing/2014/main" id="{B05F9DB5-822E-4143-A686-6C012BF58FCE}"/>
              </a:ext>
            </a:extLst>
          </p:cNvPr>
          <p:cNvSpPr>
            <a:spLocks xmlns:a="http://schemas.openxmlformats.org/drawingml/2006/main" noGrp="1"/>
          </p:cNvSpPr>
          <p:nvPr/>
        </p:nvSpPr>
        <p:spPr>
          <a:xfrm xmlns:a="http://schemas.openxmlformats.org/drawingml/2006/main" rot="0">
            <a:off x="1752600" y="25336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XᵀX is invertible exactly when the columns of X are linearly independent.</a:t>
            </a:r>
          </a:p>
        </p:txBody>
      </p:sp>
      <p:sp>
        <p:nvSpPr>
          <p:cNvPr id="8" name="">
            <a:extLst xmlns:a="http://schemas.openxmlformats.org/drawingml/2006/main">
              <a:ext uri="{FF2B5EF4-FFF2-40B4-BE49-F238E27FC236}">
                <a16:creationId xmlns:a16="http://schemas.microsoft.com/office/drawing/2014/main" id="{8AE0F23E-0484-45E1-A30A-253C4F63733B}"/>
              </a:ext>
            </a:extLst>
          </p:cNvPr>
          <p:cNvSpPr>
            <a:spLocks xmlns:a="http://schemas.openxmlformats.org/drawingml/2006/main" noGrp="1"/>
          </p:cNvSpPr>
          <p:nvPr/>
        </p:nvSpPr>
        <p:spPr>
          <a:xfrm xmlns:a="http://schemas.openxmlformats.org/drawingml/2006/main" rot="0">
            <a:off x="1009650" y="3352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3</a:t>
            </a:r>
          </a:p>
        </p:txBody>
      </p:sp>
      <p:sp>
        <p:nvSpPr>
          <p:cNvPr id="9" name="">
            <a:extLst xmlns:a="http://schemas.openxmlformats.org/drawingml/2006/main">
              <a:ext uri="{FF2B5EF4-FFF2-40B4-BE49-F238E27FC236}">
                <a16:creationId xmlns:a16="http://schemas.microsoft.com/office/drawing/2014/main" id="{75F7F0C8-E072-4047-B8FA-09C56B3D4750}"/>
              </a:ext>
            </a:extLst>
          </p:cNvPr>
          <p:cNvSpPr>
            <a:spLocks xmlns:a="http://schemas.openxmlformats.org/drawingml/2006/main" noGrp="1"/>
          </p:cNvSpPr>
          <p:nvPr/>
        </p:nvSpPr>
        <p:spPr>
          <a:xfrm xmlns:a="http://schemas.openxmlformats.org/drawingml/2006/main" rot="0">
            <a:off x="1752600" y="33718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centered unit length columns, prove that correlation equals the cosine of their angle and lies in [−1, 1].</a:t>
            </a:r>
          </a:p>
        </p:txBody>
      </p:sp>
      <p:sp>
        <p:nvSpPr>
          <p:cNvPr id="10" name="">
            <a:extLst xmlns:a="http://schemas.openxmlformats.org/drawingml/2006/main">
              <a:ext uri="{FF2B5EF4-FFF2-40B4-BE49-F238E27FC236}">
                <a16:creationId xmlns:a16="http://schemas.microsoft.com/office/drawing/2014/main" id="{AA825210-7CFC-45AF-859C-3B935920BFC6}"/>
              </a:ext>
            </a:extLst>
          </p:cNvPr>
          <p:cNvSpPr>
            <a:spLocks xmlns:a="http://schemas.openxmlformats.org/drawingml/2006/main" noGrp="1"/>
          </p:cNvSpPr>
          <p:nvPr/>
        </p:nvSpPr>
        <p:spPr>
          <a:xfrm xmlns:a="http://schemas.openxmlformats.org/drawingml/2006/main" rot="0">
            <a:off x="1009650" y="41910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4</a:t>
            </a:r>
          </a:p>
        </p:txBody>
      </p:sp>
      <p:sp>
        <p:nvSpPr>
          <p:cNvPr id="11" name="">
            <a:extLst xmlns:a="http://schemas.openxmlformats.org/drawingml/2006/main">
              <a:ext uri="{FF2B5EF4-FFF2-40B4-BE49-F238E27FC236}">
                <a16:creationId xmlns:a16="http://schemas.microsoft.com/office/drawing/2014/main" id="{43144FB3-7EF7-41D5-ABED-142E48F2419C}"/>
              </a:ext>
            </a:extLst>
          </p:cNvPr>
          <p:cNvSpPr>
            <a:spLocks xmlns:a="http://schemas.openxmlformats.org/drawingml/2006/main" noGrp="1"/>
          </p:cNvSpPr>
          <p:nvPr/>
        </p:nvSpPr>
        <p:spPr>
          <a:xfrm xmlns:a="http://schemas.openxmlformats.org/drawingml/2006/main" rot="0">
            <a:off x="1752600" y="42100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the eigenvalues of XᵀX sum to p under unit length scaling.</a:t>
            </a:r>
          </a:p>
        </p:txBody>
      </p:sp>
      <p:sp>
        <p:nvSpPr>
          <p:cNvPr id="12" name="">
            <a:extLst xmlns:a="http://schemas.openxmlformats.org/drawingml/2006/main">
              <a:ext uri="{FF2B5EF4-FFF2-40B4-BE49-F238E27FC236}">
                <a16:creationId xmlns:a16="http://schemas.microsoft.com/office/drawing/2014/main" id="{F774F2CC-780A-4A93-8751-67254125B11E}"/>
              </a:ext>
            </a:extLst>
          </p:cNvPr>
          <p:cNvSpPr>
            <a:spLocks xmlns:a="http://schemas.openxmlformats.org/drawingml/2006/main" noGrp="1"/>
          </p:cNvSpPr>
          <p:nvPr/>
        </p:nvSpPr>
        <p:spPr>
          <a:xfrm xmlns:a="http://schemas.openxmlformats.org/drawingml/2006/main" rot="0">
            <a:off x="1009650" y="5238750"/>
            <a:ext cx="101727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3779E35-A886-4B1D-A22D-A39391FD33B0}"/>
              </a:ext>
            </a:extLst>
          </p:cNvPr>
          <p:cNvSpPr>
            <a:spLocks xmlns:a="http://schemas.openxmlformats.org/drawingml/2006/main" noGrp="1"/>
          </p:cNvSpPr>
          <p:nvPr/>
        </p:nvSpPr>
        <p:spPr>
          <a:xfrm xmlns:a="http://schemas.openxmlformats.org/drawingml/2006/main" rot="0">
            <a:off x="1009650" y="5476875"/>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A8710A"/>
                </a:solidFill>
                <a:latin typeface="Arial"/>
                <a:ea typeface="Arial"/>
                <a:cs typeface="Arial"/>
              </a:defRPr>
            </a:pPr>
            <a:r>
              <a:rPr sz="1875" b="1" i="0">
                <a:solidFill>
                  <a:srgbClr val="A8710A"/>
                </a:solidFill>
                <a:latin typeface="Arial"/>
                <a:ea typeface="Arial"/>
                <a:cs typeface="Arial"/>
              </a:rPr>
              <a:t>Work in pairs for 12 minutes. Write each implication explicitly.</a:t>
            </a:r>
          </a:p>
        </p:txBody>
      </p:sp>
    </p:spTree>
    <p:extLst>
      <p:ext uri="{BB962C8B-B14F-4D97-AF65-F5344CB8AC3E}">
        <p14:creationId xmlns:p14="http://schemas.microsoft.com/office/powerpoint/2010/main" val="1357273468"/>
      </p:ext>
    </p:extLst>
  </p:cSld>
</p:sld>
</file>

<file path=ppt/slides/slide2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D08306A-3781-4DBA-B45D-EC455D19A0D9}"/>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13 · CLOSING</a:t>
            </a:r>
          </a:p>
        </p:txBody>
      </p:sp>
      <p:sp>
        <p:nvSpPr>
          <p:cNvPr id="2" name="">
            <a:extLst xmlns:a="http://schemas.openxmlformats.org/drawingml/2006/main">
              <a:ext uri="{FF2B5EF4-FFF2-40B4-BE49-F238E27FC236}">
                <a16:creationId xmlns:a16="http://schemas.microsoft.com/office/drawing/2014/main" id="{04152137-676F-4E62-A599-7901B9E329DA}"/>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exercises II</a:t>
            </a:r>
          </a:p>
        </p:txBody>
      </p:sp>
      <p:sp>
        <p:nvSpPr>
          <p:cNvPr id="3" name="">
            <a:extLst xmlns:a="http://schemas.openxmlformats.org/drawingml/2006/main">
              <a:ext uri="{FF2B5EF4-FFF2-40B4-BE49-F238E27FC236}">
                <a16:creationId xmlns:a16="http://schemas.microsoft.com/office/drawing/2014/main" id="{167C23A7-2F40-4921-B680-A421CEE57324}"/>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22</a:t>
            </a:r>
          </a:p>
        </p:txBody>
      </p:sp>
      <p:sp>
        <p:nvSpPr>
          <p:cNvPr id="4" name="">
            <a:extLst xmlns:a="http://schemas.openxmlformats.org/drawingml/2006/main">
              <a:ext uri="{FF2B5EF4-FFF2-40B4-BE49-F238E27FC236}">
                <a16:creationId xmlns:a16="http://schemas.microsoft.com/office/drawing/2014/main" id="{90C654FB-AE6A-4789-8DD5-BBCB5BEB4975}"/>
              </a:ext>
            </a:extLst>
          </p:cNvPr>
          <p:cNvSpPr>
            <a:spLocks xmlns:a="http://schemas.openxmlformats.org/drawingml/2006/main" noGrp="1"/>
          </p:cNvSpPr>
          <p:nvPr/>
        </p:nvSpPr>
        <p:spPr>
          <a:xfrm xmlns:a="http://schemas.openxmlformats.org/drawingml/2006/main" rot="0">
            <a:off x="1009650" y="1676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5</a:t>
            </a:r>
          </a:p>
        </p:txBody>
      </p:sp>
      <p:sp>
        <p:nvSpPr>
          <p:cNvPr id="5" name="">
            <a:extLst xmlns:a="http://schemas.openxmlformats.org/drawingml/2006/main">
              <a:ext uri="{FF2B5EF4-FFF2-40B4-BE49-F238E27FC236}">
                <a16:creationId xmlns:a16="http://schemas.microsoft.com/office/drawing/2014/main" id="{530D6605-CA5A-4D26-B585-45BFE568C020}"/>
              </a:ext>
            </a:extLst>
          </p:cNvPr>
          <p:cNvSpPr>
            <a:spLocks xmlns:a="http://schemas.openxmlformats.org/drawingml/2006/main" noGrp="1"/>
          </p:cNvSpPr>
          <p:nvPr/>
        </p:nvSpPr>
        <p:spPr>
          <a:xfrm xmlns:a="http://schemas.openxmlformats.org/drawingml/2006/main" rot="0">
            <a:off x="1752600" y="16954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projection condition, then derive the normal equations and the unique least squares estimator.</a:t>
            </a:r>
          </a:p>
        </p:txBody>
      </p:sp>
      <p:sp>
        <p:nvSpPr>
          <p:cNvPr id="6" name="">
            <a:extLst xmlns:a="http://schemas.openxmlformats.org/drawingml/2006/main">
              <a:ext uri="{FF2B5EF4-FFF2-40B4-BE49-F238E27FC236}">
                <a16:creationId xmlns:a16="http://schemas.microsoft.com/office/drawing/2014/main" id="{39DFB38A-8F9E-43D4-90CC-BA44E1D6C513}"/>
              </a:ext>
            </a:extLst>
          </p:cNvPr>
          <p:cNvSpPr>
            <a:spLocks xmlns:a="http://schemas.openxmlformats.org/drawingml/2006/main" noGrp="1"/>
          </p:cNvSpPr>
          <p:nvPr/>
        </p:nvSpPr>
        <p:spPr>
          <a:xfrm xmlns:a="http://schemas.openxmlformats.org/drawingml/2006/main" rot="0">
            <a:off x="1009650" y="2514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6</a:t>
            </a:r>
          </a:p>
        </p:txBody>
      </p:sp>
      <p:sp>
        <p:nvSpPr>
          <p:cNvPr id="7" name="">
            <a:extLst xmlns:a="http://schemas.openxmlformats.org/drawingml/2006/main">
              <a:ext uri="{FF2B5EF4-FFF2-40B4-BE49-F238E27FC236}">
                <a16:creationId xmlns:a16="http://schemas.microsoft.com/office/drawing/2014/main" id="{E967A0C6-9DFE-4797-8AB9-856797F2A3E6}"/>
              </a:ext>
            </a:extLst>
          </p:cNvPr>
          <p:cNvSpPr>
            <a:spLocks xmlns:a="http://schemas.openxmlformats.org/drawingml/2006/main" noGrp="1"/>
          </p:cNvSpPr>
          <p:nvPr/>
        </p:nvSpPr>
        <p:spPr>
          <a:xfrm xmlns:a="http://schemas.openxmlformats.org/drawingml/2006/main" rot="0">
            <a:off x="1752600" y="25336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conditional unbiasedness and covariance of ordinary least squares.</a:t>
            </a:r>
          </a:p>
        </p:txBody>
      </p:sp>
      <p:sp>
        <p:nvSpPr>
          <p:cNvPr id="8" name="">
            <a:extLst xmlns:a="http://schemas.openxmlformats.org/drawingml/2006/main">
              <a:ext uri="{FF2B5EF4-FFF2-40B4-BE49-F238E27FC236}">
                <a16:creationId xmlns:a16="http://schemas.microsoft.com/office/drawing/2014/main" id="{34B6322E-5A6F-45E0-8254-3E864E5422BE}"/>
              </a:ext>
            </a:extLst>
          </p:cNvPr>
          <p:cNvSpPr>
            <a:spLocks xmlns:a="http://schemas.openxmlformats.org/drawingml/2006/main" noGrp="1"/>
          </p:cNvSpPr>
          <p:nvPr/>
        </p:nvSpPr>
        <p:spPr>
          <a:xfrm xmlns:a="http://schemas.openxmlformats.org/drawingml/2006/main" rot="0">
            <a:off x="1009650" y="3352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7</a:t>
            </a:r>
          </a:p>
        </p:txBody>
      </p:sp>
      <p:sp>
        <p:nvSpPr>
          <p:cNvPr id="9" name="">
            <a:extLst xmlns:a="http://schemas.openxmlformats.org/drawingml/2006/main">
              <a:ext uri="{FF2B5EF4-FFF2-40B4-BE49-F238E27FC236}">
                <a16:creationId xmlns:a16="http://schemas.microsoft.com/office/drawing/2014/main" id="{FE1B758C-4CCB-4C49-A718-E22F807A35A7}"/>
              </a:ext>
            </a:extLst>
          </p:cNvPr>
          <p:cNvSpPr>
            <a:spLocks xmlns:a="http://schemas.openxmlformats.org/drawingml/2006/main" noGrp="1"/>
          </p:cNvSpPr>
          <p:nvPr/>
        </p:nvSpPr>
        <p:spPr>
          <a:xfrm xmlns:a="http://schemas.openxmlformats.org/drawingml/2006/main" rot="0">
            <a:off x="1752600" y="33718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vector bias–variance decomposition, including the trace term.</a:t>
            </a:r>
          </a:p>
        </p:txBody>
      </p:sp>
      <p:sp>
        <p:nvSpPr>
          <p:cNvPr id="10" name="">
            <a:extLst xmlns:a="http://schemas.openxmlformats.org/drawingml/2006/main">
              <a:ext uri="{FF2B5EF4-FFF2-40B4-BE49-F238E27FC236}">
                <a16:creationId xmlns:a16="http://schemas.microsoft.com/office/drawing/2014/main" id="{8ADBB73C-10BB-4272-9920-9CCBF7C3484D}"/>
              </a:ext>
            </a:extLst>
          </p:cNvPr>
          <p:cNvSpPr>
            <a:spLocks xmlns:a="http://schemas.openxmlformats.org/drawingml/2006/main" noGrp="1"/>
          </p:cNvSpPr>
          <p:nvPr/>
        </p:nvSpPr>
        <p:spPr>
          <a:xfrm xmlns:a="http://schemas.openxmlformats.org/drawingml/2006/main" rot="0">
            <a:off x="1009650" y="41910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8</a:t>
            </a:r>
          </a:p>
        </p:txBody>
      </p:sp>
      <p:sp>
        <p:nvSpPr>
          <p:cNvPr id="11" name="">
            <a:extLst xmlns:a="http://schemas.openxmlformats.org/drawingml/2006/main">
              <a:ext uri="{FF2B5EF4-FFF2-40B4-BE49-F238E27FC236}">
                <a16:creationId xmlns:a16="http://schemas.microsoft.com/office/drawing/2014/main" id="{42B60900-FFB5-405C-8EF9-73106205F8AF}"/>
              </a:ext>
            </a:extLst>
          </p:cNvPr>
          <p:cNvSpPr>
            <a:spLocks xmlns:a="http://schemas.openxmlformats.org/drawingml/2006/main" noGrp="1"/>
          </p:cNvSpPr>
          <p:nvPr/>
        </p:nvSpPr>
        <p:spPr>
          <a:xfrm xmlns:a="http://schemas.openxmlformats.org/drawingml/2006/main" rot="0">
            <a:off x="1752600" y="42100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β̃ = cβ̂, derive its MSE and prove which c in [0, 1] minimizes it.</a:t>
            </a:r>
          </a:p>
        </p:txBody>
      </p:sp>
      <p:sp>
        <p:nvSpPr>
          <p:cNvPr id="12" name="">
            <a:extLst xmlns:a="http://schemas.openxmlformats.org/drawingml/2006/main">
              <a:ext uri="{FF2B5EF4-FFF2-40B4-BE49-F238E27FC236}">
                <a16:creationId xmlns:a16="http://schemas.microsoft.com/office/drawing/2014/main" id="{7557B8FE-53E3-471F-B3E3-C5CA2340CA1E}"/>
              </a:ext>
            </a:extLst>
          </p:cNvPr>
          <p:cNvSpPr>
            <a:spLocks xmlns:a="http://schemas.openxmlformats.org/drawingml/2006/main" noGrp="1"/>
          </p:cNvSpPr>
          <p:nvPr/>
        </p:nvSpPr>
        <p:spPr>
          <a:xfrm xmlns:a="http://schemas.openxmlformats.org/drawingml/2006/main" rot="0">
            <a:off x="1009650" y="5238750"/>
            <a:ext cx="10172700" cy="1905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B709C96-C6A9-4A08-B829-9A1987C5D944}"/>
              </a:ext>
            </a:extLst>
          </p:cNvPr>
          <p:cNvSpPr>
            <a:spLocks xmlns:a="http://schemas.openxmlformats.org/drawingml/2006/main" noGrp="1"/>
          </p:cNvSpPr>
          <p:nvPr/>
        </p:nvSpPr>
        <p:spPr>
          <a:xfrm xmlns:a="http://schemas.openxmlformats.org/drawingml/2006/main" rot="0">
            <a:off x="1009650" y="5476875"/>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2C6A6C"/>
                </a:solidFill>
                <a:latin typeface="Arial"/>
                <a:ea typeface="Arial"/>
                <a:cs typeface="Arial"/>
              </a:defRPr>
            </a:pPr>
            <a:r>
              <a:rPr sz="1875" b="1" i="0">
                <a:solidFill>
                  <a:srgbClr val="2C6A6C"/>
                </a:solidFill>
                <a:latin typeface="Arial"/>
                <a:ea typeface="Arial"/>
                <a:cs typeface="Arial"/>
              </a:rPr>
              <a:t>Focus on assumptions. Mark the line where each assumption enters.</a:t>
            </a:r>
          </a:p>
        </p:txBody>
      </p:sp>
    </p:spTree>
    <p:extLst>
      <p:ext uri="{BB962C8B-B14F-4D97-AF65-F5344CB8AC3E}">
        <p14:creationId xmlns:p14="http://schemas.microsoft.com/office/powerpoint/2010/main" val="289239629"/>
      </p:ext>
    </p:extLst>
  </p:cSld>
</p:sld>
</file>

<file path=ppt/slides/slide2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63DC159-F140-4D10-BBF2-1339DD2AAB1C}"/>
              </a:ext>
            </a:extLst>
          </p:cNvPr>
          <p:cNvSpPr>
            <a:spLocks xmlns:a="http://schemas.openxmlformats.org/drawingml/2006/main" noGrp="1"/>
          </p:cNvSpPr>
          <p:nvPr/>
        </p:nvSpPr>
        <p:spPr>
          <a:xfrm xmlns:a="http://schemas.openxmlformats.org/drawingml/2006/main" rot="0">
            <a:off x="685800" y="3619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050" b="1" i="0">
                <a:solidFill>
                  <a:srgbClr val="A8710A"/>
                </a:solidFill>
                <a:latin typeface="Arial"/>
                <a:ea typeface="Arial"/>
                <a:cs typeface="Arial"/>
              </a:defRPr>
            </a:pPr>
            <a:r>
              <a:rPr sz="1050" b="1" i="0">
                <a:solidFill>
                  <a:srgbClr val="A8710A"/>
                </a:solidFill>
                <a:latin typeface="Arial"/>
                <a:ea typeface="Arial"/>
                <a:cs typeface="Arial"/>
              </a:rPr>
              <a:t>SECTION 14 · CLOSING</a:t>
            </a:r>
          </a:p>
        </p:txBody>
      </p:sp>
      <p:sp>
        <p:nvSpPr>
          <p:cNvPr id="2" name="">
            <a:extLst xmlns:a="http://schemas.openxmlformats.org/drawingml/2006/main">
              <a:ext uri="{FF2B5EF4-FFF2-40B4-BE49-F238E27FC236}">
                <a16:creationId xmlns:a16="http://schemas.microsoft.com/office/drawing/2014/main" id="{B1338BD8-1177-4B06-9EFF-CD8682F6693A}"/>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checklist</a:t>
            </a:r>
          </a:p>
        </p:txBody>
      </p:sp>
      <p:sp>
        <p:nvSpPr>
          <p:cNvPr id="3" name="">
            <a:extLst xmlns:a="http://schemas.openxmlformats.org/drawingml/2006/main">
              <a:ext uri="{FF2B5EF4-FFF2-40B4-BE49-F238E27FC236}">
                <a16:creationId xmlns:a16="http://schemas.microsoft.com/office/drawing/2014/main" id="{8ED6875E-FC7E-4E95-926D-5C353BE0A904}"/>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23</a:t>
            </a:r>
          </a:p>
        </p:txBody>
      </p:sp>
      <p:sp>
        <p:nvSpPr>
          <p:cNvPr id="4" name="">
            <a:extLst xmlns:a="http://schemas.openxmlformats.org/drawingml/2006/main">
              <a:ext uri="{FF2B5EF4-FFF2-40B4-BE49-F238E27FC236}">
                <a16:creationId xmlns:a16="http://schemas.microsoft.com/office/drawing/2014/main" id="{A50155D5-420F-4B2E-8E7B-78CBE584E6F2}"/>
              </a:ext>
            </a:extLst>
          </p:cNvPr>
          <p:cNvSpPr>
            <a:spLocks xmlns:a="http://schemas.openxmlformats.org/drawingml/2006/main" noGrp="1"/>
          </p:cNvSpPr>
          <p:nvPr/>
        </p:nvSpPr>
        <p:spPr>
          <a:xfrm xmlns:a="http://schemas.openxmlformats.org/drawingml/2006/main" rot="0">
            <a:off x="704850" y="16002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1</a:t>
            </a:r>
          </a:p>
        </p:txBody>
      </p:sp>
      <p:sp>
        <p:nvSpPr>
          <p:cNvPr id="5" name="">
            <a:extLst xmlns:a="http://schemas.openxmlformats.org/drawingml/2006/main">
              <a:ext uri="{FF2B5EF4-FFF2-40B4-BE49-F238E27FC236}">
                <a16:creationId xmlns:a16="http://schemas.microsoft.com/office/drawing/2014/main" id="{DF0FAED6-4AFC-4578-B06D-77389803FDF3}"/>
              </a:ext>
            </a:extLst>
          </p:cNvPr>
          <p:cNvSpPr>
            <a:spLocks xmlns:a="http://schemas.openxmlformats.org/drawingml/2006/main" noGrp="1"/>
          </p:cNvSpPr>
          <p:nvPr/>
        </p:nvSpPr>
        <p:spPr>
          <a:xfrm xmlns:a="http://schemas.openxmlformats.org/drawingml/2006/main" rot="0">
            <a:off x="1447800" y="16192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XᵀX is positive semidefinite, and positive definite under full column rank.</a:t>
            </a:r>
          </a:p>
        </p:txBody>
      </p:sp>
      <p:sp>
        <p:nvSpPr>
          <p:cNvPr id="6" name="">
            <a:extLst xmlns:a="http://schemas.openxmlformats.org/drawingml/2006/main">
              <a:ext uri="{FF2B5EF4-FFF2-40B4-BE49-F238E27FC236}">
                <a16:creationId xmlns:a16="http://schemas.microsoft.com/office/drawing/2014/main" id="{826F0C82-5375-4CAA-A2E4-F13DB15EDBCE}"/>
              </a:ext>
            </a:extLst>
          </p:cNvPr>
          <p:cNvSpPr>
            <a:spLocks xmlns:a="http://schemas.openxmlformats.org/drawingml/2006/main" noGrp="1"/>
          </p:cNvSpPr>
          <p:nvPr/>
        </p:nvSpPr>
        <p:spPr>
          <a:xfrm xmlns:a="http://schemas.openxmlformats.org/drawingml/2006/main" rot="0">
            <a:off x="704850" y="2438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2</a:t>
            </a:r>
          </a:p>
        </p:txBody>
      </p:sp>
      <p:sp>
        <p:nvSpPr>
          <p:cNvPr id="7" name="">
            <a:extLst xmlns:a="http://schemas.openxmlformats.org/drawingml/2006/main">
              <a:ext uri="{FF2B5EF4-FFF2-40B4-BE49-F238E27FC236}">
                <a16:creationId xmlns:a16="http://schemas.microsoft.com/office/drawing/2014/main" id="{7774D131-8FBE-41FE-8DB9-2BB7D0078F1F}"/>
              </a:ext>
            </a:extLst>
          </p:cNvPr>
          <p:cNvSpPr>
            <a:spLocks xmlns:a="http://schemas.openxmlformats.org/drawingml/2006/main" noGrp="1"/>
          </p:cNvSpPr>
          <p:nvPr/>
        </p:nvSpPr>
        <p:spPr>
          <a:xfrm xmlns:a="http://schemas.openxmlformats.org/drawingml/2006/main" rot="0">
            <a:off x="1447800" y="24574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centered unit length columns, a dot product equals correlation.</a:t>
            </a:r>
          </a:p>
        </p:txBody>
      </p:sp>
      <p:sp>
        <p:nvSpPr>
          <p:cNvPr id="8" name="">
            <a:extLst xmlns:a="http://schemas.openxmlformats.org/drawingml/2006/main">
              <a:ext uri="{FF2B5EF4-FFF2-40B4-BE49-F238E27FC236}">
                <a16:creationId xmlns:a16="http://schemas.microsoft.com/office/drawing/2014/main" id="{38172E9F-9F82-4360-93E0-54F6B35E9546}"/>
              </a:ext>
            </a:extLst>
          </p:cNvPr>
          <p:cNvSpPr>
            <a:spLocks xmlns:a="http://schemas.openxmlformats.org/drawingml/2006/main" noGrp="1"/>
          </p:cNvSpPr>
          <p:nvPr/>
        </p:nvSpPr>
        <p:spPr>
          <a:xfrm xmlns:a="http://schemas.openxmlformats.org/drawingml/2006/main" rot="0">
            <a:off x="704850" y="3276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3</a:t>
            </a:r>
          </a:p>
        </p:txBody>
      </p:sp>
      <p:sp>
        <p:nvSpPr>
          <p:cNvPr id="9" name="">
            <a:extLst xmlns:a="http://schemas.openxmlformats.org/drawingml/2006/main">
              <a:ext uri="{FF2B5EF4-FFF2-40B4-BE49-F238E27FC236}">
                <a16:creationId xmlns:a16="http://schemas.microsoft.com/office/drawing/2014/main" id="{C68BC885-01B2-47C6-949A-5FD90BB93A91}"/>
              </a:ext>
            </a:extLst>
          </p:cNvPr>
          <p:cNvSpPr>
            <a:spLocks xmlns:a="http://schemas.openxmlformats.org/drawingml/2006/main" noGrp="1"/>
          </p:cNvSpPr>
          <p:nvPr/>
        </p:nvSpPr>
        <p:spPr>
          <a:xfrm xmlns:a="http://schemas.openxmlformats.org/drawingml/2006/main" rot="0">
            <a:off x="1447800" y="32956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Under this scaling, the eigenvalues of XᵀX sum to p.</a:t>
            </a:r>
          </a:p>
        </p:txBody>
      </p:sp>
      <p:sp>
        <p:nvSpPr>
          <p:cNvPr id="10" name="">
            <a:extLst xmlns:a="http://schemas.openxmlformats.org/drawingml/2006/main">
              <a:ext uri="{FF2B5EF4-FFF2-40B4-BE49-F238E27FC236}">
                <a16:creationId xmlns:a16="http://schemas.microsoft.com/office/drawing/2014/main" id="{F1F8C65D-0CD9-476D-9212-60A81655615F}"/>
              </a:ext>
            </a:extLst>
          </p:cNvPr>
          <p:cNvSpPr>
            <a:spLocks xmlns:a="http://schemas.openxmlformats.org/drawingml/2006/main" noGrp="1"/>
          </p:cNvSpPr>
          <p:nvPr/>
        </p:nvSpPr>
        <p:spPr>
          <a:xfrm xmlns:a="http://schemas.openxmlformats.org/drawingml/2006/main" rot="0">
            <a:off x="704850" y="4114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4</a:t>
            </a:r>
          </a:p>
        </p:txBody>
      </p:sp>
      <p:sp>
        <p:nvSpPr>
          <p:cNvPr id="11" name="">
            <a:extLst xmlns:a="http://schemas.openxmlformats.org/drawingml/2006/main">
              <a:ext uri="{FF2B5EF4-FFF2-40B4-BE49-F238E27FC236}">
                <a16:creationId xmlns:a16="http://schemas.microsoft.com/office/drawing/2014/main" id="{FB7DE59F-F4F1-4F39-952E-360DF10548C6}"/>
              </a:ext>
            </a:extLst>
          </p:cNvPr>
          <p:cNvSpPr>
            <a:spLocks xmlns:a="http://schemas.openxmlformats.org/drawingml/2006/main" noGrp="1"/>
          </p:cNvSpPr>
          <p:nvPr/>
        </p:nvSpPr>
        <p:spPr>
          <a:xfrm xmlns:a="http://schemas.openxmlformats.org/drawingml/2006/main" rot="0">
            <a:off x="1447800" y="41338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Orthogonal projection gives the normal equations. Full column rank makes β̂ unique.</a:t>
            </a:r>
          </a:p>
        </p:txBody>
      </p:sp>
      <p:sp>
        <p:nvSpPr>
          <p:cNvPr id="12" name="">
            <a:extLst xmlns:a="http://schemas.openxmlformats.org/drawingml/2006/main">
              <a:ext uri="{FF2B5EF4-FFF2-40B4-BE49-F238E27FC236}">
                <a16:creationId xmlns:a16="http://schemas.microsoft.com/office/drawing/2014/main" id="{448BBFB4-8002-4A0A-84E7-0751C6D7DC31}"/>
              </a:ext>
            </a:extLst>
          </p:cNvPr>
          <p:cNvSpPr>
            <a:spLocks xmlns:a="http://schemas.openxmlformats.org/drawingml/2006/main" noGrp="1"/>
          </p:cNvSpPr>
          <p:nvPr/>
        </p:nvSpPr>
        <p:spPr>
          <a:xfrm xmlns:a="http://schemas.openxmlformats.org/drawingml/2006/main" rot="0">
            <a:off x="6343650" y="16002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5</a:t>
            </a:r>
          </a:p>
        </p:txBody>
      </p:sp>
      <p:sp>
        <p:nvSpPr>
          <p:cNvPr id="13" name="">
            <a:extLst xmlns:a="http://schemas.openxmlformats.org/drawingml/2006/main">
              <a:ext uri="{FF2B5EF4-FFF2-40B4-BE49-F238E27FC236}">
                <a16:creationId xmlns:a16="http://schemas.microsoft.com/office/drawing/2014/main" id="{C7A5B42E-3DDD-428B-9D39-D0D860CE5324}"/>
              </a:ext>
            </a:extLst>
          </p:cNvPr>
          <p:cNvSpPr>
            <a:spLocks xmlns:a="http://schemas.openxmlformats.org/drawingml/2006/main" noGrp="1"/>
          </p:cNvSpPr>
          <p:nvPr/>
        </p:nvSpPr>
        <p:spPr>
          <a:xfrm xmlns:a="http://schemas.openxmlformats.org/drawingml/2006/main" rot="0">
            <a:off x="7086600" y="16192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Ordinary least squares is unbiased with covariance σ²(XᵀX)⁻¹.</a:t>
            </a:r>
          </a:p>
        </p:txBody>
      </p:sp>
      <p:sp>
        <p:nvSpPr>
          <p:cNvPr id="14" name="">
            <a:extLst xmlns:a="http://schemas.openxmlformats.org/drawingml/2006/main">
              <a:ext uri="{FF2B5EF4-FFF2-40B4-BE49-F238E27FC236}">
                <a16:creationId xmlns:a16="http://schemas.microsoft.com/office/drawing/2014/main" id="{E138C207-BCE3-4DC1-AF3E-924A62DAB9A7}"/>
              </a:ext>
            </a:extLst>
          </p:cNvPr>
          <p:cNvSpPr>
            <a:spLocks xmlns:a="http://schemas.openxmlformats.org/drawingml/2006/main" noGrp="1"/>
          </p:cNvSpPr>
          <p:nvPr/>
        </p:nvSpPr>
        <p:spPr>
          <a:xfrm xmlns:a="http://schemas.openxmlformats.org/drawingml/2006/main" rot="0">
            <a:off x="6343650" y="2438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6</a:t>
            </a:r>
          </a:p>
        </p:txBody>
      </p:sp>
      <p:sp>
        <p:nvSpPr>
          <p:cNvPr id="15" name="">
            <a:extLst xmlns:a="http://schemas.openxmlformats.org/drawingml/2006/main">
              <a:ext uri="{FF2B5EF4-FFF2-40B4-BE49-F238E27FC236}">
                <a16:creationId xmlns:a16="http://schemas.microsoft.com/office/drawing/2014/main" id="{28EE4F86-5AE0-4699-B2CD-FD954B11F560}"/>
              </a:ext>
            </a:extLst>
          </p:cNvPr>
          <p:cNvSpPr>
            <a:spLocks xmlns:a="http://schemas.openxmlformats.org/drawingml/2006/main" noGrp="1"/>
          </p:cNvSpPr>
          <p:nvPr/>
        </p:nvSpPr>
        <p:spPr>
          <a:xfrm xmlns:a="http://schemas.openxmlformats.org/drawingml/2006/main" rot="0">
            <a:off x="7086600" y="24574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Vector MSE equals total variance plus squared bias.</a:t>
            </a:r>
          </a:p>
        </p:txBody>
      </p:sp>
      <p:sp>
        <p:nvSpPr>
          <p:cNvPr id="16" name="">
            <a:extLst xmlns:a="http://schemas.openxmlformats.org/drawingml/2006/main">
              <a:ext uri="{FF2B5EF4-FFF2-40B4-BE49-F238E27FC236}">
                <a16:creationId xmlns:a16="http://schemas.microsoft.com/office/drawing/2014/main" id="{820662EF-959C-4330-B5F7-A7DDA8420FF1}"/>
              </a:ext>
            </a:extLst>
          </p:cNvPr>
          <p:cNvSpPr>
            <a:spLocks xmlns:a="http://schemas.openxmlformats.org/drawingml/2006/main" noGrp="1"/>
          </p:cNvSpPr>
          <p:nvPr/>
        </p:nvSpPr>
        <p:spPr>
          <a:xfrm xmlns:a="http://schemas.openxmlformats.org/drawingml/2006/main" rot="0">
            <a:off x="6343650" y="3276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7</a:t>
            </a:r>
          </a:p>
        </p:txBody>
      </p:sp>
      <p:sp>
        <p:nvSpPr>
          <p:cNvPr id="17" name="">
            <a:extLst xmlns:a="http://schemas.openxmlformats.org/drawingml/2006/main">
              <a:ext uri="{FF2B5EF4-FFF2-40B4-BE49-F238E27FC236}">
                <a16:creationId xmlns:a16="http://schemas.microsoft.com/office/drawing/2014/main" id="{144714CB-16FC-4C3E-A3CE-376C2124FAF6}"/>
              </a:ext>
            </a:extLst>
          </p:cNvPr>
          <p:cNvSpPr>
            <a:spLocks xmlns:a="http://schemas.openxmlformats.org/drawingml/2006/main" noGrp="1"/>
          </p:cNvSpPr>
          <p:nvPr/>
        </p:nvSpPr>
        <p:spPr>
          <a:xfrm xmlns:a="http://schemas.openxmlformats.org/drawingml/2006/main" rot="0">
            <a:off x="7086600" y="32956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Gauss–Markov compares only linear unbiased estimators.</a:t>
            </a:r>
          </a:p>
        </p:txBody>
      </p:sp>
      <p:sp>
        <p:nvSpPr>
          <p:cNvPr id="18" name="">
            <a:extLst xmlns:a="http://schemas.openxmlformats.org/drawingml/2006/main">
              <a:ext uri="{FF2B5EF4-FFF2-40B4-BE49-F238E27FC236}">
                <a16:creationId xmlns:a16="http://schemas.microsoft.com/office/drawing/2014/main" id="{853B479E-B360-4028-B178-4546CA681FFB}"/>
              </a:ext>
            </a:extLst>
          </p:cNvPr>
          <p:cNvSpPr>
            <a:spLocks xmlns:a="http://schemas.openxmlformats.org/drawingml/2006/main" noGrp="1"/>
          </p:cNvSpPr>
          <p:nvPr/>
        </p:nvSpPr>
        <p:spPr>
          <a:xfrm xmlns:a="http://schemas.openxmlformats.org/drawingml/2006/main" rot="0">
            <a:off x="6343650" y="4114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8</a:t>
            </a:r>
          </a:p>
        </p:txBody>
      </p:sp>
      <p:sp>
        <p:nvSpPr>
          <p:cNvPr id="19" name="">
            <a:extLst xmlns:a="http://schemas.openxmlformats.org/drawingml/2006/main">
              <a:ext uri="{FF2B5EF4-FFF2-40B4-BE49-F238E27FC236}">
                <a16:creationId xmlns:a16="http://schemas.microsoft.com/office/drawing/2014/main" id="{9E283D77-8C5E-41BE-97B2-DB354AEBCE54}"/>
              </a:ext>
            </a:extLst>
          </p:cNvPr>
          <p:cNvSpPr>
            <a:spLocks xmlns:a="http://schemas.openxmlformats.org/drawingml/2006/main" noGrp="1"/>
          </p:cNvSpPr>
          <p:nvPr/>
        </p:nvSpPr>
        <p:spPr>
          <a:xfrm xmlns:a="http://schemas.openxmlformats.org/drawingml/2006/main" rot="0">
            <a:off x="7086600" y="4133850"/>
            <a:ext cx="4476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Allowing bias can produce an estimator with lower MSE.</a:t>
            </a:r>
          </a:p>
        </p:txBody>
      </p:sp>
      <p:sp>
        <p:nvSpPr>
          <p:cNvPr id="20" name="">
            <a:extLst xmlns:a="http://schemas.openxmlformats.org/drawingml/2006/main">
              <a:ext uri="{FF2B5EF4-FFF2-40B4-BE49-F238E27FC236}">
                <a16:creationId xmlns:a16="http://schemas.microsoft.com/office/drawing/2014/main" id="{18438EE1-5B24-40FC-9326-8E08B87B4AB9}"/>
              </a:ext>
            </a:extLst>
          </p:cNvPr>
          <p:cNvSpPr>
            <a:spLocks xmlns:a="http://schemas.openxmlformats.org/drawingml/2006/main" noGrp="1"/>
          </p:cNvSpPr>
          <p:nvPr/>
        </p:nvSpPr>
        <p:spPr>
          <a:xfrm xmlns:a="http://schemas.openxmlformats.org/drawingml/2006/main" rot="0">
            <a:off x="876300" y="5257800"/>
            <a:ext cx="10439400" cy="190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5DF7601-9A16-42CD-8644-4E8B017D9E34}"/>
              </a:ext>
            </a:extLst>
          </p:cNvPr>
          <p:cNvSpPr>
            <a:spLocks xmlns:a="http://schemas.openxmlformats.org/drawingml/2006/main" noGrp="1"/>
          </p:cNvSpPr>
          <p:nvPr/>
        </p:nvSpPr>
        <p:spPr>
          <a:xfrm xmlns:a="http://schemas.openxmlformats.org/drawingml/2006/main" rot="0">
            <a:off x="876300" y="55245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350" b="1" i="0">
                <a:solidFill>
                  <a:srgbClr val="A8710A"/>
                </a:solidFill>
                <a:latin typeface="Arial"/>
                <a:ea typeface="Arial"/>
                <a:cs typeface="Arial"/>
              </a:defRPr>
            </a:pPr>
            <a:r>
              <a:rPr sz="1350" b="1" i="0">
                <a:solidFill>
                  <a:srgbClr val="A8710A"/>
                </a:solidFill>
                <a:latin typeface="Arial"/>
                <a:ea typeface="Arial"/>
                <a:cs typeface="Arial"/>
              </a:rPr>
              <a:t>Next reading</a:t>
            </a:r>
          </a:p>
        </p:txBody>
      </p:sp>
      <p:sp>
        <p:nvSpPr>
          <p:cNvPr id="22" name="">
            <a:extLst xmlns:a="http://schemas.openxmlformats.org/drawingml/2006/main">
              <a:ext uri="{FF2B5EF4-FFF2-40B4-BE49-F238E27FC236}">
                <a16:creationId xmlns:a16="http://schemas.microsoft.com/office/drawing/2014/main" id="{C0C067C1-72EC-4B32-81EE-B759514BEBDC}"/>
              </a:ext>
            </a:extLst>
          </p:cNvPr>
          <p:cNvSpPr>
            <a:spLocks xmlns:a="http://schemas.openxmlformats.org/drawingml/2006/main" noGrp="1"/>
          </p:cNvSpPr>
          <p:nvPr/>
        </p:nvSpPr>
        <p:spPr>
          <a:xfrm xmlns:a="http://schemas.openxmlformats.org/drawingml/2006/main" rot="0">
            <a:off x="2476500" y="5495925"/>
            <a:ext cx="8839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650" b="1" i="0">
                <a:solidFill>
                  <a:srgbClr val="252A31"/>
                </a:solidFill>
                <a:latin typeface="Arial"/>
                <a:ea typeface="Arial"/>
                <a:cs typeface="Arial"/>
              </a:defRPr>
            </a:pPr>
            <a:r>
              <a:rPr sz="1650" b="1" i="0">
                <a:solidFill>
                  <a:srgbClr val="252A31"/>
                </a:solidFill>
                <a:latin typeface="Arial"/>
                <a:ea typeface="Arial"/>
                <a:cs typeface="Arial"/>
              </a:rPr>
              <a:t>Hoerl and Kennard (1970), Ridge Regression: Biased Estimation for Nonorthogonal Problems</a:t>
            </a:r>
          </a:p>
        </p:txBody>
      </p:sp>
    </p:spTree>
    <p:extLst>
      <p:ext uri="{BB962C8B-B14F-4D97-AF65-F5344CB8AC3E}">
        <p14:creationId xmlns:p14="http://schemas.microsoft.com/office/powerpoint/2010/main" val="4127425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2026-09-04T12:03:58.4600000Z</dcterms:created>
  <dcterms:modified xsi:type="dcterms:W3CDTF">2026-09-04T12:03:58.4610000Z</dcterms:modified>
</coreProperties>
</file>